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alibri (MS) Bold" charset="1" panose="020F0702030404030204"/>
      <p:regular r:id="rId23"/>
    </p:embeddedFont>
    <p:embeddedFont>
      <p:font typeface="Cambria Bold" charset="1" panose="02040803050406030204"/>
      <p:regular r:id="rId24"/>
    </p:embeddedFont>
    <p:embeddedFont>
      <p:font typeface="Cambria Italics" charset="1" panose="020405030504060A0204"/>
      <p:regular r:id="rId25"/>
    </p:embeddedFont>
    <p:embeddedFont>
      <p:font typeface="Cambria Bold Italics" charset="1" panose="020408030504060A0204"/>
      <p:regular r:id="rId26"/>
    </p:embeddedFont>
    <p:embeddedFont>
      <p:font typeface="Canva Sans Bold Italics" charset="1" panose="020B0803030501040103"/>
      <p:regular r:id="rId27"/>
    </p:embeddedFont>
    <p:embeddedFont>
      <p:font typeface="Calibri (MS)" charset="1" panose="020F0502020204030204"/>
      <p:regular r:id="rId28"/>
    </p:embeddedFont>
    <p:embeddedFont>
      <p:font typeface="Calibri (MS) Italics" charset="1" panose="020F05020202040A0204"/>
      <p:regular r:id="rId31"/>
    </p:embeddedFont>
    <p:embeddedFont>
      <p:font typeface="Consolas" charset="1" panose="020B0609020204030204"/>
      <p:regular r:id="rId33"/>
    </p:embeddedFont>
    <p:embeddedFont>
      <p:font typeface="Consolas Bold" charset="1" panose="020B0709020204030204"/>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notesSlides/notesSlide2.xml" Type="http://schemas.openxmlformats.org/officeDocument/2006/relationships/notesSlide"/><Relationship Id="rId3" Target="viewProps.xml" Type="http://schemas.openxmlformats.org/officeDocument/2006/relationships/viewProps"/><Relationship Id="rId30" Target="notesSlides/notesSlide3.xml" Type="http://schemas.openxmlformats.org/officeDocument/2006/relationships/notesSlide"/><Relationship Id="rId31" Target="fonts/font31.fntdata" Type="http://schemas.openxmlformats.org/officeDocument/2006/relationships/font"/><Relationship Id="rId32" Target="notesSlides/notesSlide4.xml" Type="http://schemas.openxmlformats.org/officeDocument/2006/relationships/notesSlide"/><Relationship Id="rId33" Target="fonts/font33.fntdata" Type="http://schemas.openxmlformats.org/officeDocument/2006/relationships/font"/><Relationship Id="rId34" Target="notesSlides/notesSlide5.xml" Type="http://schemas.openxmlformats.org/officeDocument/2006/relationships/notesSlide"/><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notesSlides/notesSlide9.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notesSlides/notesSlide13.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project uses a Genetic Algorithm to minimize the two-dimensional Ackley function. Today's talk walks through what we built, the problem, the inputs, how the algorithm works, the code behind it, the results, and what those results mean.</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one line: we're evolving a population of candidate (x1,x2) points to minimize the Ackley function, and checking that approach against a classical local optimizer.</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Ackley function is multimodal: it looks flat far out, is covered in small ripples, and has one very narrow true minimum at the origin. Local, gradient-based search tends to get stuck in the ripples.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Two kinds of input: the mathematical definition of the Ackley function with its constants and domain, and the GA's own configuration — population size, generation budget, crossover and mutation rates, elitism, and the random seed that makes a run reproducible.</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textbook GA flowchart: initialize, evaluate, test for the optimum, and if not found, cycle through selection, crossover and mutation before incrementing the generation counter and looping back. Our implementation follows this exactly — the next two slides map each box to real code and formulas.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Each generation follows the same five-step loop. The elite chromosome bypasses crossover and mutation entirely, which guarantees the best-so-far fitness never gets worse.</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Concretely: selection converts fitness into odds so low-Ackley chromosomes dominate the draw; crossover trades x1/x2 between two parents since there's only one possible cut point; mutation nudges a single gene with a small Gaussian step and clips it back into bounds.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literally the body of GeneticAlgorithm.run(): sort and preserve the elite, fill the rest of the population through selection/crossover/mutation, re-evaluate the whole array in one vectorized call, update the best-so-far bookkeeping, log history, and check the two stopping conditions.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code is split into an objective-function module, a reusable GA engine, an entry point for experiments and plots, and a focused test suite, built on NumPy, Matplotlib, SciPy and pytest.</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seed-42 run landed on [-0.00185, 0.00496] with fitness 0.0157 after the full 100 generations — close to zero but short of the strict 1e-6 tolerance. The program also writes plots and a JSON summary to src/output.</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contour plot gives a geometric view: the GA's red-dot solution sits essentially on top of the true minimum, having crossed several rings of local minima to get there.</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Nelder-Mead gets trapped locally while the GA reaches the global basin; more generations sharpen precision but even 20 generations already find the right basin. All six tests pass, confirming the implementation behaves as specified.</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close: the GA maintains a population, improves it through selection and variation, and protects the best candidate with elitism — and that's what let it beat a local optimizer on this landscape.</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6.jpeg" Type="http://schemas.openxmlformats.org/officeDocument/2006/relationships/image"/><Relationship Id="rId5" Target="../media/VAHVA9vGXQw.mp4" Type="http://schemas.openxmlformats.org/officeDocument/2006/relationships/video"/><Relationship Id="rId6" Target="../media/VAHVA9vGXQw.mp4" Type="http://schemas.microsoft.com/office/2007/relationships/media"/></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2A4A"/>
        </a:solidFill>
      </p:bgPr>
    </p:bg>
    <p:spTree>
      <p:nvGrpSpPr>
        <p:cNvPr id="1" name=""/>
        <p:cNvGrpSpPr/>
        <p:nvPr/>
      </p:nvGrpSpPr>
      <p:grpSpPr>
        <a:xfrm>
          <a:off x="0" y="0"/>
          <a:ext cx="0" cy="0"/>
          <a:chOff x="0" y="0"/>
          <a:chExt cx="0" cy="0"/>
        </a:xfrm>
      </p:grpSpPr>
      <p:grpSp>
        <p:nvGrpSpPr>
          <p:cNvPr name="Group 2" id="2"/>
          <p:cNvGrpSpPr/>
          <p:nvPr/>
        </p:nvGrpSpPr>
        <p:grpSpPr>
          <a:xfrm rot="0">
            <a:off x="13990320" y="-2194560"/>
            <a:ext cx="7543800" cy="7543800"/>
            <a:chOff x="0" y="0"/>
            <a:chExt cx="10058400" cy="10058400"/>
          </a:xfrm>
        </p:grpSpPr>
        <p:sp>
          <p:nvSpPr>
            <p:cNvPr name="Freeform 3" id="3"/>
            <p:cNvSpPr/>
            <p:nvPr/>
          </p:nvSpPr>
          <p:spPr>
            <a:xfrm flipH="false" flipV="false" rot="0">
              <a:off x="0" y="0"/>
              <a:ext cx="10058400" cy="10058400"/>
            </a:xfrm>
            <a:custGeom>
              <a:avLst/>
              <a:gdLst/>
              <a:ahLst/>
              <a:cxnLst/>
              <a:rect r="r" b="b" t="t" l="l"/>
              <a:pathLst>
                <a:path h="10058400" w="10058400">
                  <a:moveTo>
                    <a:pt x="0" y="5029200"/>
                  </a:moveTo>
                  <a:cubicBezTo>
                    <a:pt x="0" y="2251710"/>
                    <a:pt x="2251710" y="0"/>
                    <a:pt x="5029200" y="0"/>
                  </a:cubicBezTo>
                  <a:cubicBezTo>
                    <a:pt x="7806690" y="0"/>
                    <a:pt x="10058400" y="2251710"/>
                    <a:pt x="10058400" y="5029200"/>
                  </a:cubicBezTo>
                  <a:cubicBezTo>
                    <a:pt x="10058400" y="7806690"/>
                    <a:pt x="7806690" y="10058400"/>
                    <a:pt x="5029200" y="10058400"/>
                  </a:cubicBezTo>
                  <a:cubicBezTo>
                    <a:pt x="2251710" y="10058400"/>
                    <a:pt x="0" y="7806690"/>
                    <a:pt x="0" y="5029200"/>
                  </a:cubicBezTo>
                  <a:close/>
                </a:path>
              </a:pathLst>
            </a:custGeom>
            <a:solidFill>
              <a:srgbClr val="081D33"/>
            </a:solidFill>
          </p:spPr>
        </p:sp>
      </p:grpSp>
      <p:grpSp>
        <p:nvGrpSpPr>
          <p:cNvPr name="Group 4" id="4"/>
          <p:cNvGrpSpPr/>
          <p:nvPr/>
        </p:nvGrpSpPr>
        <p:grpSpPr>
          <a:xfrm rot="0">
            <a:off x="-1783080" y="7132320"/>
            <a:ext cx="4937760" cy="4937760"/>
            <a:chOff x="0" y="0"/>
            <a:chExt cx="6583680" cy="6583680"/>
          </a:xfrm>
        </p:grpSpPr>
        <p:sp>
          <p:nvSpPr>
            <p:cNvPr name="Freeform 5" id="5"/>
            <p:cNvSpPr/>
            <p:nvPr/>
          </p:nvSpPr>
          <p:spPr>
            <a:xfrm flipH="false" flipV="false" rot="0">
              <a:off x="0" y="0"/>
              <a:ext cx="6583680" cy="6583680"/>
            </a:xfrm>
            <a:custGeom>
              <a:avLst/>
              <a:gdLst/>
              <a:ahLst/>
              <a:cxnLst/>
              <a:rect r="r" b="b" t="t" l="l"/>
              <a:pathLst>
                <a:path h="6583680" w="6583680">
                  <a:moveTo>
                    <a:pt x="0" y="3291840"/>
                  </a:moveTo>
                  <a:cubicBezTo>
                    <a:pt x="0" y="1473835"/>
                    <a:pt x="1473835" y="0"/>
                    <a:pt x="3291840" y="0"/>
                  </a:cubicBezTo>
                  <a:cubicBezTo>
                    <a:pt x="5109845" y="0"/>
                    <a:pt x="6583680" y="1473835"/>
                    <a:pt x="6583680" y="3291840"/>
                  </a:cubicBezTo>
                  <a:cubicBezTo>
                    <a:pt x="6583680" y="5109845"/>
                    <a:pt x="5109845" y="6583680"/>
                    <a:pt x="3291840" y="6583680"/>
                  </a:cubicBezTo>
                  <a:cubicBezTo>
                    <a:pt x="1473835" y="6583680"/>
                    <a:pt x="0" y="5109845"/>
                    <a:pt x="0" y="3291840"/>
                  </a:cubicBezTo>
                  <a:close/>
                </a:path>
              </a:pathLst>
            </a:custGeom>
            <a:solidFill>
              <a:srgbClr val="1C7293">
                <a:alpha val="1961"/>
              </a:srgbClr>
            </a:solidFill>
          </p:spPr>
        </p:sp>
      </p:grpSp>
      <p:grpSp>
        <p:nvGrpSpPr>
          <p:cNvPr name="Group 6" id="6"/>
          <p:cNvGrpSpPr/>
          <p:nvPr/>
        </p:nvGrpSpPr>
        <p:grpSpPr>
          <a:xfrm rot="0">
            <a:off x="960120" y="1098316"/>
            <a:ext cx="10972800" cy="557137"/>
            <a:chOff x="0" y="0"/>
            <a:chExt cx="14630400" cy="742850"/>
          </a:xfrm>
        </p:grpSpPr>
        <p:sp>
          <p:nvSpPr>
            <p:cNvPr name="Freeform 7" id="7"/>
            <p:cNvSpPr/>
            <p:nvPr/>
          </p:nvSpPr>
          <p:spPr>
            <a:xfrm flipH="false" flipV="false" rot="0">
              <a:off x="0" y="0"/>
              <a:ext cx="14630400" cy="742850"/>
            </a:xfrm>
            <a:custGeom>
              <a:avLst/>
              <a:gdLst/>
              <a:ahLst/>
              <a:cxnLst/>
              <a:rect r="r" b="b" t="t" l="l"/>
              <a:pathLst>
                <a:path h="742850" w="14630400">
                  <a:moveTo>
                    <a:pt x="0" y="0"/>
                  </a:moveTo>
                  <a:lnTo>
                    <a:pt x="14630400" y="0"/>
                  </a:lnTo>
                  <a:lnTo>
                    <a:pt x="14630400" y="742850"/>
                  </a:lnTo>
                  <a:lnTo>
                    <a:pt x="0" y="742850"/>
                  </a:lnTo>
                  <a:close/>
                </a:path>
              </a:pathLst>
            </a:custGeom>
            <a:blipFill>
              <a:blip r:embed="rId3">
                <a:alphaModFix amt="0"/>
              </a:blip>
              <a:stretch>
                <a:fillRect l="0" t="-334519" r="0" b="-332994"/>
              </a:stretch>
            </a:blipFill>
          </p:spPr>
        </p:sp>
        <p:sp>
          <p:nvSpPr>
            <p:cNvPr name="TextBox 8" id="8"/>
            <p:cNvSpPr txBox="true"/>
            <p:nvPr/>
          </p:nvSpPr>
          <p:spPr>
            <a:xfrm>
              <a:off x="0" y="-66675"/>
              <a:ext cx="14630400" cy="809525"/>
            </a:xfrm>
            <a:prstGeom prst="rect">
              <a:avLst/>
            </a:prstGeom>
          </p:spPr>
          <p:txBody>
            <a:bodyPr anchor="ctr" rtlCol="false" tIns="0" lIns="0" bIns="0" rIns="0"/>
            <a:lstStyle/>
            <a:p>
              <a:pPr algn="l">
                <a:lnSpc>
                  <a:spcPts val="3359"/>
                </a:lnSpc>
              </a:pPr>
              <a:r>
                <a:rPr lang="en-US" b="true" sz="2799" spc="399">
                  <a:solidFill>
                    <a:srgbClr val="7FB3CE"/>
                  </a:solidFill>
                  <a:latin typeface="Calibri (MS) Bold"/>
                  <a:ea typeface="Calibri (MS) Bold"/>
                  <a:cs typeface="Calibri (MS) Bold"/>
                  <a:sym typeface="Calibri (MS) Bold"/>
                </a:rPr>
                <a:t>MACHINE LEARNING · GA-ASSIGNMENT</a:t>
              </a:r>
            </a:p>
          </p:txBody>
        </p:sp>
      </p:grpSp>
      <p:grpSp>
        <p:nvGrpSpPr>
          <p:cNvPr name="Group 9" id="9"/>
          <p:cNvGrpSpPr/>
          <p:nvPr/>
        </p:nvGrpSpPr>
        <p:grpSpPr>
          <a:xfrm rot="0">
            <a:off x="960120" y="675686"/>
            <a:ext cx="13030200" cy="5379390"/>
            <a:chOff x="0" y="0"/>
            <a:chExt cx="17373600" cy="7172519"/>
          </a:xfrm>
        </p:grpSpPr>
        <p:sp>
          <p:nvSpPr>
            <p:cNvPr name="Freeform 10" id="10"/>
            <p:cNvSpPr/>
            <p:nvPr/>
          </p:nvSpPr>
          <p:spPr>
            <a:xfrm flipH="false" flipV="false" rot="0">
              <a:off x="0" y="0"/>
              <a:ext cx="17373600" cy="7172520"/>
            </a:xfrm>
            <a:custGeom>
              <a:avLst/>
              <a:gdLst/>
              <a:ahLst/>
              <a:cxnLst/>
              <a:rect r="r" b="b" t="t" l="l"/>
              <a:pathLst>
                <a:path h="7172520" w="17373600">
                  <a:moveTo>
                    <a:pt x="0" y="0"/>
                  </a:moveTo>
                  <a:lnTo>
                    <a:pt x="17373600" y="0"/>
                  </a:lnTo>
                  <a:lnTo>
                    <a:pt x="17373600" y="7172520"/>
                  </a:lnTo>
                  <a:lnTo>
                    <a:pt x="0" y="7172520"/>
                  </a:lnTo>
                  <a:close/>
                </a:path>
              </a:pathLst>
            </a:custGeom>
            <a:blipFill>
              <a:blip r:embed="rId3">
                <a:alphaModFix amt="0"/>
              </a:blip>
              <a:stretch>
                <a:fillRect l="0" t="-13535" r="19999" b="38019"/>
              </a:stretch>
            </a:blipFill>
          </p:spPr>
        </p:sp>
        <p:sp>
          <p:nvSpPr>
            <p:cNvPr name="TextBox 11" id="11"/>
            <p:cNvSpPr txBox="true"/>
            <p:nvPr/>
          </p:nvSpPr>
          <p:spPr>
            <a:xfrm>
              <a:off x="0" y="-57150"/>
              <a:ext cx="17373600" cy="7229669"/>
            </a:xfrm>
            <a:prstGeom prst="rect">
              <a:avLst/>
            </a:prstGeom>
          </p:spPr>
          <p:txBody>
            <a:bodyPr anchor="ctr" rtlCol="false" tIns="0" lIns="0" bIns="0" rIns="0"/>
            <a:lstStyle/>
            <a:p>
              <a:pPr algn="l">
                <a:lnSpc>
                  <a:spcPts val="7776"/>
                </a:lnSpc>
              </a:pPr>
              <a:r>
                <a:rPr lang="en-US" sz="6000" b="true">
                  <a:solidFill>
                    <a:srgbClr val="FFFFFF"/>
                  </a:solidFill>
                  <a:latin typeface="Cambria Bold"/>
                  <a:ea typeface="Cambria Bold"/>
                  <a:cs typeface="Cambria Bold"/>
                  <a:sym typeface="Cambria Bold"/>
                </a:rPr>
                <a:t>Finding the Global Minimum of the</a:t>
              </a:r>
            </a:p>
            <a:p>
              <a:pPr algn="l">
                <a:lnSpc>
                  <a:spcPts val="7776"/>
                </a:lnSpc>
              </a:pPr>
              <a:r>
                <a:rPr lang="en-US" sz="6000" b="true">
                  <a:solidFill>
                    <a:srgbClr val="FFFFFF"/>
                  </a:solidFill>
                  <a:latin typeface="Cambria Bold"/>
                  <a:ea typeface="Cambria Bold"/>
                  <a:cs typeface="Cambria Bold"/>
                  <a:sym typeface="Cambria Bold"/>
                </a:rPr>
                <a:t>2D Ackley Function</a:t>
              </a:r>
            </a:p>
          </p:txBody>
        </p:sp>
      </p:grpSp>
      <p:grpSp>
        <p:nvGrpSpPr>
          <p:cNvPr name="Group 12" id="12"/>
          <p:cNvGrpSpPr/>
          <p:nvPr/>
        </p:nvGrpSpPr>
        <p:grpSpPr>
          <a:xfrm rot="0">
            <a:off x="960120" y="3365381"/>
            <a:ext cx="10424160" cy="3081449"/>
            <a:chOff x="0" y="0"/>
            <a:chExt cx="13898880" cy="4108599"/>
          </a:xfrm>
        </p:grpSpPr>
        <p:sp>
          <p:nvSpPr>
            <p:cNvPr name="Freeform 13" id="13"/>
            <p:cNvSpPr/>
            <p:nvPr/>
          </p:nvSpPr>
          <p:spPr>
            <a:xfrm flipH="false" flipV="false" rot="0">
              <a:off x="0" y="0"/>
              <a:ext cx="13898880" cy="4108599"/>
            </a:xfrm>
            <a:custGeom>
              <a:avLst/>
              <a:gdLst/>
              <a:ahLst/>
              <a:cxnLst/>
              <a:rect r="r" b="b" t="t" l="l"/>
              <a:pathLst>
                <a:path h="4108599" w="13898880">
                  <a:moveTo>
                    <a:pt x="0" y="0"/>
                  </a:moveTo>
                  <a:lnTo>
                    <a:pt x="13898880" y="0"/>
                  </a:lnTo>
                  <a:lnTo>
                    <a:pt x="13898880" y="4108599"/>
                  </a:lnTo>
                  <a:lnTo>
                    <a:pt x="0" y="4108599"/>
                  </a:lnTo>
                  <a:close/>
                </a:path>
              </a:pathLst>
            </a:custGeom>
            <a:blipFill>
              <a:blip r:embed="rId3">
                <a:alphaModFix amt="0"/>
              </a:blip>
              <a:stretch>
                <a:fillRect l="0" t="-52562" r="0" b="20731"/>
              </a:stretch>
            </a:blipFill>
          </p:spPr>
        </p:sp>
        <p:sp>
          <p:nvSpPr>
            <p:cNvPr name="TextBox 14" id="14"/>
            <p:cNvSpPr txBox="true"/>
            <p:nvPr/>
          </p:nvSpPr>
          <p:spPr>
            <a:xfrm>
              <a:off x="0" y="-9525"/>
              <a:ext cx="13898880" cy="4118124"/>
            </a:xfrm>
            <a:prstGeom prst="rect">
              <a:avLst/>
            </a:prstGeom>
          </p:spPr>
          <p:txBody>
            <a:bodyPr anchor="ctr" rtlCol="false" tIns="0" lIns="0" bIns="0" rIns="0"/>
            <a:lstStyle/>
            <a:p>
              <a:pPr algn="l">
                <a:lnSpc>
                  <a:spcPts val="5040"/>
                </a:lnSpc>
              </a:pPr>
              <a:r>
                <a:rPr lang="en-US" sz="4200" i="true">
                  <a:solidFill>
                    <a:srgbClr val="FF6B4A"/>
                  </a:solidFill>
                  <a:latin typeface="Cambria Italics"/>
                  <a:ea typeface="Cambria Italics"/>
                  <a:cs typeface="Cambria Italics"/>
                  <a:sym typeface="Cambria Italics"/>
                </a:rPr>
                <a:t>with </a:t>
              </a:r>
              <a:r>
                <a:rPr lang="en-US" b="true" sz="4200" i="true">
                  <a:solidFill>
                    <a:srgbClr val="FF6B4A"/>
                  </a:solidFill>
                  <a:latin typeface="Cambria Bold Italics"/>
                  <a:ea typeface="Cambria Bold Italics"/>
                  <a:cs typeface="Cambria Bold Italics"/>
                  <a:sym typeface="Cambria Bold Italics"/>
                </a:rPr>
                <a:t>Genetic Algorithm</a:t>
              </a:r>
            </a:p>
          </p:txBody>
        </p:sp>
      </p:grpSp>
      <p:sp>
        <p:nvSpPr>
          <p:cNvPr name="TextBox 15" id="15"/>
          <p:cNvSpPr txBox="true"/>
          <p:nvPr/>
        </p:nvSpPr>
        <p:spPr>
          <a:xfrm rot="0">
            <a:off x="11866357" y="5750235"/>
            <a:ext cx="4247927" cy="887095"/>
          </a:xfrm>
          <a:prstGeom prst="rect">
            <a:avLst/>
          </a:prstGeom>
        </p:spPr>
        <p:txBody>
          <a:bodyPr anchor="t" rtlCol="false" tIns="0" lIns="0" bIns="0" rIns="0">
            <a:spAutoFit/>
          </a:bodyPr>
          <a:lstStyle/>
          <a:p>
            <a:pPr algn="ctr">
              <a:lnSpc>
                <a:spcPts val="7279"/>
              </a:lnSpc>
            </a:pPr>
            <a:r>
              <a:rPr lang="en-US" b="true" sz="5199" i="true">
                <a:solidFill>
                  <a:srgbClr val="9FB3C8"/>
                </a:solidFill>
                <a:latin typeface="Canva Sans Bold Italics"/>
                <a:ea typeface="Canva Sans Bold Italics"/>
                <a:cs typeface="Canva Sans Bold Italics"/>
                <a:sym typeface="Canva Sans Bold Italics"/>
              </a:rPr>
              <a:t>Presented by</a:t>
            </a:r>
          </a:p>
        </p:txBody>
      </p:sp>
      <p:sp>
        <p:nvSpPr>
          <p:cNvPr name="TextBox 16" id="16"/>
          <p:cNvSpPr txBox="true"/>
          <p:nvPr/>
        </p:nvSpPr>
        <p:spPr>
          <a:xfrm rot="0">
            <a:off x="11866357" y="7097390"/>
            <a:ext cx="1622078" cy="609600"/>
          </a:xfrm>
          <a:prstGeom prst="rect">
            <a:avLst/>
          </a:prstGeom>
        </p:spPr>
        <p:txBody>
          <a:bodyPr anchor="t" rtlCol="false" tIns="0" lIns="0" bIns="0" rIns="0">
            <a:spAutoFit/>
          </a:bodyPr>
          <a:lstStyle/>
          <a:p>
            <a:pPr algn="ctr">
              <a:lnSpc>
                <a:spcPts val="4320"/>
              </a:lnSpc>
              <a:spcBef>
                <a:spcPct val="0"/>
              </a:spcBef>
            </a:pPr>
            <a:r>
              <a:rPr lang="en-US" sz="3600">
                <a:solidFill>
                  <a:srgbClr val="FFEDE7"/>
                </a:solidFill>
                <a:latin typeface="Calibri (MS)"/>
                <a:ea typeface="Calibri (MS)"/>
                <a:cs typeface="Calibri (MS)"/>
                <a:sym typeface="Calibri (MS)"/>
              </a:rPr>
              <a:t>21070</a:t>
            </a:r>
            <a:r>
              <a:rPr lang="en-US" b="true" sz="3600">
                <a:solidFill>
                  <a:srgbClr val="FFEDE7"/>
                </a:solidFill>
                <a:latin typeface="Calibri (MS) Bold"/>
                <a:ea typeface="Calibri (MS) Bold"/>
                <a:cs typeface="Calibri (MS) Bold"/>
                <a:sym typeface="Calibri (MS) Bold"/>
              </a:rPr>
              <a:t>67</a:t>
            </a:r>
          </a:p>
        </p:txBody>
      </p:sp>
      <p:sp>
        <p:nvSpPr>
          <p:cNvPr name="TextBox 17" id="17"/>
          <p:cNvSpPr txBox="true"/>
          <p:nvPr/>
        </p:nvSpPr>
        <p:spPr>
          <a:xfrm rot="0">
            <a:off x="14492206" y="7097390"/>
            <a:ext cx="1622078" cy="609600"/>
          </a:xfrm>
          <a:prstGeom prst="rect">
            <a:avLst/>
          </a:prstGeom>
        </p:spPr>
        <p:txBody>
          <a:bodyPr anchor="t" rtlCol="false" tIns="0" lIns="0" bIns="0" rIns="0">
            <a:spAutoFit/>
          </a:bodyPr>
          <a:lstStyle/>
          <a:p>
            <a:pPr algn="ctr">
              <a:lnSpc>
                <a:spcPts val="4320"/>
              </a:lnSpc>
              <a:spcBef>
                <a:spcPct val="0"/>
              </a:spcBef>
            </a:pPr>
            <a:r>
              <a:rPr lang="en-US" sz="3600">
                <a:solidFill>
                  <a:srgbClr val="FFEDE7"/>
                </a:solidFill>
                <a:latin typeface="Calibri (MS)"/>
                <a:ea typeface="Calibri (MS)"/>
                <a:cs typeface="Calibri (MS)"/>
                <a:sym typeface="Calibri (MS)"/>
              </a:rPr>
              <a:t>21070</a:t>
            </a:r>
            <a:r>
              <a:rPr lang="en-US" b="true" sz="3600">
                <a:solidFill>
                  <a:srgbClr val="FFEDE7"/>
                </a:solidFill>
                <a:latin typeface="Calibri (MS) Bold"/>
                <a:ea typeface="Calibri (MS) Bold"/>
                <a:cs typeface="Calibri (MS) Bold"/>
                <a:sym typeface="Calibri (MS) Bold"/>
              </a:rPr>
              <a:t>78</a:t>
            </a:r>
          </a:p>
        </p:txBody>
      </p:sp>
      <p:sp>
        <p:nvSpPr>
          <p:cNvPr name="TextBox 18" id="18"/>
          <p:cNvSpPr txBox="true"/>
          <p:nvPr/>
        </p:nvSpPr>
        <p:spPr>
          <a:xfrm rot="0">
            <a:off x="11866357" y="7873045"/>
            <a:ext cx="1622078" cy="609600"/>
          </a:xfrm>
          <a:prstGeom prst="rect">
            <a:avLst/>
          </a:prstGeom>
        </p:spPr>
        <p:txBody>
          <a:bodyPr anchor="t" rtlCol="false" tIns="0" lIns="0" bIns="0" rIns="0">
            <a:spAutoFit/>
          </a:bodyPr>
          <a:lstStyle/>
          <a:p>
            <a:pPr algn="ctr">
              <a:lnSpc>
                <a:spcPts val="4320"/>
              </a:lnSpc>
              <a:spcBef>
                <a:spcPct val="0"/>
              </a:spcBef>
            </a:pPr>
            <a:r>
              <a:rPr lang="en-US" sz="3600">
                <a:solidFill>
                  <a:srgbClr val="FFEDE7"/>
                </a:solidFill>
                <a:latin typeface="Calibri (MS)"/>
                <a:ea typeface="Calibri (MS)"/>
                <a:cs typeface="Calibri (MS)"/>
                <a:sym typeface="Calibri (MS)"/>
              </a:rPr>
              <a:t>21070</a:t>
            </a:r>
            <a:r>
              <a:rPr lang="en-US" b="true" sz="3600">
                <a:solidFill>
                  <a:srgbClr val="FFEDE7"/>
                </a:solidFill>
                <a:latin typeface="Calibri (MS) Bold"/>
                <a:ea typeface="Calibri (MS) Bold"/>
                <a:cs typeface="Calibri (MS) Bold"/>
                <a:sym typeface="Calibri (MS) Bold"/>
              </a:rPr>
              <a:t>91</a:t>
            </a:r>
          </a:p>
        </p:txBody>
      </p:sp>
      <p:sp>
        <p:nvSpPr>
          <p:cNvPr name="TextBox 19" id="19"/>
          <p:cNvSpPr txBox="true"/>
          <p:nvPr/>
        </p:nvSpPr>
        <p:spPr>
          <a:xfrm rot="0">
            <a:off x="14492206" y="7873045"/>
            <a:ext cx="1622078" cy="609600"/>
          </a:xfrm>
          <a:prstGeom prst="rect">
            <a:avLst/>
          </a:prstGeom>
        </p:spPr>
        <p:txBody>
          <a:bodyPr anchor="t" rtlCol="false" tIns="0" lIns="0" bIns="0" rIns="0">
            <a:spAutoFit/>
          </a:bodyPr>
          <a:lstStyle/>
          <a:p>
            <a:pPr algn="ctr">
              <a:lnSpc>
                <a:spcPts val="4320"/>
              </a:lnSpc>
              <a:spcBef>
                <a:spcPct val="0"/>
              </a:spcBef>
            </a:pPr>
            <a:r>
              <a:rPr lang="en-US" sz="3600">
                <a:solidFill>
                  <a:srgbClr val="FFEDE7"/>
                </a:solidFill>
                <a:latin typeface="Calibri (MS)"/>
                <a:ea typeface="Calibri (MS)"/>
                <a:cs typeface="Calibri (MS)"/>
                <a:sym typeface="Calibri (MS)"/>
              </a:rPr>
              <a:t>2107</a:t>
            </a:r>
            <a:r>
              <a:rPr lang="en-US" b="true" sz="3600">
                <a:solidFill>
                  <a:srgbClr val="FFEDE7"/>
                </a:solidFill>
                <a:latin typeface="Calibri (MS) Bold"/>
                <a:ea typeface="Calibri (MS) Bold"/>
                <a:cs typeface="Calibri (MS) Bold"/>
                <a:sym typeface="Calibri (MS) Bold"/>
              </a:rPr>
              <a:t>100</a:t>
            </a:r>
          </a:p>
        </p:txBody>
      </p:sp>
      <p:sp>
        <p:nvSpPr>
          <p:cNvPr name="TextBox 20" id="20"/>
          <p:cNvSpPr txBox="true"/>
          <p:nvPr/>
        </p:nvSpPr>
        <p:spPr>
          <a:xfrm rot="0">
            <a:off x="11866357" y="8648700"/>
            <a:ext cx="1622078" cy="609600"/>
          </a:xfrm>
          <a:prstGeom prst="rect">
            <a:avLst/>
          </a:prstGeom>
        </p:spPr>
        <p:txBody>
          <a:bodyPr anchor="t" rtlCol="false" tIns="0" lIns="0" bIns="0" rIns="0">
            <a:spAutoFit/>
          </a:bodyPr>
          <a:lstStyle/>
          <a:p>
            <a:pPr algn="ctr">
              <a:lnSpc>
                <a:spcPts val="4320"/>
              </a:lnSpc>
              <a:spcBef>
                <a:spcPct val="0"/>
              </a:spcBef>
            </a:pPr>
            <a:r>
              <a:rPr lang="en-US" sz="3600">
                <a:solidFill>
                  <a:srgbClr val="FFEDE7"/>
                </a:solidFill>
                <a:latin typeface="Calibri (MS)"/>
                <a:ea typeface="Calibri (MS)"/>
                <a:cs typeface="Calibri (MS)"/>
                <a:sym typeface="Calibri (MS)"/>
              </a:rPr>
              <a:t>2107</a:t>
            </a:r>
            <a:r>
              <a:rPr lang="en-US" b="true" sz="3600">
                <a:solidFill>
                  <a:srgbClr val="FFEDE7"/>
                </a:solidFill>
                <a:latin typeface="Calibri (MS) Bold"/>
                <a:ea typeface="Calibri (MS) Bold"/>
                <a:cs typeface="Calibri (MS) Bold"/>
                <a:sym typeface="Calibri (MS) Bold"/>
              </a:rPr>
              <a:t>108</a:t>
            </a:r>
          </a:p>
        </p:txBody>
      </p:sp>
      <p:sp>
        <p:nvSpPr>
          <p:cNvPr name="TextBox 21" id="21"/>
          <p:cNvSpPr txBox="true"/>
          <p:nvPr/>
        </p:nvSpPr>
        <p:spPr>
          <a:xfrm rot="0">
            <a:off x="14492206" y="8648700"/>
            <a:ext cx="1622078" cy="609600"/>
          </a:xfrm>
          <a:prstGeom prst="rect">
            <a:avLst/>
          </a:prstGeom>
        </p:spPr>
        <p:txBody>
          <a:bodyPr anchor="t" rtlCol="false" tIns="0" lIns="0" bIns="0" rIns="0">
            <a:spAutoFit/>
          </a:bodyPr>
          <a:lstStyle/>
          <a:p>
            <a:pPr algn="ctr">
              <a:lnSpc>
                <a:spcPts val="4320"/>
              </a:lnSpc>
              <a:spcBef>
                <a:spcPct val="0"/>
              </a:spcBef>
            </a:pPr>
            <a:r>
              <a:rPr lang="en-US" sz="3600">
                <a:solidFill>
                  <a:srgbClr val="FFEDE7"/>
                </a:solidFill>
                <a:latin typeface="Calibri (MS)"/>
                <a:ea typeface="Calibri (MS)"/>
                <a:cs typeface="Calibri (MS)"/>
                <a:sym typeface="Calibri (MS)"/>
              </a:rPr>
              <a:t>2107</a:t>
            </a:r>
            <a:r>
              <a:rPr lang="en-US" b="true" sz="3600">
                <a:solidFill>
                  <a:srgbClr val="FFEDE7"/>
                </a:solidFill>
                <a:latin typeface="Calibri (MS) Bold"/>
                <a:ea typeface="Calibri (MS) Bold"/>
                <a:cs typeface="Calibri (MS) Bold"/>
                <a:sym typeface="Calibri (MS) Bold"/>
              </a:rPr>
              <a:t>115</a:t>
            </a:r>
          </a:p>
        </p:txBody>
      </p:sp>
      <p:sp>
        <p:nvSpPr>
          <p:cNvPr name="TextBox 22" id="22"/>
          <p:cNvSpPr txBox="true"/>
          <p:nvPr/>
        </p:nvSpPr>
        <p:spPr>
          <a:xfrm rot="0">
            <a:off x="960120" y="6819895"/>
            <a:ext cx="5694387" cy="887095"/>
          </a:xfrm>
          <a:prstGeom prst="rect">
            <a:avLst/>
          </a:prstGeom>
        </p:spPr>
        <p:txBody>
          <a:bodyPr anchor="t" rtlCol="false" tIns="0" lIns="0" bIns="0" rIns="0">
            <a:spAutoFit/>
          </a:bodyPr>
          <a:lstStyle/>
          <a:p>
            <a:pPr algn="ctr">
              <a:lnSpc>
                <a:spcPts val="7279"/>
              </a:lnSpc>
            </a:pPr>
            <a:r>
              <a:rPr lang="en-US" b="true" sz="5199" i="true">
                <a:solidFill>
                  <a:srgbClr val="9FB3C8"/>
                </a:solidFill>
                <a:latin typeface="Canva Sans Bold Italics"/>
                <a:ea typeface="Canva Sans Bold Italics"/>
                <a:cs typeface="Canva Sans Bold Italics"/>
                <a:sym typeface="Canva Sans Bold Italics"/>
              </a:rPr>
              <a:t>Course Instructor</a:t>
            </a:r>
          </a:p>
        </p:txBody>
      </p:sp>
      <p:sp>
        <p:nvSpPr>
          <p:cNvPr name="TextBox 23" id="23"/>
          <p:cNvSpPr txBox="true"/>
          <p:nvPr/>
        </p:nvSpPr>
        <p:spPr>
          <a:xfrm rot="0">
            <a:off x="1028700" y="7939720"/>
            <a:ext cx="2782044" cy="609600"/>
          </a:xfrm>
          <a:prstGeom prst="rect">
            <a:avLst/>
          </a:prstGeom>
        </p:spPr>
        <p:txBody>
          <a:bodyPr anchor="t" rtlCol="false" tIns="0" lIns="0" bIns="0" rIns="0">
            <a:spAutoFit/>
          </a:bodyPr>
          <a:lstStyle/>
          <a:p>
            <a:pPr algn="ctr">
              <a:lnSpc>
                <a:spcPts val="4320"/>
              </a:lnSpc>
              <a:spcBef>
                <a:spcPct val="0"/>
              </a:spcBef>
            </a:pPr>
            <a:r>
              <a:rPr lang="en-US" sz="3600">
                <a:solidFill>
                  <a:srgbClr val="FFEDE7"/>
                </a:solidFill>
                <a:latin typeface="Calibri (MS)"/>
                <a:ea typeface="Calibri (MS)"/>
                <a:cs typeface="Calibri (MS)"/>
                <a:sym typeface="Calibri (MS)"/>
              </a:rPr>
              <a:t>Dr. Al Mahmud</a:t>
            </a:r>
          </a:p>
        </p:txBody>
      </p:sp>
      <p:sp>
        <p:nvSpPr>
          <p:cNvPr name="TextBox 24" id="24"/>
          <p:cNvSpPr txBox="true"/>
          <p:nvPr/>
        </p:nvSpPr>
        <p:spPr>
          <a:xfrm rot="0">
            <a:off x="1028700" y="8648700"/>
            <a:ext cx="8421581" cy="609600"/>
          </a:xfrm>
          <a:prstGeom prst="rect">
            <a:avLst/>
          </a:prstGeom>
        </p:spPr>
        <p:txBody>
          <a:bodyPr anchor="t" rtlCol="false" tIns="0" lIns="0" bIns="0" rIns="0">
            <a:spAutoFit/>
          </a:bodyPr>
          <a:lstStyle/>
          <a:p>
            <a:pPr algn="l">
              <a:lnSpc>
                <a:spcPts val="4320"/>
              </a:lnSpc>
              <a:spcBef>
                <a:spcPct val="0"/>
              </a:spcBef>
            </a:pPr>
            <a:r>
              <a:rPr lang="en-US" sz="3600">
                <a:solidFill>
                  <a:srgbClr val="FFEDE7"/>
                </a:solidFill>
                <a:latin typeface="Calibri (MS)"/>
                <a:ea typeface="Calibri (MS)"/>
                <a:cs typeface="Calibri (MS)"/>
                <a:sym typeface="Calibri (MS)"/>
              </a:rPr>
              <a:t>Professor, Department of CSE, KUET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47625"/>
              <a:ext cx="14630400" cy="687705"/>
            </a:xfrm>
            <a:prstGeom prst="rect">
              <a:avLst/>
            </a:prstGeom>
          </p:spPr>
          <p:txBody>
            <a:bodyPr anchor="ctr" rtlCol="false" tIns="0" lIns="0" bIns="0" rIns="0"/>
            <a:lstStyle/>
            <a:p>
              <a:pPr algn="l">
                <a:lnSpc>
                  <a:spcPts val="2340"/>
                </a:lnSpc>
              </a:pPr>
              <a:r>
                <a:rPr lang="en-US" b="true" sz="1950" spc="299">
                  <a:solidFill>
                    <a:srgbClr val="1C7293"/>
                  </a:solidFill>
                  <a:latin typeface="Calibri (MS) Bold"/>
                  <a:ea typeface="Calibri (MS) Bold"/>
                  <a:cs typeface="Calibri (MS) Bold"/>
                  <a:sym typeface="Calibri (MS) Bold"/>
                </a:rPr>
                <a:t>WHAT WE'RE DOING</a:t>
              </a:r>
            </a:p>
          </p:txBody>
        </p:sp>
      </p:grpSp>
      <p:grpSp>
        <p:nvGrpSpPr>
          <p:cNvPr name="Group 5" id="5"/>
          <p:cNvGrpSpPr/>
          <p:nvPr/>
        </p:nvGrpSpPr>
        <p:grpSpPr>
          <a:xfrm rot="0">
            <a:off x="822960" y="375885"/>
            <a:ext cx="17830088" cy="2926997"/>
            <a:chOff x="0" y="0"/>
            <a:chExt cx="23773450" cy="3902663"/>
          </a:xfrm>
        </p:grpSpPr>
        <p:sp>
          <p:nvSpPr>
            <p:cNvPr name="Freeform 6" id="6"/>
            <p:cNvSpPr/>
            <p:nvPr/>
          </p:nvSpPr>
          <p:spPr>
            <a:xfrm flipH="false" flipV="false" rot="0">
              <a:off x="0" y="0"/>
              <a:ext cx="23773451" cy="3902663"/>
            </a:xfrm>
            <a:custGeom>
              <a:avLst/>
              <a:gdLst/>
              <a:ahLst/>
              <a:cxnLst/>
              <a:rect r="r" b="b" t="t" l="l"/>
              <a:pathLst>
                <a:path h="3902663" w="23773451">
                  <a:moveTo>
                    <a:pt x="0" y="0"/>
                  </a:moveTo>
                  <a:lnTo>
                    <a:pt x="23773451" y="0"/>
                  </a:lnTo>
                  <a:lnTo>
                    <a:pt x="23773451" y="3902663"/>
                  </a:lnTo>
                  <a:lnTo>
                    <a:pt x="0" y="3902663"/>
                  </a:lnTo>
                  <a:close/>
                </a:path>
              </a:pathLst>
            </a:custGeom>
            <a:blipFill>
              <a:blip r:embed="rId3">
                <a:alphaModFix amt="0"/>
              </a:blip>
              <a:stretch>
                <a:fillRect l="0" t="-80143" r="10765" b="-31689"/>
              </a:stretch>
            </a:blipFill>
          </p:spPr>
        </p:sp>
        <p:sp>
          <p:nvSpPr>
            <p:cNvPr name="TextBox 7" id="7"/>
            <p:cNvSpPr txBox="true"/>
            <p:nvPr/>
          </p:nvSpPr>
          <p:spPr>
            <a:xfrm>
              <a:off x="0" y="-9525"/>
              <a:ext cx="23773450" cy="3912188"/>
            </a:xfrm>
            <a:prstGeom prst="rect">
              <a:avLst/>
            </a:prstGeom>
          </p:spPr>
          <p:txBody>
            <a:bodyPr anchor="ctr" rtlCol="false" tIns="0" lIns="0" bIns="0" rIns="0"/>
            <a:lstStyle/>
            <a:p>
              <a:pPr algn="l">
                <a:lnSpc>
                  <a:spcPts val="4799"/>
                </a:lnSpc>
              </a:pPr>
              <a:r>
                <a:rPr lang="en-US" sz="3999" b="true">
                  <a:solidFill>
                    <a:srgbClr val="1B1F27"/>
                  </a:solidFill>
                  <a:latin typeface="Cambria Bold"/>
                  <a:ea typeface="Cambria Bold"/>
                  <a:cs typeface="Cambria Bold"/>
                  <a:sym typeface="Cambria Bold"/>
                </a:rPr>
                <a:t>A Genetic Algorithm that hunts for a single point in a 2D landscape</a:t>
              </a:r>
            </a:p>
          </p:txBody>
        </p:sp>
      </p:grpSp>
      <p:grpSp>
        <p:nvGrpSpPr>
          <p:cNvPr name="Group 8" id="8"/>
          <p:cNvGrpSpPr/>
          <p:nvPr/>
        </p:nvGrpSpPr>
        <p:grpSpPr>
          <a:xfrm rot="0">
            <a:off x="813435" y="2870835"/>
            <a:ext cx="3790950" cy="6259830"/>
            <a:chOff x="0" y="0"/>
            <a:chExt cx="5054600" cy="8346440"/>
          </a:xfrm>
        </p:grpSpPr>
        <p:sp>
          <p:nvSpPr>
            <p:cNvPr name="Freeform 9" id="9"/>
            <p:cNvSpPr/>
            <p:nvPr/>
          </p:nvSpPr>
          <p:spPr>
            <a:xfrm flipH="false" flipV="false" rot="0">
              <a:off x="0" y="0"/>
              <a:ext cx="5054600" cy="8346440"/>
            </a:xfrm>
            <a:custGeom>
              <a:avLst/>
              <a:gdLst/>
              <a:ahLst/>
              <a:cxnLst/>
              <a:rect r="r" b="b" t="t" l="l"/>
              <a:pathLst>
                <a:path h="8346440" w="5054600">
                  <a:moveTo>
                    <a:pt x="0" y="147066"/>
                  </a:moveTo>
                  <a:cubicBezTo>
                    <a:pt x="0" y="65786"/>
                    <a:pt x="65786" y="0"/>
                    <a:pt x="147066" y="0"/>
                  </a:cubicBezTo>
                  <a:lnTo>
                    <a:pt x="4907534" y="0"/>
                  </a:lnTo>
                  <a:cubicBezTo>
                    <a:pt x="4988814" y="0"/>
                    <a:pt x="5054600" y="65786"/>
                    <a:pt x="5054600" y="147066"/>
                  </a:cubicBezTo>
                  <a:lnTo>
                    <a:pt x="5054600" y="8199374"/>
                  </a:lnTo>
                  <a:cubicBezTo>
                    <a:pt x="5054600" y="8280527"/>
                    <a:pt x="4988814" y="8346440"/>
                    <a:pt x="4907534" y="8346440"/>
                  </a:cubicBezTo>
                  <a:lnTo>
                    <a:pt x="147066" y="8346440"/>
                  </a:lnTo>
                  <a:cubicBezTo>
                    <a:pt x="65786" y="8346440"/>
                    <a:pt x="0" y="8280654"/>
                    <a:pt x="0" y="8199374"/>
                  </a:cubicBezTo>
                  <a:close/>
                </a:path>
              </a:pathLst>
            </a:custGeom>
            <a:solidFill>
              <a:srgbClr val="FFFFFF"/>
            </a:solidFill>
            <a:ln w="19050" cap="sq">
              <a:solidFill>
                <a:srgbClr val="E3E9EE"/>
              </a:solidFill>
              <a:prstDash val="solid"/>
              <a:miter/>
            </a:ln>
          </p:spPr>
        </p:sp>
      </p:grpSp>
      <p:grpSp>
        <p:nvGrpSpPr>
          <p:cNvPr name="Group 10" id="10"/>
          <p:cNvGrpSpPr/>
          <p:nvPr/>
        </p:nvGrpSpPr>
        <p:grpSpPr>
          <a:xfrm rot="0">
            <a:off x="1207008" y="3291840"/>
            <a:ext cx="822960" cy="822960"/>
            <a:chOff x="0" y="0"/>
            <a:chExt cx="1097280" cy="1097280"/>
          </a:xfrm>
        </p:grpSpPr>
        <p:sp>
          <p:nvSpPr>
            <p:cNvPr name="Freeform 11" id="11"/>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1C7293"/>
            </a:solidFill>
          </p:spPr>
        </p:sp>
      </p:grpSp>
      <p:grpSp>
        <p:nvGrpSpPr>
          <p:cNvPr name="Group 12" id="12"/>
          <p:cNvGrpSpPr/>
          <p:nvPr/>
        </p:nvGrpSpPr>
        <p:grpSpPr>
          <a:xfrm rot="0">
            <a:off x="1207008" y="3291840"/>
            <a:ext cx="822960" cy="822960"/>
            <a:chOff x="0" y="0"/>
            <a:chExt cx="1097280" cy="1097280"/>
          </a:xfrm>
        </p:grpSpPr>
        <p:sp>
          <p:nvSpPr>
            <p:cNvPr name="Freeform 13" id="13"/>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14" id="14"/>
            <p:cNvSpPr txBox="true"/>
            <p:nvPr/>
          </p:nvSpPr>
          <p:spPr>
            <a:xfrm>
              <a:off x="0" y="-38100"/>
              <a:ext cx="1097280" cy="113538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01</a:t>
              </a:r>
            </a:p>
          </p:txBody>
        </p:sp>
      </p:grpSp>
      <p:grpSp>
        <p:nvGrpSpPr>
          <p:cNvPr name="Group 15" id="15"/>
          <p:cNvGrpSpPr/>
          <p:nvPr/>
        </p:nvGrpSpPr>
        <p:grpSpPr>
          <a:xfrm rot="0">
            <a:off x="1207008" y="4320540"/>
            <a:ext cx="3003804" cy="548640"/>
            <a:chOff x="0" y="0"/>
            <a:chExt cx="4005072" cy="731520"/>
          </a:xfrm>
        </p:grpSpPr>
        <p:sp>
          <p:nvSpPr>
            <p:cNvPr name="Freeform 16" id="16"/>
            <p:cNvSpPr/>
            <p:nvPr/>
          </p:nvSpPr>
          <p:spPr>
            <a:xfrm flipH="false" flipV="false" rot="0">
              <a:off x="0" y="0"/>
              <a:ext cx="4005072" cy="731520"/>
            </a:xfrm>
            <a:custGeom>
              <a:avLst/>
              <a:gdLst/>
              <a:ahLst/>
              <a:cxnLst/>
              <a:rect r="r" b="b" t="t" l="l"/>
              <a:pathLst>
                <a:path h="731520" w="4005072">
                  <a:moveTo>
                    <a:pt x="0" y="0"/>
                  </a:moveTo>
                  <a:lnTo>
                    <a:pt x="4005072" y="0"/>
                  </a:lnTo>
                  <a:lnTo>
                    <a:pt x="4005072" y="731520"/>
                  </a:lnTo>
                  <a:lnTo>
                    <a:pt x="0" y="731520"/>
                  </a:lnTo>
                  <a:close/>
                </a:path>
              </a:pathLst>
            </a:custGeom>
            <a:blipFill>
              <a:blip r:embed="rId3">
                <a:alphaModFix amt="0"/>
              </a:blip>
              <a:stretch>
                <a:fillRect l="0" t="-56680" r="0" b="-56680"/>
              </a:stretch>
            </a:blipFill>
          </p:spPr>
        </p:sp>
        <p:sp>
          <p:nvSpPr>
            <p:cNvPr name="TextBox 17" id="17"/>
            <p:cNvSpPr txBox="true"/>
            <p:nvPr/>
          </p:nvSpPr>
          <p:spPr>
            <a:xfrm>
              <a:off x="0" y="-19050"/>
              <a:ext cx="4005072" cy="750570"/>
            </a:xfrm>
            <a:prstGeom prst="rect">
              <a:avLst/>
            </a:prstGeom>
          </p:spPr>
          <p:txBody>
            <a:bodyPr anchor="ctr" rtlCol="false" tIns="0" lIns="0" bIns="0" rIns="0"/>
            <a:lstStyle/>
            <a:p>
              <a:pPr algn="l">
                <a:lnSpc>
                  <a:spcPts val="3600"/>
                </a:lnSpc>
              </a:pPr>
              <a:r>
                <a:rPr lang="en-US" sz="3000" b="true">
                  <a:solidFill>
                    <a:srgbClr val="0B2A4A"/>
                  </a:solidFill>
                  <a:latin typeface="Cambria Bold"/>
                  <a:ea typeface="Cambria Bold"/>
                  <a:cs typeface="Cambria Bold"/>
                  <a:sym typeface="Cambria Bold"/>
                </a:rPr>
                <a:t>Goal</a:t>
              </a:r>
            </a:p>
          </p:txBody>
        </p:sp>
      </p:grpSp>
      <p:grpSp>
        <p:nvGrpSpPr>
          <p:cNvPr name="Group 18" id="18"/>
          <p:cNvGrpSpPr/>
          <p:nvPr/>
        </p:nvGrpSpPr>
        <p:grpSpPr>
          <a:xfrm rot="0">
            <a:off x="1207008" y="4910328"/>
            <a:ext cx="3003804" cy="3840480"/>
            <a:chOff x="0" y="0"/>
            <a:chExt cx="4005072" cy="5120640"/>
          </a:xfrm>
        </p:grpSpPr>
        <p:sp>
          <p:nvSpPr>
            <p:cNvPr name="Freeform 19" id="19"/>
            <p:cNvSpPr/>
            <p:nvPr/>
          </p:nvSpPr>
          <p:spPr>
            <a:xfrm flipH="false" flipV="false" rot="0">
              <a:off x="0" y="0"/>
              <a:ext cx="4005072" cy="5120640"/>
            </a:xfrm>
            <a:custGeom>
              <a:avLst/>
              <a:gdLst/>
              <a:ahLst/>
              <a:cxnLst/>
              <a:rect r="r" b="b" t="t" l="l"/>
              <a:pathLst>
                <a:path h="5120640" w="4005072">
                  <a:moveTo>
                    <a:pt x="0" y="0"/>
                  </a:moveTo>
                  <a:lnTo>
                    <a:pt x="4005072" y="0"/>
                  </a:lnTo>
                  <a:lnTo>
                    <a:pt x="4005072" y="5120640"/>
                  </a:lnTo>
                  <a:lnTo>
                    <a:pt x="0" y="5120640"/>
                  </a:lnTo>
                  <a:close/>
                </a:path>
              </a:pathLst>
            </a:custGeom>
            <a:blipFill>
              <a:blip r:embed="rId3">
                <a:alphaModFix amt="0"/>
              </a:blip>
              <a:stretch>
                <a:fillRect l="-114041" t="0" r="-114041" b="0"/>
              </a:stretch>
            </a:blipFill>
          </p:spPr>
        </p:sp>
        <p:sp>
          <p:nvSpPr>
            <p:cNvPr name="TextBox 20" id="20"/>
            <p:cNvSpPr txBox="true"/>
            <p:nvPr/>
          </p:nvSpPr>
          <p:spPr>
            <a:xfrm>
              <a:off x="0" y="-95250"/>
              <a:ext cx="4005072" cy="5215890"/>
            </a:xfrm>
            <a:prstGeom prst="rect">
              <a:avLst/>
            </a:prstGeom>
          </p:spPr>
          <p:txBody>
            <a:bodyPr anchor="ctr" rtlCol="false" tIns="0" lIns="0" bIns="0" rIns="0"/>
            <a:lstStyle/>
            <a:p>
              <a:pPr algn="l">
                <a:lnSpc>
                  <a:spcPts val="3456"/>
                </a:lnSpc>
              </a:pPr>
              <a:r>
                <a:rPr lang="en-US" sz="2400">
                  <a:solidFill>
                    <a:srgbClr val="5B6472"/>
                  </a:solidFill>
                  <a:latin typeface="Calibri (MS)"/>
                  <a:ea typeface="Calibri (MS)"/>
                  <a:cs typeface="Calibri (MS)"/>
                  <a:sym typeface="Calibri (MS)"/>
                </a:rPr>
                <a:t>Find the (x1, x2) point that drives the 2D Ackley function as close as possible to its known global minimum f(0,0) = 0.</a:t>
              </a:r>
            </a:p>
          </p:txBody>
        </p:sp>
      </p:grpSp>
      <p:grpSp>
        <p:nvGrpSpPr>
          <p:cNvPr name="Group 21" id="21"/>
          <p:cNvGrpSpPr/>
          <p:nvPr/>
        </p:nvGrpSpPr>
        <p:grpSpPr>
          <a:xfrm rot="0">
            <a:off x="4969383" y="2870835"/>
            <a:ext cx="3790950" cy="6259830"/>
            <a:chOff x="0" y="0"/>
            <a:chExt cx="5054600" cy="8346440"/>
          </a:xfrm>
        </p:grpSpPr>
        <p:sp>
          <p:nvSpPr>
            <p:cNvPr name="Freeform 22" id="22"/>
            <p:cNvSpPr/>
            <p:nvPr/>
          </p:nvSpPr>
          <p:spPr>
            <a:xfrm flipH="false" flipV="false" rot="0">
              <a:off x="0" y="0"/>
              <a:ext cx="5054600" cy="8346440"/>
            </a:xfrm>
            <a:custGeom>
              <a:avLst/>
              <a:gdLst/>
              <a:ahLst/>
              <a:cxnLst/>
              <a:rect r="r" b="b" t="t" l="l"/>
              <a:pathLst>
                <a:path h="8346440" w="5054600">
                  <a:moveTo>
                    <a:pt x="0" y="147066"/>
                  </a:moveTo>
                  <a:cubicBezTo>
                    <a:pt x="0" y="65786"/>
                    <a:pt x="65786" y="0"/>
                    <a:pt x="147066" y="0"/>
                  </a:cubicBezTo>
                  <a:lnTo>
                    <a:pt x="4907534" y="0"/>
                  </a:lnTo>
                  <a:cubicBezTo>
                    <a:pt x="4988814" y="0"/>
                    <a:pt x="5054600" y="65786"/>
                    <a:pt x="5054600" y="147066"/>
                  </a:cubicBezTo>
                  <a:lnTo>
                    <a:pt x="5054600" y="8199374"/>
                  </a:lnTo>
                  <a:cubicBezTo>
                    <a:pt x="5054600" y="8280527"/>
                    <a:pt x="4988814" y="8346440"/>
                    <a:pt x="4907534" y="8346440"/>
                  </a:cubicBezTo>
                  <a:lnTo>
                    <a:pt x="147066" y="8346440"/>
                  </a:lnTo>
                  <a:cubicBezTo>
                    <a:pt x="65786" y="8346440"/>
                    <a:pt x="0" y="8280654"/>
                    <a:pt x="0" y="8199374"/>
                  </a:cubicBezTo>
                  <a:close/>
                </a:path>
              </a:pathLst>
            </a:custGeom>
            <a:solidFill>
              <a:srgbClr val="FFFFFF"/>
            </a:solidFill>
            <a:ln w="19050" cap="sq">
              <a:solidFill>
                <a:srgbClr val="E3E9EE"/>
              </a:solidFill>
              <a:prstDash val="solid"/>
              <a:miter/>
            </a:ln>
          </p:spPr>
        </p:sp>
      </p:grpSp>
      <p:grpSp>
        <p:nvGrpSpPr>
          <p:cNvPr name="Group 23" id="23"/>
          <p:cNvGrpSpPr/>
          <p:nvPr/>
        </p:nvGrpSpPr>
        <p:grpSpPr>
          <a:xfrm rot="0">
            <a:off x="5362956" y="3291840"/>
            <a:ext cx="822960" cy="822960"/>
            <a:chOff x="0" y="0"/>
            <a:chExt cx="1097280" cy="1097280"/>
          </a:xfrm>
        </p:grpSpPr>
        <p:sp>
          <p:nvSpPr>
            <p:cNvPr name="Freeform 24" id="2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FF6B4A"/>
            </a:solidFill>
          </p:spPr>
        </p:sp>
      </p:grpSp>
      <p:grpSp>
        <p:nvGrpSpPr>
          <p:cNvPr name="Group 25" id="25"/>
          <p:cNvGrpSpPr/>
          <p:nvPr/>
        </p:nvGrpSpPr>
        <p:grpSpPr>
          <a:xfrm rot="0">
            <a:off x="5362956" y="3291840"/>
            <a:ext cx="822960" cy="822960"/>
            <a:chOff x="0" y="0"/>
            <a:chExt cx="1097280" cy="1097280"/>
          </a:xfrm>
        </p:grpSpPr>
        <p:sp>
          <p:nvSpPr>
            <p:cNvPr name="Freeform 26" id="2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27" id="27"/>
            <p:cNvSpPr txBox="true"/>
            <p:nvPr/>
          </p:nvSpPr>
          <p:spPr>
            <a:xfrm>
              <a:off x="0" y="-38100"/>
              <a:ext cx="1097280" cy="113538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02</a:t>
              </a:r>
            </a:p>
          </p:txBody>
        </p:sp>
      </p:grpSp>
      <p:grpSp>
        <p:nvGrpSpPr>
          <p:cNvPr name="Group 28" id="28"/>
          <p:cNvGrpSpPr/>
          <p:nvPr/>
        </p:nvGrpSpPr>
        <p:grpSpPr>
          <a:xfrm rot="0">
            <a:off x="5362956" y="4320540"/>
            <a:ext cx="3003804" cy="548640"/>
            <a:chOff x="0" y="0"/>
            <a:chExt cx="4005072" cy="731520"/>
          </a:xfrm>
        </p:grpSpPr>
        <p:sp>
          <p:nvSpPr>
            <p:cNvPr name="Freeform 29" id="29"/>
            <p:cNvSpPr/>
            <p:nvPr/>
          </p:nvSpPr>
          <p:spPr>
            <a:xfrm flipH="false" flipV="false" rot="0">
              <a:off x="0" y="0"/>
              <a:ext cx="4005072" cy="731520"/>
            </a:xfrm>
            <a:custGeom>
              <a:avLst/>
              <a:gdLst/>
              <a:ahLst/>
              <a:cxnLst/>
              <a:rect r="r" b="b" t="t" l="l"/>
              <a:pathLst>
                <a:path h="731520" w="4005072">
                  <a:moveTo>
                    <a:pt x="0" y="0"/>
                  </a:moveTo>
                  <a:lnTo>
                    <a:pt x="4005072" y="0"/>
                  </a:lnTo>
                  <a:lnTo>
                    <a:pt x="4005072" y="731520"/>
                  </a:lnTo>
                  <a:lnTo>
                    <a:pt x="0" y="731520"/>
                  </a:lnTo>
                  <a:close/>
                </a:path>
              </a:pathLst>
            </a:custGeom>
            <a:blipFill>
              <a:blip r:embed="rId3">
                <a:alphaModFix amt="0"/>
              </a:blip>
              <a:stretch>
                <a:fillRect l="0" t="-56680" r="0" b="-56680"/>
              </a:stretch>
            </a:blipFill>
          </p:spPr>
        </p:sp>
        <p:sp>
          <p:nvSpPr>
            <p:cNvPr name="TextBox 30" id="30"/>
            <p:cNvSpPr txBox="true"/>
            <p:nvPr/>
          </p:nvSpPr>
          <p:spPr>
            <a:xfrm>
              <a:off x="0" y="-19050"/>
              <a:ext cx="4005072" cy="750570"/>
            </a:xfrm>
            <a:prstGeom prst="rect">
              <a:avLst/>
            </a:prstGeom>
          </p:spPr>
          <p:txBody>
            <a:bodyPr anchor="ctr" rtlCol="false" tIns="0" lIns="0" bIns="0" rIns="0"/>
            <a:lstStyle/>
            <a:p>
              <a:pPr algn="l">
                <a:lnSpc>
                  <a:spcPts val="3600"/>
                </a:lnSpc>
              </a:pPr>
              <a:r>
                <a:rPr lang="en-US" sz="3000" b="true">
                  <a:solidFill>
                    <a:srgbClr val="0B2A4A"/>
                  </a:solidFill>
                  <a:latin typeface="Cambria Bold"/>
                  <a:ea typeface="Cambria Bold"/>
                  <a:cs typeface="Cambria Bold"/>
                  <a:sym typeface="Cambria Bold"/>
                </a:rPr>
                <a:t>Approach</a:t>
              </a:r>
            </a:p>
          </p:txBody>
        </p:sp>
      </p:grpSp>
      <p:grpSp>
        <p:nvGrpSpPr>
          <p:cNvPr name="Group 31" id="31"/>
          <p:cNvGrpSpPr/>
          <p:nvPr/>
        </p:nvGrpSpPr>
        <p:grpSpPr>
          <a:xfrm rot="0">
            <a:off x="5362956" y="4910328"/>
            <a:ext cx="3003804" cy="3840480"/>
            <a:chOff x="0" y="0"/>
            <a:chExt cx="4005072" cy="5120640"/>
          </a:xfrm>
        </p:grpSpPr>
        <p:sp>
          <p:nvSpPr>
            <p:cNvPr name="Freeform 32" id="32"/>
            <p:cNvSpPr/>
            <p:nvPr/>
          </p:nvSpPr>
          <p:spPr>
            <a:xfrm flipH="false" flipV="false" rot="0">
              <a:off x="0" y="0"/>
              <a:ext cx="4005072" cy="5120640"/>
            </a:xfrm>
            <a:custGeom>
              <a:avLst/>
              <a:gdLst/>
              <a:ahLst/>
              <a:cxnLst/>
              <a:rect r="r" b="b" t="t" l="l"/>
              <a:pathLst>
                <a:path h="5120640" w="4005072">
                  <a:moveTo>
                    <a:pt x="0" y="0"/>
                  </a:moveTo>
                  <a:lnTo>
                    <a:pt x="4005072" y="0"/>
                  </a:lnTo>
                  <a:lnTo>
                    <a:pt x="4005072" y="5120640"/>
                  </a:lnTo>
                  <a:lnTo>
                    <a:pt x="0" y="5120640"/>
                  </a:lnTo>
                  <a:close/>
                </a:path>
              </a:pathLst>
            </a:custGeom>
            <a:blipFill>
              <a:blip r:embed="rId3">
                <a:alphaModFix amt="0"/>
              </a:blip>
              <a:stretch>
                <a:fillRect l="-114041" t="0" r="-114041" b="0"/>
              </a:stretch>
            </a:blipFill>
          </p:spPr>
        </p:sp>
        <p:sp>
          <p:nvSpPr>
            <p:cNvPr name="TextBox 33" id="33"/>
            <p:cNvSpPr txBox="true"/>
            <p:nvPr/>
          </p:nvSpPr>
          <p:spPr>
            <a:xfrm>
              <a:off x="0" y="-95250"/>
              <a:ext cx="4005072" cy="5215890"/>
            </a:xfrm>
            <a:prstGeom prst="rect">
              <a:avLst/>
            </a:prstGeom>
          </p:spPr>
          <p:txBody>
            <a:bodyPr anchor="ctr" rtlCol="false" tIns="0" lIns="0" bIns="0" rIns="0"/>
            <a:lstStyle/>
            <a:p>
              <a:pPr algn="l">
                <a:lnSpc>
                  <a:spcPts val="3456"/>
                </a:lnSpc>
              </a:pPr>
              <a:r>
                <a:rPr lang="en-US" sz="2400">
                  <a:solidFill>
                    <a:srgbClr val="5B6472"/>
                  </a:solidFill>
                  <a:latin typeface="Calibri (MS)"/>
                  <a:ea typeface="Calibri (MS)"/>
                  <a:cs typeface="Calibri (MS)"/>
                  <a:sym typeface="Calibri (MS)"/>
                </a:rPr>
                <a:t>Evolve a population of 50 candidate points over up to 100 generations using selection, crossover, mutation and elitism — no gradients required.</a:t>
              </a:r>
            </a:p>
          </p:txBody>
        </p:sp>
      </p:grpSp>
      <p:grpSp>
        <p:nvGrpSpPr>
          <p:cNvPr name="Group 34" id="34"/>
          <p:cNvGrpSpPr/>
          <p:nvPr/>
        </p:nvGrpSpPr>
        <p:grpSpPr>
          <a:xfrm rot="0">
            <a:off x="9125331" y="2870835"/>
            <a:ext cx="3790950" cy="6259830"/>
            <a:chOff x="0" y="0"/>
            <a:chExt cx="5054600" cy="8346440"/>
          </a:xfrm>
        </p:grpSpPr>
        <p:sp>
          <p:nvSpPr>
            <p:cNvPr name="Freeform 35" id="35"/>
            <p:cNvSpPr/>
            <p:nvPr/>
          </p:nvSpPr>
          <p:spPr>
            <a:xfrm flipH="false" flipV="false" rot="0">
              <a:off x="0" y="0"/>
              <a:ext cx="5054600" cy="8346440"/>
            </a:xfrm>
            <a:custGeom>
              <a:avLst/>
              <a:gdLst/>
              <a:ahLst/>
              <a:cxnLst/>
              <a:rect r="r" b="b" t="t" l="l"/>
              <a:pathLst>
                <a:path h="8346440" w="5054600">
                  <a:moveTo>
                    <a:pt x="0" y="147066"/>
                  </a:moveTo>
                  <a:cubicBezTo>
                    <a:pt x="0" y="65786"/>
                    <a:pt x="65786" y="0"/>
                    <a:pt x="147066" y="0"/>
                  </a:cubicBezTo>
                  <a:lnTo>
                    <a:pt x="4907534" y="0"/>
                  </a:lnTo>
                  <a:cubicBezTo>
                    <a:pt x="4988814" y="0"/>
                    <a:pt x="5054600" y="65786"/>
                    <a:pt x="5054600" y="147066"/>
                  </a:cubicBezTo>
                  <a:lnTo>
                    <a:pt x="5054600" y="8199374"/>
                  </a:lnTo>
                  <a:cubicBezTo>
                    <a:pt x="5054600" y="8280527"/>
                    <a:pt x="4988814" y="8346440"/>
                    <a:pt x="4907534" y="8346440"/>
                  </a:cubicBezTo>
                  <a:lnTo>
                    <a:pt x="147066" y="8346440"/>
                  </a:lnTo>
                  <a:cubicBezTo>
                    <a:pt x="65786" y="8346440"/>
                    <a:pt x="0" y="8280654"/>
                    <a:pt x="0" y="8199374"/>
                  </a:cubicBezTo>
                  <a:close/>
                </a:path>
              </a:pathLst>
            </a:custGeom>
            <a:solidFill>
              <a:srgbClr val="FFFFFF"/>
            </a:solidFill>
            <a:ln w="19050" cap="sq">
              <a:solidFill>
                <a:srgbClr val="E3E9EE"/>
              </a:solidFill>
              <a:prstDash val="solid"/>
              <a:miter/>
            </a:ln>
          </p:spPr>
        </p:sp>
      </p:grpSp>
      <p:grpSp>
        <p:nvGrpSpPr>
          <p:cNvPr name="Group 36" id="36"/>
          <p:cNvGrpSpPr/>
          <p:nvPr/>
        </p:nvGrpSpPr>
        <p:grpSpPr>
          <a:xfrm rot="0">
            <a:off x="9518904" y="3291840"/>
            <a:ext cx="822960" cy="822960"/>
            <a:chOff x="0" y="0"/>
            <a:chExt cx="1097280" cy="1097280"/>
          </a:xfrm>
        </p:grpSpPr>
        <p:sp>
          <p:nvSpPr>
            <p:cNvPr name="Freeform 37" id="37"/>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1C7293"/>
            </a:solidFill>
          </p:spPr>
        </p:sp>
      </p:grpSp>
      <p:grpSp>
        <p:nvGrpSpPr>
          <p:cNvPr name="Group 38" id="38"/>
          <p:cNvGrpSpPr/>
          <p:nvPr/>
        </p:nvGrpSpPr>
        <p:grpSpPr>
          <a:xfrm rot="0">
            <a:off x="9518904" y="3291840"/>
            <a:ext cx="822960" cy="822960"/>
            <a:chOff x="0" y="0"/>
            <a:chExt cx="1097280" cy="1097280"/>
          </a:xfrm>
        </p:grpSpPr>
        <p:sp>
          <p:nvSpPr>
            <p:cNvPr name="Freeform 39" id="3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40" id="40"/>
            <p:cNvSpPr txBox="true"/>
            <p:nvPr/>
          </p:nvSpPr>
          <p:spPr>
            <a:xfrm>
              <a:off x="0" y="-38100"/>
              <a:ext cx="1097280" cy="113538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03</a:t>
              </a:r>
            </a:p>
          </p:txBody>
        </p:sp>
      </p:grpSp>
      <p:grpSp>
        <p:nvGrpSpPr>
          <p:cNvPr name="Group 41" id="41"/>
          <p:cNvGrpSpPr/>
          <p:nvPr/>
        </p:nvGrpSpPr>
        <p:grpSpPr>
          <a:xfrm rot="0">
            <a:off x="9518904" y="4320540"/>
            <a:ext cx="3003804" cy="548640"/>
            <a:chOff x="0" y="0"/>
            <a:chExt cx="4005072" cy="731520"/>
          </a:xfrm>
        </p:grpSpPr>
        <p:sp>
          <p:nvSpPr>
            <p:cNvPr name="Freeform 42" id="42"/>
            <p:cNvSpPr/>
            <p:nvPr/>
          </p:nvSpPr>
          <p:spPr>
            <a:xfrm flipH="false" flipV="false" rot="0">
              <a:off x="0" y="0"/>
              <a:ext cx="4005072" cy="731520"/>
            </a:xfrm>
            <a:custGeom>
              <a:avLst/>
              <a:gdLst/>
              <a:ahLst/>
              <a:cxnLst/>
              <a:rect r="r" b="b" t="t" l="l"/>
              <a:pathLst>
                <a:path h="731520" w="4005072">
                  <a:moveTo>
                    <a:pt x="0" y="0"/>
                  </a:moveTo>
                  <a:lnTo>
                    <a:pt x="4005072" y="0"/>
                  </a:lnTo>
                  <a:lnTo>
                    <a:pt x="4005072" y="731520"/>
                  </a:lnTo>
                  <a:lnTo>
                    <a:pt x="0" y="731520"/>
                  </a:lnTo>
                  <a:close/>
                </a:path>
              </a:pathLst>
            </a:custGeom>
            <a:blipFill>
              <a:blip r:embed="rId3">
                <a:alphaModFix amt="0"/>
              </a:blip>
              <a:stretch>
                <a:fillRect l="0" t="-56680" r="0" b="-56680"/>
              </a:stretch>
            </a:blipFill>
          </p:spPr>
        </p:sp>
        <p:sp>
          <p:nvSpPr>
            <p:cNvPr name="TextBox 43" id="43"/>
            <p:cNvSpPr txBox="true"/>
            <p:nvPr/>
          </p:nvSpPr>
          <p:spPr>
            <a:xfrm>
              <a:off x="0" y="-19050"/>
              <a:ext cx="4005072" cy="750570"/>
            </a:xfrm>
            <a:prstGeom prst="rect">
              <a:avLst/>
            </a:prstGeom>
          </p:spPr>
          <p:txBody>
            <a:bodyPr anchor="ctr" rtlCol="false" tIns="0" lIns="0" bIns="0" rIns="0"/>
            <a:lstStyle/>
            <a:p>
              <a:pPr algn="l">
                <a:lnSpc>
                  <a:spcPts val="3600"/>
                </a:lnSpc>
              </a:pPr>
              <a:r>
                <a:rPr lang="en-US" sz="3000" b="true">
                  <a:solidFill>
                    <a:srgbClr val="0B2A4A"/>
                  </a:solidFill>
                  <a:latin typeface="Cambria Bold"/>
                  <a:ea typeface="Cambria Bold"/>
                  <a:cs typeface="Cambria Bold"/>
                  <a:sym typeface="Cambria Bold"/>
                </a:rPr>
                <a:t>Benchmark</a:t>
              </a:r>
            </a:p>
          </p:txBody>
        </p:sp>
      </p:grpSp>
      <p:grpSp>
        <p:nvGrpSpPr>
          <p:cNvPr name="Group 44" id="44"/>
          <p:cNvGrpSpPr/>
          <p:nvPr/>
        </p:nvGrpSpPr>
        <p:grpSpPr>
          <a:xfrm rot="0">
            <a:off x="9518904" y="4910328"/>
            <a:ext cx="3003804" cy="3840480"/>
            <a:chOff x="0" y="0"/>
            <a:chExt cx="4005072" cy="5120640"/>
          </a:xfrm>
        </p:grpSpPr>
        <p:sp>
          <p:nvSpPr>
            <p:cNvPr name="Freeform 45" id="45"/>
            <p:cNvSpPr/>
            <p:nvPr/>
          </p:nvSpPr>
          <p:spPr>
            <a:xfrm flipH="false" flipV="false" rot="0">
              <a:off x="0" y="0"/>
              <a:ext cx="4005072" cy="5120640"/>
            </a:xfrm>
            <a:custGeom>
              <a:avLst/>
              <a:gdLst/>
              <a:ahLst/>
              <a:cxnLst/>
              <a:rect r="r" b="b" t="t" l="l"/>
              <a:pathLst>
                <a:path h="5120640" w="4005072">
                  <a:moveTo>
                    <a:pt x="0" y="0"/>
                  </a:moveTo>
                  <a:lnTo>
                    <a:pt x="4005072" y="0"/>
                  </a:lnTo>
                  <a:lnTo>
                    <a:pt x="4005072" y="5120640"/>
                  </a:lnTo>
                  <a:lnTo>
                    <a:pt x="0" y="5120640"/>
                  </a:lnTo>
                  <a:close/>
                </a:path>
              </a:pathLst>
            </a:custGeom>
            <a:blipFill>
              <a:blip r:embed="rId3">
                <a:alphaModFix amt="0"/>
              </a:blip>
              <a:stretch>
                <a:fillRect l="-114041" t="0" r="-114041" b="0"/>
              </a:stretch>
            </a:blipFill>
          </p:spPr>
        </p:sp>
        <p:sp>
          <p:nvSpPr>
            <p:cNvPr name="TextBox 46" id="46"/>
            <p:cNvSpPr txBox="true"/>
            <p:nvPr/>
          </p:nvSpPr>
          <p:spPr>
            <a:xfrm>
              <a:off x="0" y="-95250"/>
              <a:ext cx="4005072" cy="5215890"/>
            </a:xfrm>
            <a:prstGeom prst="rect">
              <a:avLst/>
            </a:prstGeom>
          </p:spPr>
          <p:txBody>
            <a:bodyPr anchor="ctr" rtlCol="false" tIns="0" lIns="0" bIns="0" rIns="0"/>
            <a:lstStyle/>
            <a:p>
              <a:pPr algn="l">
                <a:lnSpc>
                  <a:spcPts val="3456"/>
                </a:lnSpc>
              </a:pPr>
              <a:r>
                <a:rPr lang="en-US" sz="2400">
                  <a:solidFill>
                    <a:srgbClr val="5B6472"/>
                  </a:solidFill>
                  <a:latin typeface="Calibri (MS)"/>
                  <a:ea typeface="Calibri (MS)"/>
                  <a:cs typeface="Calibri (MS)"/>
                  <a:sym typeface="Calibri (MS)"/>
                </a:rPr>
                <a:t>Compare the GA's global search against SciPy's Nelder-Mead, a classical local, derivative-free optimizer, from a fixed starting point.</a:t>
              </a:r>
            </a:p>
          </p:txBody>
        </p:sp>
      </p:grpSp>
      <p:grpSp>
        <p:nvGrpSpPr>
          <p:cNvPr name="Group 47" id="47"/>
          <p:cNvGrpSpPr/>
          <p:nvPr/>
        </p:nvGrpSpPr>
        <p:grpSpPr>
          <a:xfrm rot="0">
            <a:off x="13281279" y="2870835"/>
            <a:ext cx="3790950" cy="6259830"/>
            <a:chOff x="0" y="0"/>
            <a:chExt cx="5054600" cy="8346440"/>
          </a:xfrm>
        </p:grpSpPr>
        <p:sp>
          <p:nvSpPr>
            <p:cNvPr name="Freeform 48" id="48"/>
            <p:cNvSpPr/>
            <p:nvPr/>
          </p:nvSpPr>
          <p:spPr>
            <a:xfrm flipH="false" flipV="false" rot="0">
              <a:off x="0" y="0"/>
              <a:ext cx="5054600" cy="8346440"/>
            </a:xfrm>
            <a:custGeom>
              <a:avLst/>
              <a:gdLst/>
              <a:ahLst/>
              <a:cxnLst/>
              <a:rect r="r" b="b" t="t" l="l"/>
              <a:pathLst>
                <a:path h="8346440" w="5054600">
                  <a:moveTo>
                    <a:pt x="0" y="147066"/>
                  </a:moveTo>
                  <a:cubicBezTo>
                    <a:pt x="0" y="65786"/>
                    <a:pt x="65786" y="0"/>
                    <a:pt x="147066" y="0"/>
                  </a:cubicBezTo>
                  <a:lnTo>
                    <a:pt x="4907534" y="0"/>
                  </a:lnTo>
                  <a:cubicBezTo>
                    <a:pt x="4988814" y="0"/>
                    <a:pt x="5054600" y="65786"/>
                    <a:pt x="5054600" y="147066"/>
                  </a:cubicBezTo>
                  <a:lnTo>
                    <a:pt x="5054600" y="8199374"/>
                  </a:lnTo>
                  <a:cubicBezTo>
                    <a:pt x="5054600" y="8280527"/>
                    <a:pt x="4988814" y="8346440"/>
                    <a:pt x="4907534" y="8346440"/>
                  </a:cubicBezTo>
                  <a:lnTo>
                    <a:pt x="147066" y="8346440"/>
                  </a:lnTo>
                  <a:cubicBezTo>
                    <a:pt x="65786" y="8346440"/>
                    <a:pt x="0" y="8280654"/>
                    <a:pt x="0" y="8199374"/>
                  </a:cubicBezTo>
                  <a:close/>
                </a:path>
              </a:pathLst>
            </a:custGeom>
            <a:solidFill>
              <a:srgbClr val="FFFFFF"/>
            </a:solidFill>
            <a:ln w="19050" cap="sq">
              <a:solidFill>
                <a:srgbClr val="E3E9EE"/>
              </a:solidFill>
              <a:prstDash val="solid"/>
              <a:miter/>
            </a:ln>
          </p:spPr>
        </p:sp>
      </p:grpSp>
      <p:grpSp>
        <p:nvGrpSpPr>
          <p:cNvPr name="Group 49" id="49"/>
          <p:cNvGrpSpPr/>
          <p:nvPr/>
        </p:nvGrpSpPr>
        <p:grpSpPr>
          <a:xfrm rot="0">
            <a:off x="13674852" y="3291840"/>
            <a:ext cx="822960" cy="822960"/>
            <a:chOff x="0" y="0"/>
            <a:chExt cx="1097280" cy="1097280"/>
          </a:xfrm>
        </p:grpSpPr>
        <p:sp>
          <p:nvSpPr>
            <p:cNvPr name="Freeform 50" id="50"/>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FF6B4A"/>
            </a:solidFill>
          </p:spPr>
        </p:sp>
      </p:grpSp>
      <p:grpSp>
        <p:nvGrpSpPr>
          <p:cNvPr name="Group 51" id="51"/>
          <p:cNvGrpSpPr/>
          <p:nvPr/>
        </p:nvGrpSpPr>
        <p:grpSpPr>
          <a:xfrm rot="0">
            <a:off x="13674852" y="3291840"/>
            <a:ext cx="822960" cy="822960"/>
            <a:chOff x="0" y="0"/>
            <a:chExt cx="1097280" cy="1097280"/>
          </a:xfrm>
        </p:grpSpPr>
        <p:sp>
          <p:nvSpPr>
            <p:cNvPr name="Freeform 52" id="52"/>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53" id="53"/>
            <p:cNvSpPr txBox="true"/>
            <p:nvPr/>
          </p:nvSpPr>
          <p:spPr>
            <a:xfrm>
              <a:off x="0" y="-38100"/>
              <a:ext cx="1097280" cy="113538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04</a:t>
              </a:r>
            </a:p>
          </p:txBody>
        </p:sp>
      </p:grpSp>
      <p:grpSp>
        <p:nvGrpSpPr>
          <p:cNvPr name="Group 54" id="54"/>
          <p:cNvGrpSpPr/>
          <p:nvPr/>
        </p:nvGrpSpPr>
        <p:grpSpPr>
          <a:xfrm rot="0">
            <a:off x="13674852" y="4320540"/>
            <a:ext cx="3003804" cy="548640"/>
            <a:chOff x="0" y="0"/>
            <a:chExt cx="4005072" cy="731520"/>
          </a:xfrm>
        </p:grpSpPr>
        <p:sp>
          <p:nvSpPr>
            <p:cNvPr name="Freeform 55" id="55"/>
            <p:cNvSpPr/>
            <p:nvPr/>
          </p:nvSpPr>
          <p:spPr>
            <a:xfrm flipH="false" flipV="false" rot="0">
              <a:off x="0" y="0"/>
              <a:ext cx="4005072" cy="731520"/>
            </a:xfrm>
            <a:custGeom>
              <a:avLst/>
              <a:gdLst/>
              <a:ahLst/>
              <a:cxnLst/>
              <a:rect r="r" b="b" t="t" l="l"/>
              <a:pathLst>
                <a:path h="731520" w="4005072">
                  <a:moveTo>
                    <a:pt x="0" y="0"/>
                  </a:moveTo>
                  <a:lnTo>
                    <a:pt x="4005072" y="0"/>
                  </a:lnTo>
                  <a:lnTo>
                    <a:pt x="4005072" y="731520"/>
                  </a:lnTo>
                  <a:lnTo>
                    <a:pt x="0" y="731520"/>
                  </a:lnTo>
                  <a:close/>
                </a:path>
              </a:pathLst>
            </a:custGeom>
            <a:blipFill>
              <a:blip r:embed="rId3">
                <a:alphaModFix amt="0"/>
              </a:blip>
              <a:stretch>
                <a:fillRect l="0" t="-56680" r="0" b="-56680"/>
              </a:stretch>
            </a:blipFill>
          </p:spPr>
        </p:sp>
        <p:sp>
          <p:nvSpPr>
            <p:cNvPr name="TextBox 56" id="56"/>
            <p:cNvSpPr txBox="true"/>
            <p:nvPr/>
          </p:nvSpPr>
          <p:spPr>
            <a:xfrm>
              <a:off x="0" y="-19050"/>
              <a:ext cx="4005072" cy="750570"/>
            </a:xfrm>
            <a:prstGeom prst="rect">
              <a:avLst/>
            </a:prstGeom>
          </p:spPr>
          <p:txBody>
            <a:bodyPr anchor="ctr" rtlCol="false" tIns="0" lIns="0" bIns="0" rIns="0"/>
            <a:lstStyle/>
            <a:p>
              <a:pPr algn="l">
                <a:lnSpc>
                  <a:spcPts val="3600"/>
                </a:lnSpc>
              </a:pPr>
              <a:r>
                <a:rPr lang="en-US" sz="3000" b="true">
                  <a:solidFill>
                    <a:srgbClr val="0B2A4A"/>
                  </a:solidFill>
                  <a:latin typeface="Cambria Bold"/>
                  <a:ea typeface="Cambria Bold"/>
                  <a:cs typeface="Cambria Bold"/>
                  <a:sym typeface="Cambria Bold"/>
                </a:rPr>
                <a:t>Deliverable</a:t>
              </a:r>
            </a:p>
          </p:txBody>
        </p:sp>
      </p:grpSp>
      <p:grpSp>
        <p:nvGrpSpPr>
          <p:cNvPr name="Group 57" id="57"/>
          <p:cNvGrpSpPr/>
          <p:nvPr/>
        </p:nvGrpSpPr>
        <p:grpSpPr>
          <a:xfrm rot="0">
            <a:off x="13674852" y="4910328"/>
            <a:ext cx="3003804" cy="3840480"/>
            <a:chOff x="0" y="0"/>
            <a:chExt cx="4005072" cy="5120640"/>
          </a:xfrm>
        </p:grpSpPr>
        <p:sp>
          <p:nvSpPr>
            <p:cNvPr name="Freeform 58" id="58"/>
            <p:cNvSpPr/>
            <p:nvPr/>
          </p:nvSpPr>
          <p:spPr>
            <a:xfrm flipH="false" flipV="false" rot="0">
              <a:off x="0" y="0"/>
              <a:ext cx="4005072" cy="5120640"/>
            </a:xfrm>
            <a:custGeom>
              <a:avLst/>
              <a:gdLst/>
              <a:ahLst/>
              <a:cxnLst/>
              <a:rect r="r" b="b" t="t" l="l"/>
              <a:pathLst>
                <a:path h="5120640" w="4005072">
                  <a:moveTo>
                    <a:pt x="0" y="0"/>
                  </a:moveTo>
                  <a:lnTo>
                    <a:pt x="4005072" y="0"/>
                  </a:lnTo>
                  <a:lnTo>
                    <a:pt x="4005072" y="5120640"/>
                  </a:lnTo>
                  <a:lnTo>
                    <a:pt x="0" y="5120640"/>
                  </a:lnTo>
                  <a:close/>
                </a:path>
              </a:pathLst>
            </a:custGeom>
            <a:blipFill>
              <a:blip r:embed="rId3">
                <a:alphaModFix amt="0"/>
              </a:blip>
              <a:stretch>
                <a:fillRect l="-114041" t="0" r="-114041" b="0"/>
              </a:stretch>
            </a:blipFill>
          </p:spPr>
        </p:sp>
        <p:sp>
          <p:nvSpPr>
            <p:cNvPr name="TextBox 59" id="59"/>
            <p:cNvSpPr txBox="true"/>
            <p:nvPr/>
          </p:nvSpPr>
          <p:spPr>
            <a:xfrm>
              <a:off x="0" y="-95250"/>
              <a:ext cx="4005072" cy="5215890"/>
            </a:xfrm>
            <a:prstGeom prst="rect">
              <a:avLst/>
            </a:prstGeom>
          </p:spPr>
          <p:txBody>
            <a:bodyPr anchor="ctr" rtlCol="false" tIns="0" lIns="0" bIns="0" rIns="0"/>
            <a:lstStyle/>
            <a:p>
              <a:pPr algn="l">
                <a:lnSpc>
                  <a:spcPts val="3456"/>
                </a:lnSpc>
              </a:pPr>
              <a:r>
                <a:rPr lang="en-US" sz="2400">
                  <a:solidFill>
                    <a:srgbClr val="5B6472"/>
                  </a:solidFill>
                  <a:latin typeface="Calibri (MS)"/>
                  <a:ea typeface="Calibri (MS)"/>
                  <a:cs typeface="Calibri (MS)"/>
                  <a:sym typeface="Calibri (MS)"/>
                </a:rPr>
                <a:t>A tested Python codebase (NumPy/Matplotlib/SciPy/pytest) that prints progress, saves plots, and writes a JSON results summary.</a:t>
              </a:r>
            </a:p>
          </p:txBody>
        </p:sp>
      </p:grpSp>
      <p:grpSp>
        <p:nvGrpSpPr>
          <p:cNvPr name="Group 60" id="60"/>
          <p:cNvGrpSpPr/>
          <p:nvPr/>
        </p:nvGrpSpPr>
        <p:grpSpPr>
          <a:xfrm rot="0">
            <a:off x="16774668" y="9669780"/>
            <a:ext cx="1097280" cy="411480"/>
            <a:chOff x="0" y="0"/>
            <a:chExt cx="1463040" cy="548640"/>
          </a:xfrm>
        </p:grpSpPr>
        <p:sp>
          <p:nvSpPr>
            <p:cNvPr name="Freeform 61" id="61"/>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62" id="62"/>
            <p:cNvSpPr txBox="true"/>
            <p:nvPr/>
          </p:nvSpPr>
          <p:spPr>
            <a:xfrm>
              <a:off x="0" y="-28575"/>
              <a:ext cx="1463040" cy="577215"/>
            </a:xfrm>
            <a:prstGeom prst="rect">
              <a:avLst/>
            </a:prstGeom>
          </p:spPr>
          <p:txBody>
            <a:bodyPr anchor="ctr" rtlCol="false" tIns="0" lIns="0" bIns="0" rIns="0"/>
            <a:lstStyle/>
            <a:p>
              <a:pPr algn="r">
                <a:lnSpc>
                  <a:spcPts val="1980"/>
                </a:lnSpc>
              </a:pPr>
              <a:r>
                <a:rPr lang="en-US" sz="1650">
                  <a:solidFill>
                    <a:srgbClr val="5B6472"/>
                  </a:solidFill>
                  <a:latin typeface="Calibri (MS)"/>
                  <a:ea typeface="Calibri (MS)"/>
                  <a:cs typeface="Calibri (MS)"/>
                  <a:sym typeface="Calibri (MS)"/>
                </a:rPr>
                <a:t>2 / 13</a:t>
              </a:r>
            </a:p>
          </p:txBody>
        </p:sp>
      </p:grpSp>
      <p:grpSp>
        <p:nvGrpSpPr>
          <p:cNvPr name="Group 63" id="63"/>
          <p:cNvGrpSpPr/>
          <p:nvPr/>
        </p:nvGrpSpPr>
        <p:grpSpPr>
          <a:xfrm rot="0">
            <a:off x="685800" y="9669780"/>
            <a:ext cx="5486400" cy="411480"/>
            <a:chOff x="0" y="0"/>
            <a:chExt cx="7315200" cy="548640"/>
          </a:xfrm>
        </p:grpSpPr>
        <p:sp>
          <p:nvSpPr>
            <p:cNvPr name="Freeform 64" id="64"/>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65" id="65"/>
            <p:cNvSpPr txBox="true"/>
            <p:nvPr/>
          </p:nvSpPr>
          <p:spPr>
            <a:xfrm>
              <a:off x="0" y="-28575"/>
              <a:ext cx="7315200" cy="577215"/>
            </a:xfrm>
            <a:prstGeom prst="rect">
              <a:avLst/>
            </a:prstGeom>
          </p:spPr>
          <p:txBody>
            <a:bodyPr anchor="ctr" rtlCol="false" tIns="0" lIns="0" bIns="0" rIns="0"/>
            <a:lstStyle/>
            <a:p>
              <a:pPr algn="l">
                <a:lnSpc>
                  <a:spcPts val="1980"/>
                </a:lnSpc>
              </a:pPr>
              <a:r>
                <a:rPr lang="en-US" sz="1650">
                  <a:solidFill>
                    <a:srgbClr val="5B6472"/>
                  </a:solidFill>
                  <a:latin typeface="Calibri (MS)"/>
                  <a:ea typeface="Calibri (MS)"/>
                  <a:cs typeface="Calibri (MS)"/>
                  <a:sym typeface="Calibri (MS)"/>
                </a:rPr>
                <a:t>GA · 2D Ackley Function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47625"/>
              <a:ext cx="14630400" cy="687705"/>
            </a:xfrm>
            <a:prstGeom prst="rect">
              <a:avLst/>
            </a:prstGeom>
          </p:spPr>
          <p:txBody>
            <a:bodyPr anchor="ctr" rtlCol="false" tIns="0" lIns="0" bIns="0" rIns="0"/>
            <a:lstStyle/>
            <a:p>
              <a:pPr algn="l">
                <a:lnSpc>
                  <a:spcPts val="2340"/>
                </a:lnSpc>
              </a:pPr>
              <a:r>
                <a:rPr lang="en-US" b="true" sz="1950" spc="299">
                  <a:solidFill>
                    <a:srgbClr val="1C7293"/>
                  </a:solidFill>
                  <a:latin typeface="Calibri (MS) Bold"/>
                  <a:ea typeface="Calibri (MS) Bold"/>
                  <a:cs typeface="Calibri (MS) Bold"/>
                  <a:sym typeface="Calibri (MS) Bold"/>
                </a:rPr>
                <a:t>THE PROBLEM WE'RE SOLVING</a:t>
              </a:r>
            </a:p>
          </p:txBody>
        </p:sp>
      </p:grpSp>
      <p:grpSp>
        <p:nvGrpSpPr>
          <p:cNvPr name="Group 5" id="5"/>
          <p:cNvGrpSpPr/>
          <p:nvPr/>
        </p:nvGrpSpPr>
        <p:grpSpPr>
          <a:xfrm rot="0">
            <a:off x="822960" y="987552"/>
            <a:ext cx="15910560" cy="960120"/>
            <a:chOff x="0" y="0"/>
            <a:chExt cx="21214080" cy="1280160"/>
          </a:xfrm>
        </p:grpSpPr>
        <p:sp>
          <p:nvSpPr>
            <p:cNvPr name="Freeform 6" id="6"/>
            <p:cNvSpPr/>
            <p:nvPr/>
          </p:nvSpPr>
          <p:spPr>
            <a:xfrm flipH="false" flipV="false" rot="0">
              <a:off x="0" y="0"/>
              <a:ext cx="21214080" cy="1280160"/>
            </a:xfrm>
            <a:custGeom>
              <a:avLst/>
              <a:gdLst/>
              <a:ahLst/>
              <a:cxnLst/>
              <a:rect r="r" b="b" t="t" l="l"/>
              <a:pathLst>
                <a:path h="1280160" w="21214080">
                  <a:moveTo>
                    <a:pt x="0" y="0"/>
                  </a:moveTo>
                  <a:lnTo>
                    <a:pt x="21214080" y="0"/>
                  </a:lnTo>
                  <a:lnTo>
                    <a:pt x="21214080" y="1280160"/>
                  </a:lnTo>
                  <a:lnTo>
                    <a:pt x="0" y="1280160"/>
                  </a:lnTo>
                  <a:close/>
                </a:path>
              </a:pathLst>
            </a:custGeom>
            <a:blipFill>
              <a:blip r:embed="rId3">
                <a:alphaModFix amt="0"/>
              </a:blip>
              <a:stretch>
                <a:fillRect l="0" t="-272894" r="0" b="-272894"/>
              </a:stretch>
            </a:blipFill>
          </p:spPr>
        </p:sp>
        <p:sp>
          <p:nvSpPr>
            <p:cNvPr name="TextBox 7" id="7"/>
            <p:cNvSpPr txBox="true"/>
            <p:nvPr/>
          </p:nvSpPr>
          <p:spPr>
            <a:xfrm>
              <a:off x="0" y="-19050"/>
              <a:ext cx="21214080" cy="1299210"/>
            </a:xfrm>
            <a:prstGeom prst="rect">
              <a:avLst/>
            </a:prstGeom>
          </p:spPr>
          <p:txBody>
            <a:bodyPr anchor="ctr" rtlCol="false" tIns="0" lIns="0" bIns="0" rIns="0"/>
            <a:lstStyle/>
            <a:p>
              <a:pPr algn="l">
                <a:lnSpc>
                  <a:spcPts val="5400"/>
                </a:lnSpc>
              </a:pPr>
              <a:r>
                <a:rPr lang="en-US" sz="4500" b="true">
                  <a:solidFill>
                    <a:srgbClr val="1B1F27"/>
                  </a:solidFill>
                  <a:latin typeface="Cambria Bold"/>
                  <a:ea typeface="Cambria Bold"/>
                  <a:cs typeface="Cambria Bold"/>
                  <a:sym typeface="Cambria Bold"/>
                </a:rPr>
                <a:t>Minimizing a deceptive, multimodal landscape</a:t>
              </a:r>
            </a:p>
          </p:txBody>
        </p:sp>
      </p:grpSp>
      <p:grpSp>
        <p:nvGrpSpPr>
          <p:cNvPr name="Group 8" id="8"/>
          <p:cNvGrpSpPr/>
          <p:nvPr/>
        </p:nvGrpSpPr>
        <p:grpSpPr>
          <a:xfrm rot="0">
            <a:off x="822960" y="4320540"/>
            <a:ext cx="164592" cy="164592"/>
            <a:chOff x="0" y="0"/>
            <a:chExt cx="219456" cy="219456"/>
          </a:xfrm>
        </p:grpSpPr>
        <p:sp>
          <p:nvSpPr>
            <p:cNvPr name="Freeform 9" id="9"/>
            <p:cNvSpPr/>
            <p:nvPr/>
          </p:nvSpPr>
          <p:spPr>
            <a:xfrm flipH="false" flipV="false" rot="0">
              <a:off x="0" y="0"/>
              <a:ext cx="219456" cy="219456"/>
            </a:xfrm>
            <a:custGeom>
              <a:avLst/>
              <a:gdLst/>
              <a:ahLst/>
              <a:cxnLst/>
              <a:rect r="r" b="b" t="t" l="l"/>
              <a:pathLst>
                <a:path h="219456" w="219456">
                  <a:moveTo>
                    <a:pt x="0" y="109728"/>
                  </a:moveTo>
                  <a:cubicBezTo>
                    <a:pt x="0" y="49149"/>
                    <a:pt x="49149" y="0"/>
                    <a:pt x="109728" y="0"/>
                  </a:cubicBezTo>
                  <a:cubicBezTo>
                    <a:pt x="170307" y="0"/>
                    <a:pt x="219456" y="49149"/>
                    <a:pt x="219456" y="109728"/>
                  </a:cubicBezTo>
                  <a:cubicBezTo>
                    <a:pt x="219456" y="170307"/>
                    <a:pt x="170307" y="219456"/>
                    <a:pt x="109728" y="219456"/>
                  </a:cubicBezTo>
                  <a:cubicBezTo>
                    <a:pt x="49149" y="219456"/>
                    <a:pt x="0" y="170307"/>
                    <a:pt x="0" y="109728"/>
                  </a:cubicBezTo>
                  <a:close/>
                </a:path>
              </a:pathLst>
            </a:custGeom>
            <a:solidFill>
              <a:srgbClr val="FF6B4A"/>
            </a:solidFill>
          </p:spPr>
        </p:sp>
      </p:grpSp>
      <p:grpSp>
        <p:nvGrpSpPr>
          <p:cNvPr name="Group 10" id="10"/>
          <p:cNvGrpSpPr/>
          <p:nvPr/>
        </p:nvGrpSpPr>
        <p:grpSpPr>
          <a:xfrm rot="0">
            <a:off x="1234440" y="4142232"/>
            <a:ext cx="9052560" cy="617220"/>
            <a:chOff x="0" y="0"/>
            <a:chExt cx="12070080" cy="822960"/>
          </a:xfrm>
        </p:grpSpPr>
        <p:sp>
          <p:nvSpPr>
            <p:cNvPr name="Freeform 11" id="11"/>
            <p:cNvSpPr/>
            <p:nvPr/>
          </p:nvSpPr>
          <p:spPr>
            <a:xfrm flipH="false" flipV="false" rot="0">
              <a:off x="0" y="0"/>
              <a:ext cx="12070080" cy="822960"/>
            </a:xfrm>
            <a:custGeom>
              <a:avLst/>
              <a:gdLst/>
              <a:ahLst/>
              <a:cxnLst/>
              <a:rect r="r" b="b" t="t" l="l"/>
              <a:pathLst>
                <a:path h="822960" w="12070080">
                  <a:moveTo>
                    <a:pt x="0" y="0"/>
                  </a:moveTo>
                  <a:lnTo>
                    <a:pt x="12070080" y="0"/>
                  </a:lnTo>
                  <a:lnTo>
                    <a:pt x="12070080" y="822960"/>
                  </a:lnTo>
                  <a:lnTo>
                    <a:pt x="0" y="822960"/>
                  </a:lnTo>
                  <a:close/>
                </a:path>
              </a:pathLst>
            </a:custGeom>
            <a:blipFill>
              <a:blip r:embed="rId3">
                <a:alphaModFix amt="0"/>
              </a:blip>
              <a:stretch>
                <a:fillRect l="0" t="-235780" r="0" b="-235780"/>
              </a:stretch>
            </a:blipFill>
          </p:spPr>
        </p:sp>
        <p:sp>
          <p:nvSpPr>
            <p:cNvPr name="TextBox 12" id="12"/>
            <p:cNvSpPr txBox="true"/>
            <p:nvPr/>
          </p:nvSpPr>
          <p:spPr>
            <a:xfrm>
              <a:off x="0" y="-57150"/>
              <a:ext cx="12070080" cy="880110"/>
            </a:xfrm>
            <a:prstGeom prst="rect">
              <a:avLst/>
            </a:prstGeom>
          </p:spPr>
          <p:txBody>
            <a:bodyPr anchor="ctr" rtlCol="false" tIns="0" lIns="0" bIns="0" rIns="0"/>
            <a:lstStyle/>
            <a:p>
              <a:pPr algn="l">
                <a:lnSpc>
                  <a:spcPts val="3240"/>
                </a:lnSpc>
              </a:pPr>
              <a:r>
                <a:rPr lang="en-US" sz="2700">
                  <a:solidFill>
                    <a:srgbClr val="1B1F27"/>
                  </a:solidFill>
                  <a:latin typeface="Calibri (MS)"/>
                  <a:ea typeface="Calibri (MS)"/>
                  <a:cs typeface="Calibri (MS)"/>
                  <a:sym typeface="Calibri (MS)"/>
                </a:rPr>
                <a:t>Domain: -5 ≤ x1, x2 ≤ 5, searched with no derivative information</a:t>
              </a:r>
            </a:p>
          </p:txBody>
        </p:sp>
      </p:grpSp>
      <p:grpSp>
        <p:nvGrpSpPr>
          <p:cNvPr name="Group 13" id="13"/>
          <p:cNvGrpSpPr/>
          <p:nvPr/>
        </p:nvGrpSpPr>
        <p:grpSpPr>
          <a:xfrm rot="0">
            <a:off x="822960" y="5074920"/>
            <a:ext cx="164592" cy="164592"/>
            <a:chOff x="0" y="0"/>
            <a:chExt cx="219456" cy="219456"/>
          </a:xfrm>
        </p:grpSpPr>
        <p:sp>
          <p:nvSpPr>
            <p:cNvPr name="Freeform 14" id="14"/>
            <p:cNvSpPr/>
            <p:nvPr/>
          </p:nvSpPr>
          <p:spPr>
            <a:xfrm flipH="false" flipV="false" rot="0">
              <a:off x="0" y="0"/>
              <a:ext cx="219456" cy="219456"/>
            </a:xfrm>
            <a:custGeom>
              <a:avLst/>
              <a:gdLst/>
              <a:ahLst/>
              <a:cxnLst/>
              <a:rect r="r" b="b" t="t" l="l"/>
              <a:pathLst>
                <a:path h="219456" w="219456">
                  <a:moveTo>
                    <a:pt x="0" y="109728"/>
                  </a:moveTo>
                  <a:cubicBezTo>
                    <a:pt x="0" y="49149"/>
                    <a:pt x="49149" y="0"/>
                    <a:pt x="109728" y="0"/>
                  </a:cubicBezTo>
                  <a:cubicBezTo>
                    <a:pt x="170307" y="0"/>
                    <a:pt x="219456" y="49149"/>
                    <a:pt x="219456" y="109728"/>
                  </a:cubicBezTo>
                  <a:cubicBezTo>
                    <a:pt x="219456" y="170307"/>
                    <a:pt x="170307" y="219456"/>
                    <a:pt x="109728" y="219456"/>
                  </a:cubicBezTo>
                  <a:cubicBezTo>
                    <a:pt x="49149" y="219456"/>
                    <a:pt x="0" y="170307"/>
                    <a:pt x="0" y="109728"/>
                  </a:cubicBezTo>
                  <a:close/>
                </a:path>
              </a:pathLst>
            </a:custGeom>
            <a:solidFill>
              <a:srgbClr val="FF6B4A"/>
            </a:solidFill>
          </p:spPr>
        </p:sp>
      </p:grpSp>
      <p:grpSp>
        <p:nvGrpSpPr>
          <p:cNvPr name="Group 15" id="15"/>
          <p:cNvGrpSpPr/>
          <p:nvPr/>
        </p:nvGrpSpPr>
        <p:grpSpPr>
          <a:xfrm rot="0">
            <a:off x="1234440" y="4896612"/>
            <a:ext cx="9052560" cy="617220"/>
            <a:chOff x="0" y="0"/>
            <a:chExt cx="12070080" cy="822960"/>
          </a:xfrm>
        </p:grpSpPr>
        <p:sp>
          <p:nvSpPr>
            <p:cNvPr name="Freeform 16" id="16"/>
            <p:cNvSpPr/>
            <p:nvPr/>
          </p:nvSpPr>
          <p:spPr>
            <a:xfrm flipH="false" flipV="false" rot="0">
              <a:off x="0" y="0"/>
              <a:ext cx="12070080" cy="822960"/>
            </a:xfrm>
            <a:custGeom>
              <a:avLst/>
              <a:gdLst/>
              <a:ahLst/>
              <a:cxnLst/>
              <a:rect r="r" b="b" t="t" l="l"/>
              <a:pathLst>
                <a:path h="822960" w="12070080">
                  <a:moveTo>
                    <a:pt x="0" y="0"/>
                  </a:moveTo>
                  <a:lnTo>
                    <a:pt x="12070080" y="0"/>
                  </a:lnTo>
                  <a:lnTo>
                    <a:pt x="12070080" y="822960"/>
                  </a:lnTo>
                  <a:lnTo>
                    <a:pt x="0" y="822960"/>
                  </a:lnTo>
                  <a:close/>
                </a:path>
              </a:pathLst>
            </a:custGeom>
            <a:blipFill>
              <a:blip r:embed="rId3">
                <a:alphaModFix amt="0"/>
              </a:blip>
              <a:stretch>
                <a:fillRect l="0" t="-235780" r="0" b="-235780"/>
              </a:stretch>
            </a:blipFill>
          </p:spPr>
        </p:sp>
        <p:sp>
          <p:nvSpPr>
            <p:cNvPr name="TextBox 17" id="17"/>
            <p:cNvSpPr txBox="true"/>
            <p:nvPr/>
          </p:nvSpPr>
          <p:spPr>
            <a:xfrm>
              <a:off x="0" y="-57150"/>
              <a:ext cx="12070080" cy="880110"/>
            </a:xfrm>
            <a:prstGeom prst="rect">
              <a:avLst/>
            </a:prstGeom>
          </p:spPr>
          <p:txBody>
            <a:bodyPr anchor="ctr" rtlCol="false" tIns="0" lIns="0" bIns="0" rIns="0"/>
            <a:lstStyle/>
            <a:p>
              <a:pPr algn="l">
                <a:lnSpc>
                  <a:spcPts val="3240"/>
                </a:lnSpc>
              </a:pPr>
              <a:r>
                <a:rPr lang="en-US" sz="2700">
                  <a:solidFill>
                    <a:srgbClr val="1B1F27"/>
                  </a:solidFill>
                  <a:latin typeface="Calibri (MS)"/>
                  <a:ea typeface="Calibri (MS)"/>
                  <a:cs typeface="Calibri (MS)"/>
                  <a:sym typeface="Calibri (MS)"/>
                </a:rPr>
                <a:t>Known global minimum: f(0, 0) = 0 — the target we're trying to reach</a:t>
              </a:r>
            </a:p>
          </p:txBody>
        </p:sp>
      </p:grpSp>
      <p:grpSp>
        <p:nvGrpSpPr>
          <p:cNvPr name="Group 18" id="18"/>
          <p:cNvGrpSpPr/>
          <p:nvPr/>
        </p:nvGrpSpPr>
        <p:grpSpPr>
          <a:xfrm rot="0">
            <a:off x="822960" y="5829300"/>
            <a:ext cx="164592" cy="164592"/>
            <a:chOff x="0" y="0"/>
            <a:chExt cx="219456" cy="219456"/>
          </a:xfrm>
        </p:grpSpPr>
        <p:sp>
          <p:nvSpPr>
            <p:cNvPr name="Freeform 19" id="19"/>
            <p:cNvSpPr/>
            <p:nvPr/>
          </p:nvSpPr>
          <p:spPr>
            <a:xfrm flipH="false" flipV="false" rot="0">
              <a:off x="0" y="0"/>
              <a:ext cx="219456" cy="219456"/>
            </a:xfrm>
            <a:custGeom>
              <a:avLst/>
              <a:gdLst/>
              <a:ahLst/>
              <a:cxnLst/>
              <a:rect r="r" b="b" t="t" l="l"/>
              <a:pathLst>
                <a:path h="219456" w="219456">
                  <a:moveTo>
                    <a:pt x="0" y="109728"/>
                  </a:moveTo>
                  <a:cubicBezTo>
                    <a:pt x="0" y="49149"/>
                    <a:pt x="49149" y="0"/>
                    <a:pt x="109728" y="0"/>
                  </a:cubicBezTo>
                  <a:cubicBezTo>
                    <a:pt x="170307" y="0"/>
                    <a:pt x="219456" y="49149"/>
                    <a:pt x="219456" y="109728"/>
                  </a:cubicBezTo>
                  <a:cubicBezTo>
                    <a:pt x="219456" y="170307"/>
                    <a:pt x="170307" y="219456"/>
                    <a:pt x="109728" y="219456"/>
                  </a:cubicBezTo>
                  <a:cubicBezTo>
                    <a:pt x="49149" y="219456"/>
                    <a:pt x="0" y="170307"/>
                    <a:pt x="0" y="109728"/>
                  </a:cubicBezTo>
                  <a:close/>
                </a:path>
              </a:pathLst>
            </a:custGeom>
            <a:solidFill>
              <a:srgbClr val="FF6B4A"/>
            </a:solidFill>
          </p:spPr>
        </p:sp>
      </p:grpSp>
      <p:grpSp>
        <p:nvGrpSpPr>
          <p:cNvPr name="Group 20" id="20"/>
          <p:cNvGrpSpPr/>
          <p:nvPr/>
        </p:nvGrpSpPr>
        <p:grpSpPr>
          <a:xfrm rot="0">
            <a:off x="1234440" y="5650992"/>
            <a:ext cx="9052560" cy="617220"/>
            <a:chOff x="0" y="0"/>
            <a:chExt cx="12070080" cy="822960"/>
          </a:xfrm>
        </p:grpSpPr>
        <p:sp>
          <p:nvSpPr>
            <p:cNvPr name="Freeform 21" id="21"/>
            <p:cNvSpPr/>
            <p:nvPr/>
          </p:nvSpPr>
          <p:spPr>
            <a:xfrm flipH="false" flipV="false" rot="0">
              <a:off x="0" y="0"/>
              <a:ext cx="12070080" cy="822960"/>
            </a:xfrm>
            <a:custGeom>
              <a:avLst/>
              <a:gdLst/>
              <a:ahLst/>
              <a:cxnLst/>
              <a:rect r="r" b="b" t="t" l="l"/>
              <a:pathLst>
                <a:path h="822960" w="12070080">
                  <a:moveTo>
                    <a:pt x="0" y="0"/>
                  </a:moveTo>
                  <a:lnTo>
                    <a:pt x="12070080" y="0"/>
                  </a:lnTo>
                  <a:lnTo>
                    <a:pt x="12070080" y="822960"/>
                  </a:lnTo>
                  <a:lnTo>
                    <a:pt x="0" y="822960"/>
                  </a:lnTo>
                  <a:close/>
                </a:path>
              </a:pathLst>
            </a:custGeom>
            <a:blipFill>
              <a:blip r:embed="rId3">
                <a:alphaModFix amt="0"/>
              </a:blip>
              <a:stretch>
                <a:fillRect l="0" t="-235780" r="0" b="-235780"/>
              </a:stretch>
            </a:blipFill>
          </p:spPr>
        </p:sp>
        <p:sp>
          <p:nvSpPr>
            <p:cNvPr name="TextBox 22" id="22"/>
            <p:cNvSpPr txBox="true"/>
            <p:nvPr/>
          </p:nvSpPr>
          <p:spPr>
            <a:xfrm>
              <a:off x="0" y="-57150"/>
              <a:ext cx="12070080" cy="880110"/>
            </a:xfrm>
            <a:prstGeom prst="rect">
              <a:avLst/>
            </a:prstGeom>
          </p:spPr>
          <p:txBody>
            <a:bodyPr anchor="ctr" rtlCol="false" tIns="0" lIns="0" bIns="0" rIns="0"/>
            <a:lstStyle/>
            <a:p>
              <a:pPr algn="l">
                <a:lnSpc>
                  <a:spcPts val="3240"/>
                </a:lnSpc>
              </a:pPr>
              <a:r>
                <a:rPr lang="en-US" sz="2700">
                  <a:solidFill>
                    <a:srgbClr val="1B1F27"/>
                  </a:solidFill>
                  <a:latin typeface="Calibri (MS)"/>
                  <a:ea typeface="Calibri (MS)"/>
                  <a:cs typeface="Calibri (MS)"/>
                  <a:sym typeface="Calibri (MS)"/>
                </a:rPr>
                <a:t>The Ackley function itself is used directly as the fitness/objective value</a:t>
              </a:r>
            </a:p>
          </p:txBody>
        </p:sp>
      </p:grpSp>
      <p:grpSp>
        <p:nvGrpSpPr>
          <p:cNvPr name="Group 23" id="23"/>
          <p:cNvGrpSpPr/>
          <p:nvPr/>
        </p:nvGrpSpPr>
        <p:grpSpPr>
          <a:xfrm rot="0">
            <a:off x="822960" y="6449187"/>
            <a:ext cx="5486400" cy="480060"/>
            <a:chOff x="0" y="0"/>
            <a:chExt cx="7315200" cy="640080"/>
          </a:xfrm>
        </p:grpSpPr>
        <p:sp>
          <p:nvSpPr>
            <p:cNvPr name="Freeform 24" id="24"/>
            <p:cNvSpPr/>
            <p:nvPr/>
          </p:nvSpPr>
          <p:spPr>
            <a:xfrm flipH="false" flipV="false" rot="0">
              <a:off x="0" y="0"/>
              <a:ext cx="7315200" cy="640080"/>
            </a:xfrm>
            <a:custGeom>
              <a:avLst/>
              <a:gdLst/>
              <a:ahLst/>
              <a:cxnLst/>
              <a:rect r="r" b="b" t="t" l="l"/>
              <a:pathLst>
                <a:path h="640080" w="7315200">
                  <a:moveTo>
                    <a:pt x="0" y="0"/>
                  </a:moveTo>
                  <a:lnTo>
                    <a:pt x="7315200" y="0"/>
                  </a:lnTo>
                  <a:lnTo>
                    <a:pt x="7315200" y="640080"/>
                  </a:lnTo>
                  <a:lnTo>
                    <a:pt x="0" y="640080"/>
                  </a:lnTo>
                  <a:close/>
                </a:path>
              </a:pathLst>
            </a:custGeom>
            <a:blipFill>
              <a:blip r:embed="rId3">
                <a:alphaModFix amt="0"/>
              </a:blip>
              <a:stretch>
                <a:fillRect l="0" t="-172686" r="0" b="-172686"/>
              </a:stretch>
            </a:blipFill>
          </p:spPr>
        </p:sp>
        <p:sp>
          <p:nvSpPr>
            <p:cNvPr name="TextBox 25" id="25"/>
            <p:cNvSpPr txBox="true"/>
            <p:nvPr/>
          </p:nvSpPr>
          <p:spPr>
            <a:xfrm>
              <a:off x="0" y="-19050"/>
              <a:ext cx="7315200" cy="659130"/>
            </a:xfrm>
            <a:prstGeom prst="rect">
              <a:avLst/>
            </a:prstGeom>
          </p:spPr>
          <p:txBody>
            <a:bodyPr anchor="ctr" rtlCol="false" tIns="0" lIns="0" bIns="0" rIns="0"/>
            <a:lstStyle/>
            <a:p>
              <a:pPr algn="l">
                <a:lnSpc>
                  <a:spcPts val="3600"/>
                </a:lnSpc>
              </a:pPr>
              <a:r>
                <a:rPr lang="en-US" sz="3000" b="true">
                  <a:solidFill>
                    <a:srgbClr val="0B2A4A"/>
                  </a:solidFill>
                  <a:latin typeface="Cambria Bold"/>
                  <a:ea typeface="Cambria Bold"/>
                  <a:cs typeface="Cambria Bold"/>
                  <a:sym typeface="Cambria Bold"/>
                </a:rPr>
                <a:t>Why it's hard</a:t>
              </a:r>
            </a:p>
          </p:txBody>
        </p:sp>
      </p:grpSp>
      <p:grpSp>
        <p:nvGrpSpPr>
          <p:cNvPr name="Group 26" id="26"/>
          <p:cNvGrpSpPr/>
          <p:nvPr/>
        </p:nvGrpSpPr>
        <p:grpSpPr>
          <a:xfrm rot="0">
            <a:off x="822960" y="7036308"/>
            <a:ext cx="411480" cy="548640"/>
            <a:chOff x="0" y="0"/>
            <a:chExt cx="548640" cy="731520"/>
          </a:xfrm>
        </p:grpSpPr>
        <p:sp>
          <p:nvSpPr>
            <p:cNvPr name="Freeform 27" id="27"/>
            <p:cNvSpPr/>
            <p:nvPr/>
          </p:nvSpPr>
          <p:spPr>
            <a:xfrm flipH="false" flipV="false" rot="0">
              <a:off x="0" y="0"/>
              <a:ext cx="548640" cy="731520"/>
            </a:xfrm>
            <a:custGeom>
              <a:avLst/>
              <a:gdLst/>
              <a:ahLst/>
              <a:cxnLst/>
              <a:rect r="r" b="b" t="t" l="l"/>
              <a:pathLst>
                <a:path h="731520" w="548640">
                  <a:moveTo>
                    <a:pt x="0" y="0"/>
                  </a:moveTo>
                  <a:lnTo>
                    <a:pt x="548640" y="0"/>
                  </a:lnTo>
                  <a:lnTo>
                    <a:pt x="548640" y="731520"/>
                  </a:lnTo>
                  <a:lnTo>
                    <a:pt x="0" y="731520"/>
                  </a:lnTo>
                  <a:close/>
                </a:path>
              </a:pathLst>
            </a:custGeom>
            <a:blipFill>
              <a:blip r:embed="rId3">
                <a:alphaModFix amt="0"/>
              </a:blip>
              <a:stretch>
                <a:fillRect l="-121071" t="0" r="-121071" b="0"/>
              </a:stretch>
            </a:blipFill>
          </p:spPr>
        </p:sp>
        <p:sp>
          <p:nvSpPr>
            <p:cNvPr name="TextBox 28" id="28"/>
            <p:cNvSpPr txBox="true"/>
            <p:nvPr/>
          </p:nvSpPr>
          <p:spPr>
            <a:xfrm>
              <a:off x="0" y="-66675"/>
              <a:ext cx="548640" cy="798195"/>
            </a:xfrm>
            <a:prstGeom prst="rect">
              <a:avLst/>
            </a:prstGeom>
          </p:spPr>
          <p:txBody>
            <a:bodyPr anchor="ctr" rtlCol="false" tIns="0" lIns="0" bIns="0" rIns="0"/>
            <a:lstStyle/>
            <a:p>
              <a:pPr algn="l">
                <a:lnSpc>
                  <a:spcPts val="3600"/>
                </a:lnSpc>
              </a:pPr>
              <a:r>
                <a:rPr lang="en-US" sz="3000" b="true">
                  <a:solidFill>
                    <a:srgbClr val="1C7293"/>
                  </a:solidFill>
                  <a:latin typeface="Calibri (MS) Bold"/>
                  <a:ea typeface="Calibri (MS) Bold"/>
                  <a:cs typeface="Calibri (MS) Bold"/>
                  <a:sym typeface="Calibri (MS) Bold"/>
                </a:rPr>
                <a:t>▸</a:t>
              </a:r>
            </a:p>
          </p:txBody>
        </p:sp>
      </p:grpSp>
      <p:grpSp>
        <p:nvGrpSpPr>
          <p:cNvPr name="Group 29" id="29"/>
          <p:cNvGrpSpPr/>
          <p:nvPr/>
        </p:nvGrpSpPr>
        <p:grpSpPr>
          <a:xfrm rot="0">
            <a:off x="1234440" y="7036308"/>
            <a:ext cx="8641080" cy="754380"/>
            <a:chOff x="0" y="0"/>
            <a:chExt cx="11521440" cy="1005840"/>
          </a:xfrm>
        </p:grpSpPr>
        <p:sp>
          <p:nvSpPr>
            <p:cNvPr name="Freeform 30" id="30"/>
            <p:cNvSpPr/>
            <p:nvPr/>
          </p:nvSpPr>
          <p:spPr>
            <a:xfrm flipH="false" flipV="false" rot="0">
              <a:off x="0" y="0"/>
              <a:ext cx="11521440" cy="1005840"/>
            </a:xfrm>
            <a:custGeom>
              <a:avLst/>
              <a:gdLst/>
              <a:ahLst/>
              <a:cxnLst/>
              <a:rect r="r" b="b" t="t" l="l"/>
              <a:pathLst>
                <a:path h="1005840" w="11521440">
                  <a:moveTo>
                    <a:pt x="0" y="0"/>
                  </a:moveTo>
                  <a:lnTo>
                    <a:pt x="11521440" y="0"/>
                  </a:lnTo>
                  <a:lnTo>
                    <a:pt x="11521440" y="1005840"/>
                  </a:lnTo>
                  <a:lnTo>
                    <a:pt x="0" y="1005840"/>
                  </a:lnTo>
                  <a:close/>
                </a:path>
              </a:pathLst>
            </a:custGeom>
            <a:blipFill>
              <a:blip r:embed="rId3">
                <a:alphaModFix amt="0"/>
              </a:blip>
              <a:stretch>
                <a:fillRect l="0" t="-173192" r="0" b="-173192"/>
              </a:stretch>
            </a:blipFill>
          </p:spPr>
        </p:sp>
        <p:sp>
          <p:nvSpPr>
            <p:cNvPr name="TextBox 31" id="31"/>
            <p:cNvSpPr txBox="true"/>
            <p:nvPr/>
          </p:nvSpPr>
          <p:spPr>
            <a:xfrm>
              <a:off x="0" y="-57150"/>
              <a:ext cx="11521440" cy="1062990"/>
            </a:xfrm>
            <a:prstGeom prst="rect">
              <a:avLst/>
            </a:prstGeom>
          </p:spPr>
          <p:txBody>
            <a:bodyPr anchor="ctr" rtlCol="false" tIns="0" lIns="0" bIns="0" rIns="0"/>
            <a:lstStyle/>
            <a:p>
              <a:pPr algn="l">
                <a:lnSpc>
                  <a:spcPts val="3240"/>
                </a:lnSpc>
              </a:pPr>
              <a:r>
                <a:rPr lang="en-US" sz="2700" b="true">
                  <a:solidFill>
                    <a:srgbClr val="0B2A4A"/>
                  </a:solidFill>
                  <a:latin typeface="Calibri (MS) Bold"/>
                  <a:ea typeface="Calibri (MS) Bold"/>
                  <a:cs typeface="Calibri (MS) Bold"/>
                  <a:sym typeface="Calibri (MS) Bold"/>
                </a:rPr>
                <a:t>Flat outer plateau  —  </a:t>
              </a:r>
              <a:r>
                <a:rPr lang="en-US" sz="2700">
                  <a:solidFill>
                    <a:srgbClr val="5B6472"/>
                  </a:solidFill>
                  <a:latin typeface="Calibri (MS)"/>
                  <a:ea typeface="Calibri (MS)"/>
                  <a:cs typeface="Calibri (MS)"/>
                  <a:sym typeface="Calibri (MS)"/>
                </a:rPr>
                <a:t>Slopes barely change far from the center — little guidance toward (0,0).</a:t>
              </a:r>
            </a:p>
          </p:txBody>
        </p:sp>
      </p:grpSp>
      <p:grpSp>
        <p:nvGrpSpPr>
          <p:cNvPr name="Group 32" id="32"/>
          <p:cNvGrpSpPr/>
          <p:nvPr/>
        </p:nvGrpSpPr>
        <p:grpSpPr>
          <a:xfrm rot="0">
            <a:off x="822960" y="7831836"/>
            <a:ext cx="411480" cy="548640"/>
            <a:chOff x="0" y="0"/>
            <a:chExt cx="548640" cy="731520"/>
          </a:xfrm>
        </p:grpSpPr>
        <p:sp>
          <p:nvSpPr>
            <p:cNvPr name="Freeform 33" id="33"/>
            <p:cNvSpPr/>
            <p:nvPr/>
          </p:nvSpPr>
          <p:spPr>
            <a:xfrm flipH="false" flipV="false" rot="0">
              <a:off x="0" y="0"/>
              <a:ext cx="548640" cy="731520"/>
            </a:xfrm>
            <a:custGeom>
              <a:avLst/>
              <a:gdLst/>
              <a:ahLst/>
              <a:cxnLst/>
              <a:rect r="r" b="b" t="t" l="l"/>
              <a:pathLst>
                <a:path h="731520" w="548640">
                  <a:moveTo>
                    <a:pt x="0" y="0"/>
                  </a:moveTo>
                  <a:lnTo>
                    <a:pt x="548640" y="0"/>
                  </a:lnTo>
                  <a:lnTo>
                    <a:pt x="548640" y="731520"/>
                  </a:lnTo>
                  <a:lnTo>
                    <a:pt x="0" y="731520"/>
                  </a:lnTo>
                  <a:close/>
                </a:path>
              </a:pathLst>
            </a:custGeom>
            <a:blipFill>
              <a:blip r:embed="rId3">
                <a:alphaModFix amt="0"/>
              </a:blip>
              <a:stretch>
                <a:fillRect l="-121071" t="0" r="-121071" b="0"/>
              </a:stretch>
            </a:blipFill>
          </p:spPr>
        </p:sp>
        <p:sp>
          <p:nvSpPr>
            <p:cNvPr name="TextBox 34" id="34"/>
            <p:cNvSpPr txBox="true"/>
            <p:nvPr/>
          </p:nvSpPr>
          <p:spPr>
            <a:xfrm>
              <a:off x="0" y="-66675"/>
              <a:ext cx="548640" cy="798195"/>
            </a:xfrm>
            <a:prstGeom prst="rect">
              <a:avLst/>
            </a:prstGeom>
          </p:spPr>
          <p:txBody>
            <a:bodyPr anchor="ctr" rtlCol="false" tIns="0" lIns="0" bIns="0" rIns="0"/>
            <a:lstStyle/>
            <a:p>
              <a:pPr algn="l">
                <a:lnSpc>
                  <a:spcPts val="3600"/>
                </a:lnSpc>
              </a:pPr>
              <a:r>
                <a:rPr lang="en-US" sz="3000" b="true">
                  <a:solidFill>
                    <a:srgbClr val="1C7293"/>
                  </a:solidFill>
                  <a:latin typeface="Calibri (MS) Bold"/>
                  <a:ea typeface="Calibri (MS) Bold"/>
                  <a:cs typeface="Calibri (MS) Bold"/>
                  <a:sym typeface="Calibri (MS) Bold"/>
                </a:rPr>
                <a:t>▸</a:t>
              </a:r>
            </a:p>
          </p:txBody>
        </p:sp>
      </p:grpSp>
      <p:grpSp>
        <p:nvGrpSpPr>
          <p:cNvPr name="Group 35" id="35"/>
          <p:cNvGrpSpPr/>
          <p:nvPr/>
        </p:nvGrpSpPr>
        <p:grpSpPr>
          <a:xfrm rot="0">
            <a:off x="1234440" y="7831836"/>
            <a:ext cx="8641080" cy="754380"/>
            <a:chOff x="0" y="0"/>
            <a:chExt cx="11521440" cy="1005840"/>
          </a:xfrm>
        </p:grpSpPr>
        <p:sp>
          <p:nvSpPr>
            <p:cNvPr name="Freeform 36" id="36"/>
            <p:cNvSpPr/>
            <p:nvPr/>
          </p:nvSpPr>
          <p:spPr>
            <a:xfrm flipH="false" flipV="false" rot="0">
              <a:off x="0" y="0"/>
              <a:ext cx="11521440" cy="1005840"/>
            </a:xfrm>
            <a:custGeom>
              <a:avLst/>
              <a:gdLst/>
              <a:ahLst/>
              <a:cxnLst/>
              <a:rect r="r" b="b" t="t" l="l"/>
              <a:pathLst>
                <a:path h="1005840" w="11521440">
                  <a:moveTo>
                    <a:pt x="0" y="0"/>
                  </a:moveTo>
                  <a:lnTo>
                    <a:pt x="11521440" y="0"/>
                  </a:lnTo>
                  <a:lnTo>
                    <a:pt x="11521440" y="1005840"/>
                  </a:lnTo>
                  <a:lnTo>
                    <a:pt x="0" y="1005840"/>
                  </a:lnTo>
                  <a:close/>
                </a:path>
              </a:pathLst>
            </a:custGeom>
            <a:blipFill>
              <a:blip r:embed="rId3">
                <a:alphaModFix amt="0"/>
              </a:blip>
              <a:stretch>
                <a:fillRect l="0" t="-173192" r="0" b="-173192"/>
              </a:stretch>
            </a:blipFill>
          </p:spPr>
        </p:sp>
        <p:sp>
          <p:nvSpPr>
            <p:cNvPr name="TextBox 37" id="37"/>
            <p:cNvSpPr txBox="true"/>
            <p:nvPr/>
          </p:nvSpPr>
          <p:spPr>
            <a:xfrm>
              <a:off x="0" y="-57150"/>
              <a:ext cx="11521440" cy="1062990"/>
            </a:xfrm>
            <a:prstGeom prst="rect">
              <a:avLst/>
            </a:prstGeom>
          </p:spPr>
          <p:txBody>
            <a:bodyPr anchor="ctr" rtlCol="false" tIns="0" lIns="0" bIns="0" rIns="0"/>
            <a:lstStyle/>
            <a:p>
              <a:pPr algn="l">
                <a:lnSpc>
                  <a:spcPts val="3240"/>
                </a:lnSpc>
              </a:pPr>
              <a:r>
                <a:rPr lang="en-US" sz="2700" b="true">
                  <a:solidFill>
                    <a:srgbClr val="0B2A4A"/>
                  </a:solidFill>
                  <a:latin typeface="Calibri (MS) Bold"/>
                  <a:ea typeface="Calibri (MS) Bold"/>
                  <a:cs typeface="Calibri (MS) Bold"/>
                  <a:sym typeface="Calibri (MS) Bold"/>
                </a:rPr>
                <a:t>Dense local ripples  —  </a:t>
              </a:r>
              <a:r>
                <a:rPr lang="en-US" sz="2700">
                  <a:solidFill>
                    <a:srgbClr val="5B6472"/>
                  </a:solidFill>
                  <a:latin typeface="Calibri (MS)"/>
                  <a:ea typeface="Calibri (MS)"/>
                  <a:cs typeface="Calibri (MS)"/>
                  <a:sym typeface="Calibri (MS)"/>
                </a:rPr>
                <a:t>Cosine terms create many recurring local minima that trap local-search methods.</a:t>
              </a:r>
            </a:p>
          </p:txBody>
        </p:sp>
      </p:grpSp>
      <p:grpSp>
        <p:nvGrpSpPr>
          <p:cNvPr name="Group 38" id="38"/>
          <p:cNvGrpSpPr/>
          <p:nvPr/>
        </p:nvGrpSpPr>
        <p:grpSpPr>
          <a:xfrm rot="0">
            <a:off x="822960" y="8627364"/>
            <a:ext cx="411480" cy="548640"/>
            <a:chOff x="0" y="0"/>
            <a:chExt cx="548640" cy="731520"/>
          </a:xfrm>
        </p:grpSpPr>
        <p:sp>
          <p:nvSpPr>
            <p:cNvPr name="Freeform 39" id="39"/>
            <p:cNvSpPr/>
            <p:nvPr/>
          </p:nvSpPr>
          <p:spPr>
            <a:xfrm flipH="false" flipV="false" rot="0">
              <a:off x="0" y="0"/>
              <a:ext cx="548640" cy="731520"/>
            </a:xfrm>
            <a:custGeom>
              <a:avLst/>
              <a:gdLst/>
              <a:ahLst/>
              <a:cxnLst/>
              <a:rect r="r" b="b" t="t" l="l"/>
              <a:pathLst>
                <a:path h="731520" w="548640">
                  <a:moveTo>
                    <a:pt x="0" y="0"/>
                  </a:moveTo>
                  <a:lnTo>
                    <a:pt x="548640" y="0"/>
                  </a:lnTo>
                  <a:lnTo>
                    <a:pt x="548640" y="731520"/>
                  </a:lnTo>
                  <a:lnTo>
                    <a:pt x="0" y="731520"/>
                  </a:lnTo>
                  <a:close/>
                </a:path>
              </a:pathLst>
            </a:custGeom>
            <a:blipFill>
              <a:blip r:embed="rId3">
                <a:alphaModFix amt="0"/>
              </a:blip>
              <a:stretch>
                <a:fillRect l="-121071" t="0" r="-121071" b="0"/>
              </a:stretch>
            </a:blipFill>
          </p:spPr>
        </p:sp>
        <p:sp>
          <p:nvSpPr>
            <p:cNvPr name="TextBox 40" id="40"/>
            <p:cNvSpPr txBox="true"/>
            <p:nvPr/>
          </p:nvSpPr>
          <p:spPr>
            <a:xfrm>
              <a:off x="0" y="-66675"/>
              <a:ext cx="548640" cy="798195"/>
            </a:xfrm>
            <a:prstGeom prst="rect">
              <a:avLst/>
            </a:prstGeom>
          </p:spPr>
          <p:txBody>
            <a:bodyPr anchor="ctr" rtlCol="false" tIns="0" lIns="0" bIns="0" rIns="0"/>
            <a:lstStyle/>
            <a:p>
              <a:pPr algn="l">
                <a:lnSpc>
                  <a:spcPts val="3600"/>
                </a:lnSpc>
              </a:pPr>
              <a:r>
                <a:rPr lang="en-US" sz="3000" b="true">
                  <a:solidFill>
                    <a:srgbClr val="1C7293"/>
                  </a:solidFill>
                  <a:latin typeface="Calibri (MS) Bold"/>
                  <a:ea typeface="Calibri (MS) Bold"/>
                  <a:cs typeface="Calibri (MS) Bold"/>
                  <a:sym typeface="Calibri (MS) Bold"/>
                </a:rPr>
                <a:t>▸</a:t>
              </a:r>
            </a:p>
          </p:txBody>
        </p:sp>
      </p:grpSp>
      <p:grpSp>
        <p:nvGrpSpPr>
          <p:cNvPr name="Group 41" id="41"/>
          <p:cNvGrpSpPr/>
          <p:nvPr/>
        </p:nvGrpSpPr>
        <p:grpSpPr>
          <a:xfrm rot="0">
            <a:off x="1234440" y="8627364"/>
            <a:ext cx="8641080" cy="754380"/>
            <a:chOff x="0" y="0"/>
            <a:chExt cx="11521440" cy="1005840"/>
          </a:xfrm>
        </p:grpSpPr>
        <p:sp>
          <p:nvSpPr>
            <p:cNvPr name="Freeform 42" id="42"/>
            <p:cNvSpPr/>
            <p:nvPr/>
          </p:nvSpPr>
          <p:spPr>
            <a:xfrm flipH="false" flipV="false" rot="0">
              <a:off x="0" y="0"/>
              <a:ext cx="11521440" cy="1005840"/>
            </a:xfrm>
            <a:custGeom>
              <a:avLst/>
              <a:gdLst/>
              <a:ahLst/>
              <a:cxnLst/>
              <a:rect r="r" b="b" t="t" l="l"/>
              <a:pathLst>
                <a:path h="1005840" w="11521440">
                  <a:moveTo>
                    <a:pt x="0" y="0"/>
                  </a:moveTo>
                  <a:lnTo>
                    <a:pt x="11521440" y="0"/>
                  </a:lnTo>
                  <a:lnTo>
                    <a:pt x="11521440" y="1005840"/>
                  </a:lnTo>
                  <a:lnTo>
                    <a:pt x="0" y="1005840"/>
                  </a:lnTo>
                  <a:close/>
                </a:path>
              </a:pathLst>
            </a:custGeom>
            <a:blipFill>
              <a:blip r:embed="rId3">
                <a:alphaModFix amt="0"/>
              </a:blip>
              <a:stretch>
                <a:fillRect l="0" t="-173192" r="0" b="-173192"/>
              </a:stretch>
            </a:blipFill>
          </p:spPr>
        </p:sp>
        <p:sp>
          <p:nvSpPr>
            <p:cNvPr name="TextBox 43" id="43"/>
            <p:cNvSpPr txBox="true"/>
            <p:nvPr/>
          </p:nvSpPr>
          <p:spPr>
            <a:xfrm>
              <a:off x="0" y="-57150"/>
              <a:ext cx="11521440" cy="1062990"/>
            </a:xfrm>
            <a:prstGeom prst="rect">
              <a:avLst/>
            </a:prstGeom>
          </p:spPr>
          <p:txBody>
            <a:bodyPr anchor="ctr" rtlCol="false" tIns="0" lIns="0" bIns="0" rIns="0"/>
            <a:lstStyle/>
            <a:p>
              <a:pPr algn="l">
                <a:lnSpc>
                  <a:spcPts val="3240"/>
                </a:lnSpc>
              </a:pPr>
              <a:r>
                <a:rPr lang="en-US" sz="2700" b="true">
                  <a:solidFill>
                    <a:srgbClr val="0B2A4A"/>
                  </a:solidFill>
                  <a:latin typeface="Calibri (MS) Bold"/>
                  <a:ea typeface="Calibri (MS) Bold"/>
                  <a:cs typeface="Calibri (MS) Bold"/>
                  <a:sym typeface="Calibri (MS) Bold"/>
                </a:rPr>
                <a:t>Narrow central funnel  —  </a:t>
              </a:r>
              <a:r>
                <a:rPr lang="en-US" sz="2700">
                  <a:solidFill>
                    <a:srgbClr val="5B6472"/>
                  </a:solidFill>
                  <a:latin typeface="Calibri (MS)"/>
                  <a:ea typeface="Calibri (MS)"/>
                  <a:cs typeface="Calibri (MS)"/>
                  <a:sym typeface="Calibri (MS)"/>
                </a:rPr>
                <a:t>A steep, tight pit near the origin needs fine-grained tuning to reach zero.</a:t>
              </a:r>
            </a:p>
          </p:txBody>
        </p:sp>
      </p:grpSp>
      <p:grpSp>
        <p:nvGrpSpPr>
          <p:cNvPr name="Group 44" id="44"/>
          <p:cNvGrpSpPr/>
          <p:nvPr/>
        </p:nvGrpSpPr>
        <p:grpSpPr>
          <a:xfrm rot="0">
            <a:off x="10382250" y="2400300"/>
            <a:ext cx="7820025" cy="6720840"/>
            <a:chOff x="0" y="0"/>
            <a:chExt cx="10426700" cy="8961120"/>
          </a:xfrm>
        </p:grpSpPr>
        <p:sp>
          <p:nvSpPr>
            <p:cNvPr name="Freeform 45" id="45"/>
            <p:cNvSpPr/>
            <p:nvPr/>
          </p:nvSpPr>
          <p:spPr>
            <a:xfrm flipH="false" flipV="false" rot="0">
              <a:off x="0" y="0"/>
              <a:ext cx="10426700" cy="8961120"/>
            </a:xfrm>
            <a:custGeom>
              <a:avLst/>
              <a:gdLst/>
              <a:ahLst/>
              <a:cxnLst/>
              <a:rect r="r" b="b" t="t" l="l"/>
              <a:pathLst>
                <a:path h="8961120" w="10426700">
                  <a:moveTo>
                    <a:pt x="0" y="0"/>
                  </a:moveTo>
                  <a:lnTo>
                    <a:pt x="10426700" y="0"/>
                  </a:lnTo>
                  <a:lnTo>
                    <a:pt x="10426700" y="8961120"/>
                  </a:lnTo>
                  <a:lnTo>
                    <a:pt x="0" y="8961120"/>
                  </a:lnTo>
                  <a:lnTo>
                    <a:pt x="0" y="0"/>
                  </a:lnTo>
                  <a:close/>
                </a:path>
              </a:pathLst>
            </a:custGeom>
            <a:blipFill>
              <a:blip r:embed="rId4"/>
              <a:stretch>
                <a:fillRect l="-785" t="0" r="-785" b="0"/>
              </a:stretch>
            </a:blipFill>
          </p:spPr>
        </p:sp>
      </p:grpSp>
      <p:grpSp>
        <p:nvGrpSpPr>
          <p:cNvPr name="Group 46" id="46"/>
          <p:cNvGrpSpPr/>
          <p:nvPr/>
        </p:nvGrpSpPr>
        <p:grpSpPr>
          <a:xfrm rot="0">
            <a:off x="10767060" y="9162288"/>
            <a:ext cx="6720840" cy="548640"/>
            <a:chOff x="0" y="0"/>
            <a:chExt cx="8961120" cy="731520"/>
          </a:xfrm>
        </p:grpSpPr>
        <p:sp>
          <p:nvSpPr>
            <p:cNvPr name="Freeform 47" id="47"/>
            <p:cNvSpPr/>
            <p:nvPr/>
          </p:nvSpPr>
          <p:spPr>
            <a:xfrm flipH="false" flipV="false" rot="0">
              <a:off x="0" y="0"/>
              <a:ext cx="8961120" cy="731520"/>
            </a:xfrm>
            <a:custGeom>
              <a:avLst/>
              <a:gdLst/>
              <a:ahLst/>
              <a:cxnLst/>
              <a:rect r="r" b="b" t="t" l="l"/>
              <a:pathLst>
                <a:path h="731520" w="8961120">
                  <a:moveTo>
                    <a:pt x="0" y="0"/>
                  </a:moveTo>
                  <a:lnTo>
                    <a:pt x="8961120" y="0"/>
                  </a:lnTo>
                  <a:lnTo>
                    <a:pt x="8961120" y="731520"/>
                  </a:lnTo>
                  <a:lnTo>
                    <a:pt x="0" y="731520"/>
                  </a:lnTo>
                  <a:close/>
                </a:path>
              </a:pathLst>
            </a:custGeom>
            <a:blipFill>
              <a:blip r:embed="rId3">
                <a:alphaModFix amt="0"/>
              </a:blip>
              <a:stretch>
                <a:fillRect l="0" t="-188691" r="0" b="-188691"/>
              </a:stretch>
            </a:blipFill>
          </p:spPr>
        </p:sp>
        <p:sp>
          <p:nvSpPr>
            <p:cNvPr name="TextBox 48" id="48"/>
            <p:cNvSpPr txBox="true"/>
            <p:nvPr/>
          </p:nvSpPr>
          <p:spPr>
            <a:xfrm>
              <a:off x="0" y="-19050"/>
              <a:ext cx="8961120" cy="750570"/>
            </a:xfrm>
            <a:prstGeom prst="rect">
              <a:avLst/>
            </a:prstGeom>
          </p:spPr>
          <p:txBody>
            <a:bodyPr anchor="ctr" rtlCol="false" tIns="0" lIns="0" bIns="0" rIns="0"/>
            <a:lstStyle/>
            <a:p>
              <a:pPr algn="ctr">
                <a:lnSpc>
                  <a:spcPts val="1889"/>
                </a:lnSpc>
              </a:pPr>
              <a:r>
                <a:rPr lang="en-US" sz="1575" i="true">
                  <a:solidFill>
                    <a:srgbClr val="5B6472"/>
                  </a:solidFill>
                  <a:latin typeface="Calibri (MS) Italics"/>
                  <a:ea typeface="Calibri (MS) Italics"/>
                  <a:cs typeface="Calibri (MS) Italics"/>
                  <a:sym typeface="Calibri (MS) Italics"/>
                </a:rPr>
                <a:t>The Ackley surface: a bullseye of ripples around a deep central well at (0,0).</a:t>
              </a:r>
            </a:p>
          </p:txBody>
        </p:sp>
      </p:grpSp>
      <p:grpSp>
        <p:nvGrpSpPr>
          <p:cNvPr name="Group 49" id="49"/>
          <p:cNvGrpSpPr/>
          <p:nvPr/>
        </p:nvGrpSpPr>
        <p:grpSpPr>
          <a:xfrm rot="0">
            <a:off x="16774668" y="9669780"/>
            <a:ext cx="1097280" cy="411480"/>
            <a:chOff x="0" y="0"/>
            <a:chExt cx="1463040" cy="548640"/>
          </a:xfrm>
        </p:grpSpPr>
        <p:sp>
          <p:nvSpPr>
            <p:cNvPr name="Freeform 50" id="50"/>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51" id="51"/>
            <p:cNvSpPr txBox="true"/>
            <p:nvPr/>
          </p:nvSpPr>
          <p:spPr>
            <a:xfrm>
              <a:off x="0" y="-38100"/>
              <a:ext cx="1463040" cy="586740"/>
            </a:xfrm>
            <a:prstGeom prst="rect">
              <a:avLst/>
            </a:prstGeom>
          </p:spPr>
          <p:txBody>
            <a:bodyPr anchor="ctr" rtlCol="false" tIns="0" lIns="0" bIns="0" rIns="0"/>
            <a:lstStyle/>
            <a:p>
              <a:pPr algn="r">
                <a:lnSpc>
                  <a:spcPts val="1800"/>
                </a:lnSpc>
              </a:pPr>
              <a:r>
                <a:rPr lang="en-US" sz="1500">
                  <a:solidFill>
                    <a:srgbClr val="5B6472"/>
                  </a:solidFill>
                  <a:latin typeface="Calibri (MS)"/>
                  <a:ea typeface="Calibri (MS)"/>
                  <a:cs typeface="Calibri (MS)"/>
                  <a:sym typeface="Calibri (MS)"/>
                </a:rPr>
                <a:t>3 / 13</a:t>
              </a:r>
            </a:p>
          </p:txBody>
        </p:sp>
      </p:grpSp>
      <p:grpSp>
        <p:nvGrpSpPr>
          <p:cNvPr name="Group 52" id="52"/>
          <p:cNvGrpSpPr/>
          <p:nvPr/>
        </p:nvGrpSpPr>
        <p:grpSpPr>
          <a:xfrm rot="0">
            <a:off x="685800" y="9669780"/>
            <a:ext cx="5486400" cy="411480"/>
            <a:chOff x="0" y="0"/>
            <a:chExt cx="7315200" cy="548640"/>
          </a:xfrm>
        </p:grpSpPr>
        <p:sp>
          <p:nvSpPr>
            <p:cNvPr name="Freeform 53" id="53"/>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54" id="54"/>
            <p:cNvSpPr txBox="true"/>
            <p:nvPr/>
          </p:nvSpPr>
          <p:spPr>
            <a:xfrm>
              <a:off x="0" y="-38100"/>
              <a:ext cx="7315200" cy="586740"/>
            </a:xfrm>
            <a:prstGeom prst="rect">
              <a:avLst/>
            </a:prstGeom>
          </p:spPr>
          <p:txBody>
            <a:bodyPr anchor="ctr" rtlCol="false" tIns="0" lIns="0" bIns="0" rIns="0"/>
            <a:lstStyle/>
            <a:p>
              <a:pPr algn="l">
                <a:lnSpc>
                  <a:spcPts val="2160"/>
                </a:lnSpc>
              </a:pPr>
              <a:r>
                <a:rPr lang="en-US" sz="1800">
                  <a:solidFill>
                    <a:srgbClr val="5B6472"/>
                  </a:solidFill>
                  <a:latin typeface="Calibri (MS)"/>
                  <a:ea typeface="Calibri (MS)"/>
                  <a:cs typeface="Calibri (MS)"/>
                  <a:sym typeface="Calibri (MS)"/>
                </a:rPr>
                <a:t>GA · 2D Ackley Function</a:t>
              </a:r>
            </a:p>
          </p:txBody>
        </p:sp>
      </p:grpSp>
      <p:sp>
        <p:nvSpPr>
          <p:cNvPr name="Freeform 55" id="55"/>
          <p:cNvSpPr/>
          <p:nvPr/>
        </p:nvSpPr>
        <p:spPr>
          <a:xfrm flipH="false" flipV="false" rot="0">
            <a:off x="822960" y="2117088"/>
            <a:ext cx="9464040" cy="1866273"/>
          </a:xfrm>
          <a:custGeom>
            <a:avLst/>
            <a:gdLst/>
            <a:ahLst/>
            <a:cxnLst/>
            <a:rect r="r" b="b" t="t" l="l"/>
            <a:pathLst>
              <a:path h="1866273" w="9464040">
                <a:moveTo>
                  <a:pt x="0" y="0"/>
                </a:moveTo>
                <a:lnTo>
                  <a:pt x="9464040" y="0"/>
                </a:lnTo>
                <a:lnTo>
                  <a:pt x="9464040" y="1866274"/>
                </a:lnTo>
                <a:lnTo>
                  <a:pt x="0" y="1866274"/>
                </a:lnTo>
                <a:lnTo>
                  <a:pt x="0" y="0"/>
                </a:lnTo>
                <a:close/>
              </a:path>
            </a:pathLst>
          </a:custGeom>
          <a:blipFill>
            <a:blip r:embed="rId5"/>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47625"/>
              <a:ext cx="14630400" cy="687705"/>
            </a:xfrm>
            <a:prstGeom prst="rect">
              <a:avLst/>
            </a:prstGeom>
          </p:spPr>
          <p:txBody>
            <a:bodyPr anchor="ctr" rtlCol="false" tIns="0" lIns="0" bIns="0" rIns="0"/>
            <a:lstStyle/>
            <a:p>
              <a:pPr algn="l">
                <a:lnSpc>
                  <a:spcPts val="2340"/>
                </a:lnSpc>
              </a:pPr>
              <a:r>
                <a:rPr lang="en-US" b="true" sz="1950" spc="299">
                  <a:solidFill>
                    <a:srgbClr val="1C7293"/>
                  </a:solidFill>
                  <a:latin typeface="Calibri (MS) Bold"/>
                  <a:ea typeface="Calibri (MS) Bold"/>
                  <a:cs typeface="Calibri (MS) Bold"/>
                  <a:sym typeface="Calibri (MS) Bold"/>
                </a:rPr>
                <a:t>INPUT</a:t>
              </a:r>
            </a:p>
          </p:txBody>
        </p:sp>
      </p:grpSp>
      <p:grpSp>
        <p:nvGrpSpPr>
          <p:cNvPr name="Group 5" id="5"/>
          <p:cNvGrpSpPr/>
          <p:nvPr/>
        </p:nvGrpSpPr>
        <p:grpSpPr>
          <a:xfrm rot="0">
            <a:off x="822960" y="987552"/>
            <a:ext cx="15910560" cy="960120"/>
            <a:chOff x="0" y="0"/>
            <a:chExt cx="21214080" cy="1280160"/>
          </a:xfrm>
        </p:grpSpPr>
        <p:sp>
          <p:nvSpPr>
            <p:cNvPr name="Freeform 6" id="6"/>
            <p:cNvSpPr/>
            <p:nvPr/>
          </p:nvSpPr>
          <p:spPr>
            <a:xfrm flipH="false" flipV="false" rot="0">
              <a:off x="0" y="0"/>
              <a:ext cx="21214080" cy="1280160"/>
            </a:xfrm>
            <a:custGeom>
              <a:avLst/>
              <a:gdLst/>
              <a:ahLst/>
              <a:cxnLst/>
              <a:rect r="r" b="b" t="t" l="l"/>
              <a:pathLst>
                <a:path h="1280160" w="21214080">
                  <a:moveTo>
                    <a:pt x="0" y="0"/>
                  </a:moveTo>
                  <a:lnTo>
                    <a:pt x="21214080" y="0"/>
                  </a:lnTo>
                  <a:lnTo>
                    <a:pt x="21214080" y="1280160"/>
                  </a:lnTo>
                  <a:lnTo>
                    <a:pt x="0" y="1280160"/>
                  </a:lnTo>
                  <a:close/>
                </a:path>
              </a:pathLst>
            </a:custGeom>
            <a:blipFill>
              <a:blip r:embed="rId3">
                <a:alphaModFix amt="0"/>
              </a:blip>
              <a:stretch>
                <a:fillRect l="0" t="-272894" r="0" b="-272894"/>
              </a:stretch>
            </a:blipFill>
          </p:spPr>
        </p:sp>
        <p:sp>
          <p:nvSpPr>
            <p:cNvPr name="TextBox 7" id="7"/>
            <p:cNvSpPr txBox="true"/>
            <p:nvPr/>
          </p:nvSpPr>
          <p:spPr>
            <a:xfrm>
              <a:off x="0" y="-19050"/>
              <a:ext cx="21214080" cy="1299210"/>
            </a:xfrm>
            <a:prstGeom prst="rect">
              <a:avLst/>
            </a:prstGeom>
          </p:spPr>
          <p:txBody>
            <a:bodyPr anchor="ctr" rtlCol="false" tIns="0" lIns="0" bIns="0" rIns="0"/>
            <a:lstStyle/>
            <a:p>
              <a:pPr algn="l">
                <a:lnSpc>
                  <a:spcPts val="5400"/>
                </a:lnSpc>
              </a:pPr>
              <a:r>
                <a:rPr lang="en-US" sz="4500" b="true">
                  <a:solidFill>
                    <a:srgbClr val="1B1F27"/>
                  </a:solidFill>
                  <a:latin typeface="Cambria Bold"/>
                  <a:ea typeface="Cambria Bold"/>
                  <a:cs typeface="Cambria Bold"/>
                  <a:sym typeface="Cambria Bold"/>
                </a:rPr>
                <a:t>What goes into the system</a:t>
              </a:r>
            </a:p>
          </p:txBody>
        </p:sp>
      </p:grpSp>
      <p:grpSp>
        <p:nvGrpSpPr>
          <p:cNvPr name="Group 8" id="8"/>
          <p:cNvGrpSpPr/>
          <p:nvPr/>
        </p:nvGrpSpPr>
        <p:grpSpPr>
          <a:xfrm rot="0">
            <a:off x="813435" y="2322195"/>
            <a:ext cx="8111490" cy="6739890"/>
            <a:chOff x="0" y="0"/>
            <a:chExt cx="10815320" cy="8986520"/>
          </a:xfrm>
        </p:grpSpPr>
        <p:sp>
          <p:nvSpPr>
            <p:cNvPr name="Freeform 9" id="9"/>
            <p:cNvSpPr/>
            <p:nvPr/>
          </p:nvSpPr>
          <p:spPr>
            <a:xfrm flipH="false" flipV="false" rot="0">
              <a:off x="0" y="0"/>
              <a:ext cx="10815320" cy="8986520"/>
            </a:xfrm>
            <a:custGeom>
              <a:avLst/>
              <a:gdLst/>
              <a:ahLst/>
              <a:cxnLst/>
              <a:rect r="r" b="b" t="t" l="l"/>
              <a:pathLst>
                <a:path h="8986520" w="10815320">
                  <a:moveTo>
                    <a:pt x="0" y="146812"/>
                  </a:moveTo>
                  <a:cubicBezTo>
                    <a:pt x="0" y="65659"/>
                    <a:pt x="65659" y="0"/>
                    <a:pt x="146812" y="0"/>
                  </a:cubicBezTo>
                  <a:lnTo>
                    <a:pt x="10668508" y="0"/>
                  </a:lnTo>
                  <a:cubicBezTo>
                    <a:pt x="10749534" y="0"/>
                    <a:pt x="10815320" y="65659"/>
                    <a:pt x="10815320" y="146812"/>
                  </a:cubicBezTo>
                  <a:lnTo>
                    <a:pt x="10815320" y="8839708"/>
                  </a:lnTo>
                  <a:cubicBezTo>
                    <a:pt x="10815320" y="8920734"/>
                    <a:pt x="10749661" y="8986520"/>
                    <a:pt x="10668508" y="8986520"/>
                  </a:cubicBezTo>
                  <a:lnTo>
                    <a:pt x="146812" y="8986520"/>
                  </a:lnTo>
                  <a:cubicBezTo>
                    <a:pt x="65659" y="8986520"/>
                    <a:pt x="0" y="8920861"/>
                    <a:pt x="0" y="8839708"/>
                  </a:cubicBezTo>
                  <a:close/>
                </a:path>
              </a:pathLst>
            </a:custGeom>
            <a:solidFill>
              <a:srgbClr val="FFFFFF"/>
            </a:solidFill>
            <a:ln w="19050" cap="sq">
              <a:solidFill>
                <a:srgbClr val="E3E9EE"/>
              </a:solidFill>
              <a:prstDash val="solid"/>
              <a:miter/>
            </a:ln>
          </p:spPr>
        </p:sp>
      </p:grpSp>
      <p:grpSp>
        <p:nvGrpSpPr>
          <p:cNvPr name="Group 10" id="10"/>
          <p:cNvGrpSpPr/>
          <p:nvPr/>
        </p:nvGrpSpPr>
        <p:grpSpPr>
          <a:xfrm rot="0">
            <a:off x="1303020" y="2550795"/>
            <a:ext cx="7269480" cy="548640"/>
            <a:chOff x="0" y="0"/>
            <a:chExt cx="9692640" cy="731520"/>
          </a:xfrm>
        </p:grpSpPr>
        <p:sp>
          <p:nvSpPr>
            <p:cNvPr name="Freeform 11" id="11"/>
            <p:cNvSpPr/>
            <p:nvPr/>
          </p:nvSpPr>
          <p:spPr>
            <a:xfrm flipH="false" flipV="false" rot="0">
              <a:off x="0" y="0"/>
              <a:ext cx="9692640" cy="731520"/>
            </a:xfrm>
            <a:custGeom>
              <a:avLst/>
              <a:gdLst/>
              <a:ahLst/>
              <a:cxnLst/>
              <a:rect r="r" b="b" t="t" l="l"/>
              <a:pathLst>
                <a:path h="731520" w="9692640">
                  <a:moveTo>
                    <a:pt x="0" y="0"/>
                  </a:moveTo>
                  <a:lnTo>
                    <a:pt x="9692640" y="0"/>
                  </a:lnTo>
                  <a:lnTo>
                    <a:pt x="9692640" y="731520"/>
                  </a:lnTo>
                  <a:lnTo>
                    <a:pt x="0" y="731520"/>
                  </a:lnTo>
                  <a:close/>
                </a:path>
              </a:pathLst>
            </a:custGeom>
            <a:blipFill>
              <a:blip r:embed="rId3">
                <a:alphaModFix amt="0"/>
              </a:blip>
              <a:stretch>
                <a:fillRect l="0" t="-208176" r="0" b="-208176"/>
              </a:stretch>
            </a:blipFill>
          </p:spPr>
        </p:sp>
        <p:sp>
          <p:nvSpPr>
            <p:cNvPr name="TextBox 12" id="12"/>
            <p:cNvSpPr txBox="true"/>
            <p:nvPr/>
          </p:nvSpPr>
          <p:spPr>
            <a:xfrm>
              <a:off x="0" y="-19050"/>
              <a:ext cx="9692640" cy="750570"/>
            </a:xfrm>
            <a:prstGeom prst="rect">
              <a:avLst/>
            </a:prstGeom>
          </p:spPr>
          <p:txBody>
            <a:bodyPr anchor="ctr" rtlCol="false" tIns="0" lIns="0" bIns="0" rIns="0"/>
            <a:lstStyle/>
            <a:p>
              <a:pPr algn="l">
                <a:lnSpc>
                  <a:spcPts val="4320"/>
                </a:lnSpc>
              </a:pPr>
              <a:r>
                <a:rPr lang="en-US" sz="3600" b="true">
                  <a:solidFill>
                    <a:srgbClr val="0B2A4A"/>
                  </a:solidFill>
                  <a:latin typeface="Cambria Bold"/>
                  <a:ea typeface="Cambria Bold"/>
                  <a:cs typeface="Cambria Bold"/>
                  <a:sym typeface="Cambria Bold"/>
                </a:rPr>
                <a:t>Objective function</a:t>
              </a:r>
            </a:p>
          </p:txBody>
        </p:sp>
      </p:grpSp>
      <p:grpSp>
        <p:nvGrpSpPr>
          <p:cNvPr name="Group 13" id="13"/>
          <p:cNvGrpSpPr/>
          <p:nvPr/>
        </p:nvGrpSpPr>
        <p:grpSpPr>
          <a:xfrm rot="0">
            <a:off x="1303020" y="3291840"/>
            <a:ext cx="7132320" cy="960120"/>
            <a:chOff x="0" y="0"/>
            <a:chExt cx="9509760" cy="1280160"/>
          </a:xfrm>
        </p:grpSpPr>
        <p:sp>
          <p:nvSpPr>
            <p:cNvPr name="Freeform 14" id="14"/>
            <p:cNvSpPr/>
            <p:nvPr/>
          </p:nvSpPr>
          <p:spPr>
            <a:xfrm flipH="false" flipV="false" rot="0">
              <a:off x="0" y="0"/>
              <a:ext cx="9509760" cy="1280160"/>
            </a:xfrm>
            <a:custGeom>
              <a:avLst/>
              <a:gdLst/>
              <a:ahLst/>
              <a:cxnLst/>
              <a:rect r="r" b="b" t="t" l="l"/>
              <a:pathLst>
                <a:path h="1280160" w="9509760">
                  <a:moveTo>
                    <a:pt x="0" y="109728"/>
                  </a:moveTo>
                  <a:cubicBezTo>
                    <a:pt x="0" y="49149"/>
                    <a:pt x="49149" y="0"/>
                    <a:pt x="109728" y="0"/>
                  </a:cubicBezTo>
                  <a:lnTo>
                    <a:pt x="9400032" y="0"/>
                  </a:lnTo>
                  <a:cubicBezTo>
                    <a:pt x="9460611" y="0"/>
                    <a:pt x="9509760" y="49149"/>
                    <a:pt x="9509760" y="109728"/>
                  </a:cubicBezTo>
                  <a:lnTo>
                    <a:pt x="9509760" y="1170432"/>
                  </a:lnTo>
                  <a:cubicBezTo>
                    <a:pt x="9509760" y="1231011"/>
                    <a:pt x="9460611" y="1280160"/>
                    <a:pt x="9400032" y="1280160"/>
                  </a:cubicBezTo>
                  <a:lnTo>
                    <a:pt x="109728" y="1280160"/>
                  </a:lnTo>
                  <a:cubicBezTo>
                    <a:pt x="49149" y="1280160"/>
                    <a:pt x="0" y="1231011"/>
                    <a:pt x="0" y="1170432"/>
                  </a:cubicBezTo>
                  <a:close/>
                </a:path>
              </a:pathLst>
            </a:custGeom>
            <a:solidFill>
              <a:srgbClr val="0B2A4A"/>
            </a:solidFill>
          </p:spPr>
        </p:sp>
      </p:grpSp>
      <p:grpSp>
        <p:nvGrpSpPr>
          <p:cNvPr name="Group 15" id="15"/>
          <p:cNvGrpSpPr/>
          <p:nvPr/>
        </p:nvGrpSpPr>
        <p:grpSpPr>
          <a:xfrm rot="0">
            <a:off x="1440180" y="3291840"/>
            <a:ext cx="6858000" cy="960120"/>
            <a:chOff x="0" y="0"/>
            <a:chExt cx="9144000" cy="1280160"/>
          </a:xfrm>
        </p:grpSpPr>
        <p:sp>
          <p:nvSpPr>
            <p:cNvPr name="Freeform 16" id="16"/>
            <p:cNvSpPr/>
            <p:nvPr/>
          </p:nvSpPr>
          <p:spPr>
            <a:xfrm flipH="false" flipV="false" rot="0">
              <a:off x="0" y="0"/>
              <a:ext cx="9144000" cy="1280160"/>
            </a:xfrm>
            <a:custGeom>
              <a:avLst/>
              <a:gdLst/>
              <a:ahLst/>
              <a:cxnLst/>
              <a:rect r="r" b="b" t="t" l="l"/>
              <a:pathLst>
                <a:path h="1280160" w="9144000">
                  <a:moveTo>
                    <a:pt x="0" y="0"/>
                  </a:moveTo>
                  <a:lnTo>
                    <a:pt x="9144000" y="0"/>
                  </a:lnTo>
                  <a:lnTo>
                    <a:pt x="9144000" y="1280160"/>
                  </a:lnTo>
                  <a:lnTo>
                    <a:pt x="0" y="1280160"/>
                  </a:lnTo>
                  <a:close/>
                </a:path>
              </a:pathLst>
            </a:custGeom>
            <a:blipFill>
              <a:blip r:embed="rId3">
                <a:alphaModFix amt="0"/>
              </a:blip>
              <a:stretch>
                <a:fillRect l="0" t="-89178" r="0" b="-89178"/>
              </a:stretch>
            </a:blipFill>
          </p:spPr>
        </p:sp>
        <p:sp>
          <p:nvSpPr>
            <p:cNvPr name="TextBox 17" id="17"/>
            <p:cNvSpPr txBox="true"/>
            <p:nvPr/>
          </p:nvSpPr>
          <p:spPr>
            <a:xfrm>
              <a:off x="0" y="-47625"/>
              <a:ext cx="9144000" cy="1327785"/>
            </a:xfrm>
            <a:prstGeom prst="rect">
              <a:avLst/>
            </a:prstGeom>
          </p:spPr>
          <p:txBody>
            <a:bodyPr anchor="ctr" rtlCol="false" tIns="0" lIns="0" bIns="0" rIns="0"/>
            <a:lstStyle/>
            <a:p>
              <a:pPr algn="ctr">
                <a:lnSpc>
                  <a:spcPts val="2520"/>
                </a:lnSpc>
              </a:pPr>
              <a:r>
                <a:rPr lang="en-US" sz="2100">
                  <a:solidFill>
                    <a:srgbClr val="FFFFFF"/>
                  </a:solidFill>
                  <a:latin typeface="Consolas"/>
                  <a:ea typeface="Consolas"/>
                  <a:cs typeface="Consolas"/>
                  <a:sym typeface="Consolas"/>
                </a:rPr>
                <a:t>f(x1,x2) = -a·exp(-b√0.5(x1²+x2²)) - exp(0.5(cos(cx1)+cos(cx2))) + a + e</a:t>
              </a:r>
            </a:p>
          </p:txBody>
        </p:sp>
      </p:grpSp>
      <p:graphicFrame>
        <p:nvGraphicFramePr>
          <p:cNvPr name="Table 18" id="18"/>
          <p:cNvGraphicFramePr>
            <a:graphicFrameLocks noGrp="true"/>
          </p:cNvGraphicFramePr>
          <p:nvPr/>
        </p:nvGraphicFramePr>
        <p:xfrm>
          <a:off x="1303020" y="4526280"/>
          <a:ext cx="7105650" cy="2381250"/>
        </p:xfrm>
        <a:graphic>
          <a:graphicData uri="http://schemas.openxmlformats.org/drawingml/2006/table">
            <a:tbl>
              <a:tblPr/>
              <a:tblGrid>
                <a:gridCol w="1513397"/>
                <a:gridCol w="1783445"/>
                <a:gridCol w="3808808"/>
              </a:tblGrid>
              <a:tr h="476250">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Param</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1C7293"/>
                    </a:solidFill>
                  </a:tcPr>
                </a:tc>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Value</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1C7293"/>
                    </a:solidFill>
                  </a:tcPr>
                </a:tc>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Meaning</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1C7293"/>
                    </a:solidFill>
                  </a:tcPr>
                </a:tc>
              </a:tr>
              <a:tr h="476250">
                <a:tc>
                  <a:txBody>
                    <a:bodyPr anchor="t" rtlCol="false"/>
                    <a:lstStyle/>
                    <a:p>
                      <a:pPr algn="ctr">
                        <a:lnSpc>
                          <a:spcPts val="2520"/>
                        </a:lnSpc>
                        <a:defRPr/>
                      </a:pPr>
                      <a:r>
                        <a:rPr lang="en-US" sz="2100">
                          <a:solidFill>
                            <a:srgbClr val="1B1F27"/>
                          </a:solidFill>
                          <a:latin typeface="Calibri (MS)"/>
                          <a:ea typeface="Calibri (MS)"/>
                          <a:cs typeface="Calibri (MS)"/>
                          <a:sym typeface="Calibri (MS)"/>
                        </a:rPr>
                        <a:t>a</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1B1F27"/>
                          </a:solidFill>
                          <a:latin typeface="Calibri (MS)"/>
                          <a:ea typeface="Calibri (MS)"/>
                          <a:cs typeface="Calibri (MS)"/>
                          <a:sym typeface="Calibri (MS)"/>
                        </a:rPr>
                        <a:t>20.0</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B1F27"/>
                          </a:solidFill>
                          <a:latin typeface="Calibri (MS)"/>
                          <a:ea typeface="Calibri (MS)"/>
                          <a:cs typeface="Calibri (MS)"/>
                          <a:sym typeface="Calibri (MS)"/>
                        </a:rPr>
                        <a:t>Scaling constant</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r>
              <a:tr h="476250">
                <a:tc>
                  <a:txBody>
                    <a:bodyPr anchor="t" rtlCol="false"/>
                    <a:lstStyle/>
                    <a:p>
                      <a:pPr algn="ctr">
                        <a:lnSpc>
                          <a:spcPts val="2520"/>
                        </a:lnSpc>
                        <a:defRPr/>
                      </a:pPr>
                      <a:r>
                        <a:rPr lang="en-US" sz="2100">
                          <a:solidFill>
                            <a:srgbClr val="1B1F27"/>
                          </a:solidFill>
                          <a:latin typeface="Calibri (MS)"/>
                          <a:ea typeface="Calibri (MS)"/>
                          <a:cs typeface="Calibri (MS)"/>
                          <a:sym typeface="Calibri (MS)"/>
                        </a:rPr>
                        <a:t>b</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1B1F27"/>
                          </a:solidFill>
                          <a:latin typeface="Calibri (MS)"/>
                          <a:ea typeface="Calibri (MS)"/>
                          <a:cs typeface="Calibri (MS)"/>
                          <a:sym typeface="Calibri (MS)"/>
                        </a:rPr>
                        <a:t>0.2</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B1F27"/>
                          </a:solidFill>
                          <a:latin typeface="Calibri (MS)"/>
                          <a:ea typeface="Calibri (MS)"/>
                          <a:cs typeface="Calibri (MS)"/>
                          <a:sym typeface="Calibri (MS)"/>
                        </a:rPr>
                        <a:t>Exponential decay</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r>
              <a:tr h="476250">
                <a:tc>
                  <a:txBody>
                    <a:bodyPr anchor="t" rtlCol="false"/>
                    <a:lstStyle/>
                    <a:p>
                      <a:pPr algn="ctr">
                        <a:lnSpc>
                          <a:spcPts val="2520"/>
                        </a:lnSpc>
                        <a:defRPr/>
                      </a:pPr>
                      <a:r>
                        <a:rPr lang="en-US" sz="2100">
                          <a:solidFill>
                            <a:srgbClr val="1B1F27"/>
                          </a:solidFill>
                          <a:latin typeface="Calibri (MS)"/>
                          <a:ea typeface="Calibri (MS)"/>
                          <a:cs typeface="Calibri (MS)"/>
                          <a:sym typeface="Calibri (MS)"/>
                        </a:rPr>
                        <a:t>c</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1B1F27"/>
                          </a:solidFill>
                          <a:latin typeface="Calibri (MS)"/>
                          <a:ea typeface="Calibri (MS)"/>
                          <a:cs typeface="Calibri (MS)"/>
                          <a:sym typeface="Calibri (MS)"/>
                        </a:rPr>
                        <a:t>2π</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B1F27"/>
                          </a:solidFill>
                          <a:latin typeface="Calibri (MS)"/>
                          <a:ea typeface="Calibri (MS)"/>
                          <a:cs typeface="Calibri (MS)"/>
                          <a:sym typeface="Calibri (MS)"/>
                        </a:rPr>
                        <a:t>Cosine frequency</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r>
              <a:tr h="476250">
                <a:tc>
                  <a:txBody>
                    <a:bodyPr anchor="t" rtlCol="false"/>
                    <a:lstStyle/>
                    <a:p>
                      <a:pPr algn="ctr">
                        <a:lnSpc>
                          <a:spcPts val="2520"/>
                        </a:lnSpc>
                        <a:defRPr/>
                      </a:pPr>
                      <a:r>
                        <a:rPr lang="en-US" sz="2100">
                          <a:solidFill>
                            <a:srgbClr val="1B1F27"/>
                          </a:solidFill>
                          <a:latin typeface="Calibri (MS)"/>
                          <a:ea typeface="Calibri (MS)"/>
                          <a:cs typeface="Calibri (MS)"/>
                          <a:sym typeface="Calibri (MS)"/>
                        </a:rPr>
                        <a:t>Domain</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sz="2100">
                          <a:solidFill>
                            <a:srgbClr val="1B1F27"/>
                          </a:solidFill>
                          <a:latin typeface="Calibri (MS)"/>
                          <a:ea typeface="Calibri (MS)"/>
                          <a:cs typeface="Calibri (MS)"/>
                          <a:sym typeface="Calibri (MS)"/>
                        </a:rPr>
                        <a:t>[-5, 5]</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1B1F27"/>
                          </a:solidFill>
                          <a:latin typeface="Calibri (MS)"/>
                          <a:ea typeface="Calibri (MS)"/>
                          <a:cs typeface="Calibri (MS)"/>
                          <a:sym typeface="Calibri (MS)"/>
                        </a:rPr>
                        <a:t>For both x1 and x2</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r>
            </a:tbl>
          </a:graphicData>
        </a:graphic>
      </p:graphicFrame>
      <p:grpSp>
        <p:nvGrpSpPr>
          <p:cNvPr name="Group 19" id="19"/>
          <p:cNvGrpSpPr/>
          <p:nvPr/>
        </p:nvGrpSpPr>
        <p:grpSpPr>
          <a:xfrm rot="0">
            <a:off x="1303020" y="7200900"/>
            <a:ext cx="7132320" cy="842218"/>
            <a:chOff x="0" y="0"/>
            <a:chExt cx="9509760" cy="1122958"/>
          </a:xfrm>
        </p:grpSpPr>
        <p:sp>
          <p:nvSpPr>
            <p:cNvPr name="Freeform 20" id="20"/>
            <p:cNvSpPr/>
            <p:nvPr/>
          </p:nvSpPr>
          <p:spPr>
            <a:xfrm flipH="false" flipV="false" rot="0">
              <a:off x="0" y="0"/>
              <a:ext cx="9509760" cy="1122958"/>
            </a:xfrm>
            <a:custGeom>
              <a:avLst/>
              <a:gdLst/>
              <a:ahLst/>
              <a:cxnLst/>
              <a:rect r="r" b="b" t="t" l="l"/>
              <a:pathLst>
                <a:path h="1122958" w="9509760">
                  <a:moveTo>
                    <a:pt x="0" y="0"/>
                  </a:moveTo>
                  <a:lnTo>
                    <a:pt x="9509760" y="0"/>
                  </a:lnTo>
                  <a:lnTo>
                    <a:pt x="9509760" y="1122958"/>
                  </a:lnTo>
                  <a:lnTo>
                    <a:pt x="0" y="1122958"/>
                  </a:lnTo>
                  <a:close/>
                </a:path>
              </a:pathLst>
            </a:custGeom>
            <a:blipFill>
              <a:blip r:embed="rId3">
                <a:alphaModFix amt="0"/>
              </a:blip>
              <a:stretch>
                <a:fillRect l="0" t="-132437" r="0" b="-97580"/>
              </a:stretch>
            </a:blipFill>
          </p:spPr>
        </p:sp>
        <p:sp>
          <p:nvSpPr>
            <p:cNvPr name="TextBox 21" id="21"/>
            <p:cNvSpPr txBox="true"/>
            <p:nvPr/>
          </p:nvSpPr>
          <p:spPr>
            <a:xfrm>
              <a:off x="0" y="-38100"/>
              <a:ext cx="9509760" cy="1161058"/>
            </a:xfrm>
            <a:prstGeom prst="rect">
              <a:avLst/>
            </a:prstGeom>
          </p:spPr>
          <p:txBody>
            <a:bodyPr anchor="ctr" rtlCol="false" tIns="0" lIns="0" bIns="0" rIns="0"/>
            <a:lstStyle/>
            <a:p>
              <a:pPr algn="l">
                <a:lnSpc>
                  <a:spcPts val="2879"/>
                </a:lnSpc>
              </a:pPr>
              <a:r>
                <a:rPr lang="en-US" sz="2400" i="true">
                  <a:solidFill>
                    <a:srgbClr val="5B6472"/>
                  </a:solidFill>
                  <a:latin typeface="Calibri (MS) Italics"/>
                  <a:ea typeface="Calibri (MS) Italics"/>
                  <a:cs typeface="Calibri (MS) Italics"/>
                  <a:sym typeface="Calibri (MS) Italics"/>
                </a:rPr>
                <a:t>Fitness = Ackley value itself   •   lower is better   •   target = 0 at (0,0)</a:t>
              </a:r>
            </a:p>
          </p:txBody>
        </p:sp>
      </p:grpSp>
      <p:grpSp>
        <p:nvGrpSpPr>
          <p:cNvPr name="Group 22" id="22"/>
          <p:cNvGrpSpPr/>
          <p:nvPr/>
        </p:nvGrpSpPr>
        <p:grpSpPr>
          <a:xfrm rot="0">
            <a:off x="1303020" y="8017002"/>
            <a:ext cx="7132320" cy="960120"/>
            <a:chOff x="0" y="0"/>
            <a:chExt cx="9509760" cy="1280160"/>
          </a:xfrm>
        </p:grpSpPr>
        <p:sp>
          <p:nvSpPr>
            <p:cNvPr name="Freeform 23" id="23"/>
            <p:cNvSpPr/>
            <p:nvPr/>
          </p:nvSpPr>
          <p:spPr>
            <a:xfrm flipH="false" flipV="false" rot="0">
              <a:off x="0" y="0"/>
              <a:ext cx="9509760" cy="1280160"/>
            </a:xfrm>
            <a:custGeom>
              <a:avLst/>
              <a:gdLst/>
              <a:ahLst/>
              <a:cxnLst/>
              <a:rect r="r" b="b" t="t" l="l"/>
              <a:pathLst>
                <a:path h="1280160" w="9509760">
                  <a:moveTo>
                    <a:pt x="0" y="0"/>
                  </a:moveTo>
                  <a:lnTo>
                    <a:pt x="9509760" y="0"/>
                  </a:lnTo>
                  <a:lnTo>
                    <a:pt x="9509760" y="1280160"/>
                  </a:lnTo>
                  <a:lnTo>
                    <a:pt x="0" y="1280160"/>
                  </a:lnTo>
                  <a:close/>
                </a:path>
              </a:pathLst>
            </a:custGeom>
            <a:blipFill>
              <a:blip r:embed="rId3">
                <a:alphaModFix amt="0"/>
              </a:blip>
              <a:stretch>
                <a:fillRect l="0" t="-94745" r="0" b="-94745"/>
              </a:stretch>
            </a:blipFill>
          </p:spPr>
        </p:sp>
        <p:sp>
          <p:nvSpPr>
            <p:cNvPr name="TextBox 24" id="24"/>
            <p:cNvSpPr txBox="true"/>
            <p:nvPr/>
          </p:nvSpPr>
          <p:spPr>
            <a:xfrm>
              <a:off x="0" y="-95250"/>
              <a:ext cx="9509760" cy="1375410"/>
            </a:xfrm>
            <a:prstGeom prst="rect">
              <a:avLst/>
            </a:prstGeom>
          </p:spPr>
          <p:txBody>
            <a:bodyPr anchor="ctr" rtlCol="false" tIns="0" lIns="0" bIns="0" rIns="0"/>
            <a:lstStyle/>
            <a:p>
              <a:pPr algn="l">
                <a:lnSpc>
                  <a:spcPts val="3456"/>
                </a:lnSpc>
              </a:pPr>
              <a:r>
                <a:rPr lang="en-US" sz="2400">
                  <a:solidFill>
                    <a:srgbClr val="1B1F27"/>
                  </a:solidFill>
                  <a:latin typeface="Calibri (MS)"/>
                  <a:ea typeface="Calibri (MS)"/>
                  <a:cs typeface="Calibri (MS)"/>
                  <a:sym typeface="Calibri (MS)"/>
                </a:rPr>
                <a:t>Chromosome: [x1, x2] ∈ ℝ², each gene initialized uniformly at random inside [-5, 5].</a:t>
              </a:r>
            </a:p>
          </p:txBody>
        </p:sp>
      </p:grpSp>
      <p:grpSp>
        <p:nvGrpSpPr>
          <p:cNvPr name="Group 25" id="25"/>
          <p:cNvGrpSpPr/>
          <p:nvPr/>
        </p:nvGrpSpPr>
        <p:grpSpPr>
          <a:xfrm rot="0">
            <a:off x="9258300" y="2331720"/>
            <a:ext cx="8229600" cy="6720840"/>
            <a:chOff x="0" y="0"/>
            <a:chExt cx="10972800" cy="8961120"/>
          </a:xfrm>
        </p:grpSpPr>
        <p:sp>
          <p:nvSpPr>
            <p:cNvPr name="Freeform 26" id="26"/>
            <p:cNvSpPr/>
            <p:nvPr/>
          </p:nvSpPr>
          <p:spPr>
            <a:xfrm flipH="false" flipV="false" rot="0">
              <a:off x="0" y="0"/>
              <a:ext cx="10972800" cy="8961120"/>
            </a:xfrm>
            <a:custGeom>
              <a:avLst/>
              <a:gdLst/>
              <a:ahLst/>
              <a:cxnLst/>
              <a:rect r="r" b="b" t="t" l="l"/>
              <a:pathLst>
                <a:path h="8961120" w="10972800">
                  <a:moveTo>
                    <a:pt x="0" y="146304"/>
                  </a:moveTo>
                  <a:cubicBezTo>
                    <a:pt x="0" y="65532"/>
                    <a:pt x="65532" y="0"/>
                    <a:pt x="146304" y="0"/>
                  </a:cubicBezTo>
                  <a:lnTo>
                    <a:pt x="10826496" y="0"/>
                  </a:lnTo>
                  <a:cubicBezTo>
                    <a:pt x="10907268" y="0"/>
                    <a:pt x="10972800" y="65532"/>
                    <a:pt x="10972800" y="146304"/>
                  </a:cubicBezTo>
                  <a:lnTo>
                    <a:pt x="10972800" y="8814816"/>
                  </a:lnTo>
                  <a:cubicBezTo>
                    <a:pt x="10972800" y="8895588"/>
                    <a:pt x="10907268" y="8961120"/>
                    <a:pt x="10826496" y="8961120"/>
                  </a:cubicBezTo>
                  <a:lnTo>
                    <a:pt x="146304" y="8961120"/>
                  </a:lnTo>
                  <a:cubicBezTo>
                    <a:pt x="65532" y="8961120"/>
                    <a:pt x="0" y="8895588"/>
                    <a:pt x="0" y="8814816"/>
                  </a:cubicBezTo>
                  <a:close/>
                </a:path>
              </a:pathLst>
            </a:custGeom>
            <a:solidFill>
              <a:srgbClr val="0B2A4A"/>
            </a:solidFill>
          </p:spPr>
        </p:sp>
      </p:grpSp>
      <p:grpSp>
        <p:nvGrpSpPr>
          <p:cNvPr name="Group 27" id="27"/>
          <p:cNvGrpSpPr/>
          <p:nvPr/>
        </p:nvGrpSpPr>
        <p:grpSpPr>
          <a:xfrm rot="0">
            <a:off x="9738360" y="2674620"/>
            <a:ext cx="7269480" cy="548640"/>
            <a:chOff x="0" y="0"/>
            <a:chExt cx="9692640" cy="731520"/>
          </a:xfrm>
        </p:grpSpPr>
        <p:sp>
          <p:nvSpPr>
            <p:cNvPr name="Freeform 28" id="28"/>
            <p:cNvSpPr/>
            <p:nvPr/>
          </p:nvSpPr>
          <p:spPr>
            <a:xfrm flipH="false" flipV="false" rot="0">
              <a:off x="0" y="0"/>
              <a:ext cx="9692640" cy="731520"/>
            </a:xfrm>
            <a:custGeom>
              <a:avLst/>
              <a:gdLst/>
              <a:ahLst/>
              <a:cxnLst/>
              <a:rect r="r" b="b" t="t" l="l"/>
              <a:pathLst>
                <a:path h="731520" w="9692640">
                  <a:moveTo>
                    <a:pt x="0" y="0"/>
                  </a:moveTo>
                  <a:lnTo>
                    <a:pt x="9692640" y="0"/>
                  </a:lnTo>
                  <a:lnTo>
                    <a:pt x="9692640" y="731520"/>
                  </a:lnTo>
                  <a:lnTo>
                    <a:pt x="0" y="731520"/>
                  </a:lnTo>
                  <a:close/>
                </a:path>
              </a:pathLst>
            </a:custGeom>
            <a:blipFill>
              <a:blip r:embed="rId3">
                <a:alphaModFix amt="0"/>
              </a:blip>
              <a:stretch>
                <a:fillRect l="0" t="-208176" r="0" b="-208176"/>
              </a:stretch>
            </a:blipFill>
          </p:spPr>
        </p:sp>
        <p:sp>
          <p:nvSpPr>
            <p:cNvPr name="TextBox 29" id="29"/>
            <p:cNvSpPr txBox="true"/>
            <p:nvPr/>
          </p:nvSpPr>
          <p:spPr>
            <a:xfrm>
              <a:off x="0" y="-9525"/>
              <a:ext cx="9692640" cy="741045"/>
            </a:xfrm>
            <a:prstGeom prst="rect">
              <a:avLst/>
            </a:prstGeom>
          </p:spPr>
          <p:txBody>
            <a:bodyPr anchor="ctr" rtlCol="false" tIns="0" lIns="0" bIns="0" rIns="0"/>
            <a:lstStyle/>
            <a:p>
              <a:pPr algn="l">
                <a:lnSpc>
                  <a:spcPts val="2879"/>
                </a:lnSpc>
              </a:pPr>
              <a:r>
                <a:rPr lang="en-US" sz="2400" b="true">
                  <a:solidFill>
                    <a:srgbClr val="FFFFFF"/>
                  </a:solidFill>
                  <a:latin typeface="Cambria Bold"/>
                  <a:ea typeface="Cambria Bold"/>
                  <a:cs typeface="Cambria Bold"/>
                  <a:sym typeface="Cambria Bold"/>
                </a:rPr>
                <a:t>GA hyperparameters</a:t>
              </a:r>
            </a:p>
          </p:txBody>
        </p:sp>
      </p:grpSp>
      <p:grpSp>
        <p:nvGrpSpPr>
          <p:cNvPr name="Group 30" id="30"/>
          <p:cNvGrpSpPr/>
          <p:nvPr/>
        </p:nvGrpSpPr>
        <p:grpSpPr>
          <a:xfrm rot="0">
            <a:off x="9738360" y="3429000"/>
            <a:ext cx="3497580" cy="1207008"/>
            <a:chOff x="0" y="0"/>
            <a:chExt cx="4663440" cy="1609344"/>
          </a:xfrm>
        </p:grpSpPr>
        <p:sp>
          <p:nvSpPr>
            <p:cNvPr name="Freeform 31" id="31"/>
            <p:cNvSpPr/>
            <p:nvPr/>
          </p:nvSpPr>
          <p:spPr>
            <a:xfrm flipH="false" flipV="false" rot="0">
              <a:off x="0" y="0"/>
              <a:ext cx="4663440" cy="1609344"/>
            </a:xfrm>
            <a:custGeom>
              <a:avLst/>
              <a:gdLst/>
              <a:ahLst/>
              <a:cxnLst/>
              <a:rect r="r" b="b" t="t" l="l"/>
              <a:pathLst>
                <a:path h="1609344" w="4663440">
                  <a:moveTo>
                    <a:pt x="0" y="109728"/>
                  </a:moveTo>
                  <a:cubicBezTo>
                    <a:pt x="0" y="49149"/>
                    <a:pt x="49149" y="0"/>
                    <a:pt x="109728" y="0"/>
                  </a:cubicBezTo>
                  <a:lnTo>
                    <a:pt x="4553712" y="0"/>
                  </a:lnTo>
                  <a:cubicBezTo>
                    <a:pt x="4614291" y="0"/>
                    <a:pt x="4663440" y="49149"/>
                    <a:pt x="4663440" y="109728"/>
                  </a:cubicBezTo>
                  <a:lnTo>
                    <a:pt x="4663440" y="1499616"/>
                  </a:lnTo>
                  <a:cubicBezTo>
                    <a:pt x="4663440" y="1560195"/>
                    <a:pt x="4614291" y="1609344"/>
                    <a:pt x="4553712" y="1609344"/>
                  </a:cubicBezTo>
                  <a:lnTo>
                    <a:pt x="109728" y="1609344"/>
                  </a:lnTo>
                  <a:cubicBezTo>
                    <a:pt x="49149" y="1609344"/>
                    <a:pt x="0" y="1560195"/>
                    <a:pt x="0" y="1499616"/>
                  </a:cubicBezTo>
                  <a:close/>
                </a:path>
              </a:pathLst>
            </a:custGeom>
            <a:solidFill>
              <a:srgbClr val="081D33"/>
            </a:solidFill>
          </p:spPr>
        </p:sp>
      </p:grpSp>
      <p:grpSp>
        <p:nvGrpSpPr>
          <p:cNvPr name="Group 32" id="32"/>
          <p:cNvGrpSpPr/>
          <p:nvPr/>
        </p:nvGrpSpPr>
        <p:grpSpPr>
          <a:xfrm rot="0">
            <a:off x="9944100" y="3538728"/>
            <a:ext cx="3086100" cy="617220"/>
            <a:chOff x="0" y="0"/>
            <a:chExt cx="4114800" cy="822960"/>
          </a:xfrm>
        </p:grpSpPr>
        <p:sp>
          <p:nvSpPr>
            <p:cNvPr name="Freeform 33" id="33"/>
            <p:cNvSpPr/>
            <p:nvPr/>
          </p:nvSpPr>
          <p:spPr>
            <a:xfrm flipH="false" flipV="false" rot="0">
              <a:off x="0" y="0"/>
              <a:ext cx="4114800" cy="822960"/>
            </a:xfrm>
            <a:custGeom>
              <a:avLst/>
              <a:gdLst/>
              <a:ahLst/>
              <a:cxnLst/>
              <a:rect r="r" b="b" t="t" l="l"/>
              <a:pathLst>
                <a:path h="822960" w="4114800">
                  <a:moveTo>
                    <a:pt x="0" y="0"/>
                  </a:moveTo>
                  <a:lnTo>
                    <a:pt x="4114800" y="0"/>
                  </a:lnTo>
                  <a:lnTo>
                    <a:pt x="4114800" y="822960"/>
                  </a:lnTo>
                  <a:lnTo>
                    <a:pt x="0" y="822960"/>
                  </a:lnTo>
                  <a:close/>
                </a:path>
              </a:pathLst>
            </a:custGeom>
            <a:blipFill>
              <a:blip r:embed="rId3">
                <a:alphaModFix amt="0"/>
              </a:blip>
              <a:stretch>
                <a:fillRect l="0" t="-47425" r="0" b="-47425"/>
              </a:stretch>
            </a:blipFill>
          </p:spPr>
        </p:sp>
        <p:sp>
          <p:nvSpPr>
            <p:cNvPr name="TextBox 34" id="34"/>
            <p:cNvSpPr txBox="true"/>
            <p:nvPr/>
          </p:nvSpPr>
          <p:spPr>
            <a:xfrm>
              <a:off x="0" y="-19050"/>
              <a:ext cx="4114800" cy="842010"/>
            </a:xfrm>
            <a:prstGeom prst="rect">
              <a:avLst/>
            </a:prstGeom>
          </p:spPr>
          <p:txBody>
            <a:bodyPr anchor="ctr" rtlCol="false" tIns="0" lIns="0" bIns="0" rIns="0"/>
            <a:lstStyle/>
            <a:p>
              <a:pPr algn="l">
                <a:lnSpc>
                  <a:spcPts val="3600"/>
                </a:lnSpc>
              </a:pPr>
              <a:r>
                <a:rPr lang="en-US" sz="3000" b="true">
                  <a:solidFill>
                    <a:srgbClr val="FF6B4A"/>
                  </a:solidFill>
                  <a:latin typeface="Cambria Bold"/>
                  <a:ea typeface="Cambria Bold"/>
                  <a:cs typeface="Cambria Bold"/>
                  <a:sym typeface="Cambria Bold"/>
                </a:rPr>
                <a:t>50</a:t>
              </a:r>
            </a:p>
          </p:txBody>
        </p:sp>
      </p:grpSp>
      <p:grpSp>
        <p:nvGrpSpPr>
          <p:cNvPr name="Group 35" id="35"/>
          <p:cNvGrpSpPr/>
          <p:nvPr/>
        </p:nvGrpSpPr>
        <p:grpSpPr>
          <a:xfrm rot="0">
            <a:off x="9944100" y="4142232"/>
            <a:ext cx="3086100" cy="480060"/>
            <a:chOff x="0" y="0"/>
            <a:chExt cx="4114800" cy="640080"/>
          </a:xfrm>
        </p:grpSpPr>
        <p:sp>
          <p:nvSpPr>
            <p:cNvPr name="Freeform 36" id="36"/>
            <p:cNvSpPr/>
            <p:nvPr/>
          </p:nvSpPr>
          <p:spPr>
            <a:xfrm flipH="false" flipV="false" rot="0">
              <a:off x="0" y="0"/>
              <a:ext cx="4114800" cy="640080"/>
            </a:xfrm>
            <a:custGeom>
              <a:avLst/>
              <a:gdLst/>
              <a:ahLst/>
              <a:cxnLst/>
              <a:rect r="r" b="b" t="t" l="l"/>
              <a:pathLst>
                <a:path h="640080" w="4114800">
                  <a:moveTo>
                    <a:pt x="0" y="0"/>
                  </a:moveTo>
                  <a:lnTo>
                    <a:pt x="4114800" y="0"/>
                  </a:lnTo>
                  <a:lnTo>
                    <a:pt x="4114800" y="640080"/>
                  </a:lnTo>
                  <a:lnTo>
                    <a:pt x="0" y="640080"/>
                  </a:lnTo>
                  <a:close/>
                </a:path>
              </a:pathLst>
            </a:custGeom>
            <a:blipFill>
              <a:blip r:embed="rId3">
                <a:alphaModFix amt="0"/>
              </a:blip>
              <a:stretch>
                <a:fillRect l="0" t="-75260" r="0" b="-75260"/>
              </a:stretch>
            </a:blipFill>
          </p:spPr>
        </p:sp>
        <p:sp>
          <p:nvSpPr>
            <p:cNvPr name="TextBox 37" id="37"/>
            <p:cNvSpPr txBox="true"/>
            <p:nvPr/>
          </p:nvSpPr>
          <p:spPr>
            <a:xfrm>
              <a:off x="0" y="-19050"/>
              <a:ext cx="4114800" cy="659130"/>
            </a:xfrm>
            <a:prstGeom prst="rect">
              <a:avLst/>
            </a:prstGeom>
          </p:spPr>
          <p:txBody>
            <a:bodyPr anchor="ctr" rtlCol="false" tIns="0" lIns="0" bIns="0" rIns="0"/>
            <a:lstStyle/>
            <a:p>
              <a:pPr algn="l">
                <a:lnSpc>
                  <a:spcPts val="1889"/>
                </a:lnSpc>
              </a:pPr>
              <a:r>
                <a:rPr lang="en-US" sz="1575">
                  <a:solidFill>
                    <a:srgbClr val="C7D6E2"/>
                  </a:solidFill>
                  <a:latin typeface="Calibri (MS)"/>
                  <a:ea typeface="Calibri (MS)"/>
                  <a:cs typeface="Calibri (MS)"/>
                  <a:sym typeface="Calibri (MS)"/>
                </a:rPr>
                <a:t>Population size</a:t>
              </a:r>
            </a:p>
          </p:txBody>
        </p:sp>
      </p:grpSp>
      <p:grpSp>
        <p:nvGrpSpPr>
          <p:cNvPr name="Group 38" id="38"/>
          <p:cNvGrpSpPr/>
          <p:nvPr/>
        </p:nvGrpSpPr>
        <p:grpSpPr>
          <a:xfrm rot="0">
            <a:off x="13510260" y="3429000"/>
            <a:ext cx="3497580" cy="1207008"/>
            <a:chOff x="0" y="0"/>
            <a:chExt cx="4663440" cy="1609344"/>
          </a:xfrm>
        </p:grpSpPr>
        <p:sp>
          <p:nvSpPr>
            <p:cNvPr name="Freeform 39" id="39"/>
            <p:cNvSpPr/>
            <p:nvPr/>
          </p:nvSpPr>
          <p:spPr>
            <a:xfrm flipH="false" flipV="false" rot="0">
              <a:off x="0" y="0"/>
              <a:ext cx="4663440" cy="1609344"/>
            </a:xfrm>
            <a:custGeom>
              <a:avLst/>
              <a:gdLst/>
              <a:ahLst/>
              <a:cxnLst/>
              <a:rect r="r" b="b" t="t" l="l"/>
              <a:pathLst>
                <a:path h="1609344" w="4663440">
                  <a:moveTo>
                    <a:pt x="0" y="109728"/>
                  </a:moveTo>
                  <a:cubicBezTo>
                    <a:pt x="0" y="49149"/>
                    <a:pt x="49149" y="0"/>
                    <a:pt x="109728" y="0"/>
                  </a:cubicBezTo>
                  <a:lnTo>
                    <a:pt x="4553712" y="0"/>
                  </a:lnTo>
                  <a:cubicBezTo>
                    <a:pt x="4614291" y="0"/>
                    <a:pt x="4663440" y="49149"/>
                    <a:pt x="4663440" y="109728"/>
                  </a:cubicBezTo>
                  <a:lnTo>
                    <a:pt x="4663440" y="1499616"/>
                  </a:lnTo>
                  <a:cubicBezTo>
                    <a:pt x="4663440" y="1560195"/>
                    <a:pt x="4614291" y="1609344"/>
                    <a:pt x="4553712" y="1609344"/>
                  </a:cubicBezTo>
                  <a:lnTo>
                    <a:pt x="109728" y="1609344"/>
                  </a:lnTo>
                  <a:cubicBezTo>
                    <a:pt x="49149" y="1609344"/>
                    <a:pt x="0" y="1560195"/>
                    <a:pt x="0" y="1499616"/>
                  </a:cubicBezTo>
                  <a:close/>
                </a:path>
              </a:pathLst>
            </a:custGeom>
            <a:solidFill>
              <a:srgbClr val="081D33"/>
            </a:solidFill>
          </p:spPr>
        </p:sp>
      </p:grpSp>
      <p:grpSp>
        <p:nvGrpSpPr>
          <p:cNvPr name="Group 40" id="40"/>
          <p:cNvGrpSpPr/>
          <p:nvPr/>
        </p:nvGrpSpPr>
        <p:grpSpPr>
          <a:xfrm rot="0">
            <a:off x="13716000" y="3538728"/>
            <a:ext cx="3086100" cy="617220"/>
            <a:chOff x="0" y="0"/>
            <a:chExt cx="4114800" cy="822960"/>
          </a:xfrm>
        </p:grpSpPr>
        <p:sp>
          <p:nvSpPr>
            <p:cNvPr name="Freeform 41" id="41"/>
            <p:cNvSpPr/>
            <p:nvPr/>
          </p:nvSpPr>
          <p:spPr>
            <a:xfrm flipH="false" flipV="false" rot="0">
              <a:off x="0" y="0"/>
              <a:ext cx="4114800" cy="822960"/>
            </a:xfrm>
            <a:custGeom>
              <a:avLst/>
              <a:gdLst/>
              <a:ahLst/>
              <a:cxnLst/>
              <a:rect r="r" b="b" t="t" l="l"/>
              <a:pathLst>
                <a:path h="822960" w="4114800">
                  <a:moveTo>
                    <a:pt x="0" y="0"/>
                  </a:moveTo>
                  <a:lnTo>
                    <a:pt x="4114800" y="0"/>
                  </a:lnTo>
                  <a:lnTo>
                    <a:pt x="4114800" y="822960"/>
                  </a:lnTo>
                  <a:lnTo>
                    <a:pt x="0" y="822960"/>
                  </a:lnTo>
                  <a:close/>
                </a:path>
              </a:pathLst>
            </a:custGeom>
            <a:blipFill>
              <a:blip r:embed="rId3">
                <a:alphaModFix amt="0"/>
              </a:blip>
              <a:stretch>
                <a:fillRect l="0" t="-47425" r="0" b="-47425"/>
              </a:stretch>
            </a:blipFill>
          </p:spPr>
        </p:sp>
        <p:sp>
          <p:nvSpPr>
            <p:cNvPr name="TextBox 42" id="42"/>
            <p:cNvSpPr txBox="true"/>
            <p:nvPr/>
          </p:nvSpPr>
          <p:spPr>
            <a:xfrm>
              <a:off x="0" y="-19050"/>
              <a:ext cx="4114800" cy="842010"/>
            </a:xfrm>
            <a:prstGeom prst="rect">
              <a:avLst/>
            </a:prstGeom>
          </p:spPr>
          <p:txBody>
            <a:bodyPr anchor="ctr" rtlCol="false" tIns="0" lIns="0" bIns="0" rIns="0"/>
            <a:lstStyle/>
            <a:p>
              <a:pPr algn="l">
                <a:lnSpc>
                  <a:spcPts val="3600"/>
                </a:lnSpc>
              </a:pPr>
              <a:r>
                <a:rPr lang="en-US" sz="3000" b="true">
                  <a:solidFill>
                    <a:srgbClr val="FF6B4A"/>
                  </a:solidFill>
                  <a:latin typeface="Cambria Bold"/>
                  <a:ea typeface="Cambria Bold"/>
                  <a:cs typeface="Cambria Bold"/>
                  <a:sym typeface="Cambria Bold"/>
                </a:rPr>
                <a:t>100</a:t>
              </a:r>
            </a:p>
          </p:txBody>
        </p:sp>
      </p:grpSp>
      <p:grpSp>
        <p:nvGrpSpPr>
          <p:cNvPr name="Group 43" id="43"/>
          <p:cNvGrpSpPr/>
          <p:nvPr/>
        </p:nvGrpSpPr>
        <p:grpSpPr>
          <a:xfrm rot="0">
            <a:off x="13716000" y="4142232"/>
            <a:ext cx="3086100" cy="480060"/>
            <a:chOff x="0" y="0"/>
            <a:chExt cx="4114800" cy="640080"/>
          </a:xfrm>
        </p:grpSpPr>
        <p:sp>
          <p:nvSpPr>
            <p:cNvPr name="Freeform 44" id="44"/>
            <p:cNvSpPr/>
            <p:nvPr/>
          </p:nvSpPr>
          <p:spPr>
            <a:xfrm flipH="false" flipV="false" rot="0">
              <a:off x="0" y="0"/>
              <a:ext cx="4114800" cy="640080"/>
            </a:xfrm>
            <a:custGeom>
              <a:avLst/>
              <a:gdLst/>
              <a:ahLst/>
              <a:cxnLst/>
              <a:rect r="r" b="b" t="t" l="l"/>
              <a:pathLst>
                <a:path h="640080" w="4114800">
                  <a:moveTo>
                    <a:pt x="0" y="0"/>
                  </a:moveTo>
                  <a:lnTo>
                    <a:pt x="4114800" y="0"/>
                  </a:lnTo>
                  <a:lnTo>
                    <a:pt x="4114800" y="640080"/>
                  </a:lnTo>
                  <a:lnTo>
                    <a:pt x="0" y="640080"/>
                  </a:lnTo>
                  <a:close/>
                </a:path>
              </a:pathLst>
            </a:custGeom>
            <a:blipFill>
              <a:blip r:embed="rId3">
                <a:alphaModFix amt="0"/>
              </a:blip>
              <a:stretch>
                <a:fillRect l="0" t="-75260" r="0" b="-75260"/>
              </a:stretch>
            </a:blipFill>
          </p:spPr>
        </p:sp>
        <p:sp>
          <p:nvSpPr>
            <p:cNvPr name="TextBox 45" id="45"/>
            <p:cNvSpPr txBox="true"/>
            <p:nvPr/>
          </p:nvSpPr>
          <p:spPr>
            <a:xfrm>
              <a:off x="0" y="-19050"/>
              <a:ext cx="4114800" cy="659130"/>
            </a:xfrm>
            <a:prstGeom prst="rect">
              <a:avLst/>
            </a:prstGeom>
          </p:spPr>
          <p:txBody>
            <a:bodyPr anchor="ctr" rtlCol="false" tIns="0" lIns="0" bIns="0" rIns="0"/>
            <a:lstStyle/>
            <a:p>
              <a:pPr algn="l">
                <a:lnSpc>
                  <a:spcPts val="1889"/>
                </a:lnSpc>
              </a:pPr>
              <a:r>
                <a:rPr lang="en-US" sz="1575">
                  <a:solidFill>
                    <a:srgbClr val="C7D6E2"/>
                  </a:solidFill>
                  <a:latin typeface="Calibri (MS)"/>
                  <a:ea typeface="Calibri (MS)"/>
                  <a:cs typeface="Calibri (MS)"/>
                  <a:sym typeface="Calibri (MS)"/>
                </a:rPr>
                <a:t>Max generations</a:t>
              </a:r>
            </a:p>
          </p:txBody>
        </p:sp>
      </p:grpSp>
      <p:grpSp>
        <p:nvGrpSpPr>
          <p:cNvPr name="Group 46" id="46"/>
          <p:cNvGrpSpPr/>
          <p:nvPr/>
        </p:nvGrpSpPr>
        <p:grpSpPr>
          <a:xfrm rot="0">
            <a:off x="9738360" y="4800600"/>
            <a:ext cx="3497580" cy="1207008"/>
            <a:chOff x="0" y="0"/>
            <a:chExt cx="4663440" cy="1609344"/>
          </a:xfrm>
        </p:grpSpPr>
        <p:sp>
          <p:nvSpPr>
            <p:cNvPr name="Freeform 47" id="47"/>
            <p:cNvSpPr/>
            <p:nvPr/>
          </p:nvSpPr>
          <p:spPr>
            <a:xfrm flipH="false" flipV="false" rot="0">
              <a:off x="0" y="0"/>
              <a:ext cx="4663440" cy="1609344"/>
            </a:xfrm>
            <a:custGeom>
              <a:avLst/>
              <a:gdLst/>
              <a:ahLst/>
              <a:cxnLst/>
              <a:rect r="r" b="b" t="t" l="l"/>
              <a:pathLst>
                <a:path h="1609344" w="4663440">
                  <a:moveTo>
                    <a:pt x="0" y="109728"/>
                  </a:moveTo>
                  <a:cubicBezTo>
                    <a:pt x="0" y="49149"/>
                    <a:pt x="49149" y="0"/>
                    <a:pt x="109728" y="0"/>
                  </a:cubicBezTo>
                  <a:lnTo>
                    <a:pt x="4553712" y="0"/>
                  </a:lnTo>
                  <a:cubicBezTo>
                    <a:pt x="4614291" y="0"/>
                    <a:pt x="4663440" y="49149"/>
                    <a:pt x="4663440" y="109728"/>
                  </a:cubicBezTo>
                  <a:lnTo>
                    <a:pt x="4663440" y="1499616"/>
                  </a:lnTo>
                  <a:cubicBezTo>
                    <a:pt x="4663440" y="1560195"/>
                    <a:pt x="4614291" y="1609344"/>
                    <a:pt x="4553712" y="1609344"/>
                  </a:cubicBezTo>
                  <a:lnTo>
                    <a:pt x="109728" y="1609344"/>
                  </a:lnTo>
                  <a:cubicBezTo>
                    <a:pt x="49149" y="1609344"/>
                    <a:pt x="0" y="1560195"/>
                    <a:pt x="0" y="1499616"/>
                  </a:cubicBezTo>
                  <a:close/>
                </a:path>
              </a:pathLst>
            </a:custGeom>
            <a:solidFill>
              <a:srgbClr val="081D33"/>
            </a:solidFill>
          </p:spPr>
        </p:sp>
      </p:grpSp>
      <p:grpSp>
        <p:nvGrpSpPr>
          <p:cNvPr name="Group 48" id="48"/>
          <p:cNvGrpSpPr/>
          <p:nvPr/>
        </p:nvGrpSpPr>
        <p:grpSpPr>
          <a:xfrm rot="0">
            <a:off x="9944100" y="4910328"/>
            <a:ext cx="3086100" cy="617220"/>
            <a:chOff x="0" y="0"/>
            <a:chExt cx="4114800" cy="822960"/>
          </a:xfrm>
        </p:grpSpPr>
        <p:sp>
          <p:nvSpPr>
            <p:cNvPr name="Freeform 49" id="49"/>
            <p:cNvSpPr/>
            <p:nvPr/>
          </p:nvSpPr>
          <p:spPr>
            <a:xfrm flipH="false" flipV="false" rot="0">
              <a:off x="0" y="0"/>
              <a:ext cx="4114800" cy="822960"/>
            </a:xfrm>
            <a:custGeom>
              <a:avLst/>
              <a:gdLst/>
              <a:ahLst/>
              <a:cxnLst/>
              <a:rect r="r" b="b" t="t" l="l"/>
              <a:pathLst>
                <a:path h="822960" w="4114800">
                  <a:moveTo>
                    <a:pt x="0" y="0"/>
                  </a:moveTo>
                  <a:lnTo>
                    <a:pt x="4114800" y="0"/>
                  </a:lnTo>
                  <a:lnTo>
                    <a:pt x="4114800" y="822960"/>
                  </a:lnTo>
                  <a:lnTo>
                    <a:pt x="0" y="822960"/>
                  </a:lnTo>
                  <a:close/>
                </a:path>
              </a:pathLst>
            </a:custGeom>
            <a:blipFill>
              <a:blip r:embed="rId3">
                <a:alphaModFix amt="0"/>
              </a:blip>
              <a:stretch>
                <a:fillRect l="0" t="-47425" r="0" b="-47425"/>
              </a:stretch>
            </a:blipFill>
          </p:spPr>
        </p:sp>
        <p:sp>
          <p:nvSpPr>
            <p:cNvPr name="TextBox 50" id="50"/>
            <p:cNvSpPr txBox="true"/>
            <p:nvPr/>
          </p:nvSpPr>
          <p:spPr>
            <a:xfrm>
              <a:off x="0" y="-19050"/>
              <a:ext cx="4114800" cy="842010"/>
            </a:xfrm>
            <a:prstGeom prst="rect">
              <a:avLst/>
            </a:prstGeom>
          </p:spPr>
          <p:txBody>
            <a:bodyPr anchor="ctr" rtlCol="false" tIns="0" lIns="0" bIns="0" rIns="0"/>
            <a:lstStyle/>
            <a:p>
              <a:pPr algn="l">
                <a:lnSpc>
                  <a:spcPts val="3600"/>
                </a:lnSpc>
              </a:pPr>
              <a:r>
                <a:rPr lang="en-US" sz="3000" b="true">
                  <a:solidFill>
                    <a:srgbClr val="FF6B4A"/>
                  </a:solidFill>
                  <a:latin typeface="Cambria Bold"/>
                  <a:ea typeface="Cambria Bold"/>
                  <a:cs typeface="Cambria Bold"/>
                  <a:sym typeface="Cambria Bold"/>
                </a:rPr>
                <a:t>0.80</a:t>
              </a:r>
            </a:p>
          </p:txBody>
        </p:sp>
      </p:grpSp>
      <p:grpSp>
        <p:nvGrpSpPr>
          <p:cNvPr name="Group 51" id="51"/>
          <p:cNvGrpSpPr/>
          <p:nvPr/>
        </p:nvGrpSpPr>
        <p:grpSpPr>
          <a:xfrm rot="0">
            <a:off x="9944100" y="5513832"/>
            <a:ext cx="3086100" cy="480060"/>
            <a:chOff x="0" y="0"/>
            <a:chExt cx="4114800" cy="640080"/>
          </a:xfrm>
        </p:grpSpPr>
        <p:sp>
          <p:nvSpPr>
            <p:cNvPr name="Freeform 52" id="52"/>
            <p:cNvSpPr/>
            <p:nvPr/>
          </p:nvSpPr>
          <p:spPr>
            <a:xfrm flipH="false" flipV="false" rot="0">
              <a:off x="0" y="0"/>
              <a:ext cx="4114800" cy="640080"/>
            </a:xfrm>
            <a:custGeom>
              <a:avLst/>
              <a:gdLst/>
              <a:ahLst/>
              <a:cxnLst/>
              <a:rect r="r" b="b" t="t" l="l"/>
              <a:pathLst>
                <a:path h="640080" w="4114800">
                  <a:moveTo>
                    <a:pt x="0" y="0"/>
                  </a:moveTo>
                  <a:lnTo>
                    <a:pt x="4114800" y="0"/>
                  </a:lnTo>
                  <a:lnTo>
                    <a:pt x="4114800" y="640080"/>
                  </a:lnTo>
                  <a:lnTo>
                    <a:pt x="0" y="640080"/>
                  </a:lnTo>
                  <a:close/>
                </a:path>
              </a:pathLst>
            </a:custGeom>
            <a:blipFill>
              <a:blip r:embed="rId3">
                <a:alphaModFix amt="0"/>
              </a:blip>
              <a:stretch>
                <a:fillRect l="0" t="-75260" r="0" b="-75260"/>
              </a:stretch>
            </a:blipFill>
          </p:spPr>
        </p:sp>
        <p:sp>
          <p:nvSpPr>
            <p:cNvPr name="TextBox 53" id="53"/>
            <p:cNvSpPr txBox="true"/>
            <p:nvPr/>
          </p:nvSpPr>
          <p:spPr>
            <a:xfrm>
              <a:off x="0" y="-19050"/>
              <a:ext cx="4114800" cy="659130"/>
            </a:xfrm>
            <a:prstGeom prst="rect">
              <a:avLst/>
            </a:prstGeom>
          </p:spPr>
          <p:txBody>
            <a:bodyPr anchor="ctr" rtlCol="false" tIns="0" lIns="0" bIns="0" rIns="0"/>
            <a:lstStyle/>
            <a:p>
              <a:pPr algn="l">
                <a:lnSpc>
                  <a:spcPts val="1889"/>
                </a:lnSpc>
              </a:pPr>
              <a:r>
                <a:rPr lang="en-US" sz="1575">
                  <a:solidFill>
                    <a:srgbClr val="C7D6E2"/>
                  </a:solidFill>
                  <a:latin typeface="Calibri (MS)"/>
                  <a:ea typeface="Calibri (MS)"/>
                  <a:cs typeface="Calibri (MS)"/>
                  <a:sym typeface="Calibri (MS)"/>
                </a:rPr>
                <a:t>Crossover prob. (Pc)</a:t>
              </a:r>
            </a:p>
          </p:txBody>
        </p:sp>
      </p:grpSp>
      <p:grpSp>
        <p:nvGrpSpPr>
          <p:cNvPr name="Group 54" id="54"/>
          <p:cNvGrpSpPr/>
          <p:nvPr/>
        </p:nvGrpSpPr>
        <p:grpSpPr>
          <a:xfrm rot="0">
            <a:off x="13510260" y="4800600"/>
            <a:ext cx="3497580" cy="1207008"/>
            <a:chOff x="0" y="0"/>
            <a:chExt cx="4663440" cy="1609344"/>
          </a:xfrm>
        </p:grpSpPr>
        <p:sp>
          <p:nvSpPr>
            <p:cNvPr name="Freeform 55" id="55"/>
            <p:cNvSpPr/>
            <p:nvPr/>
          </p:nvSpPr>
          <p:spPr>
            <a:xfrm flipH="false" flipV="false" rot="0">
              <a:off x="0" y="0"/>
              <a:ext cx="4663440" cy="1609344"/>
            </a:xfrm>
            <a:custGeom>
              <a:avLst/>
              <a:gdLst/>
              <a:ahLst/>
              <a:cxnLst/>
              <a:rect r="r" b="b" t="t" l="l"/>
              <a:pathLst>
                <a:path h="1609344" w="4663440">
                  <a:moveTo>
                    <a:pt x="0" y="109728"/>
                  </a:moveTo>
                  <a:cubicBezTo>
                    <a:pt x="0" y="49149"/>
                    <a:pt x="49149" y="0"/>
                    <a:pt x="109728" y="0"/>
                  </a:cubicBezTo>
                  <a:lnTo>
                    <a:pt x="4553712" y="0"/>
                  </a:lnTo>
                  <a:cubicBezTo>
                    <a:pt x="4614291" y="0"/>
                    <a:pt x="4663440" y="49149"/>
                    <a:pt x="4663440" y="109728"/>
                  </a:cubicBezTo>
                  <a:lnTo>
                    <a:pt x="4663440" y="1499616"/>
                  </a:lnTo>
                  <a:cubicBezTo>
                    <a:pt x="4663440" y="1560195"/>
                    <a:pt x="4614291" y="1609344"/>
                    <a:pt x="4553712" y="1609344"/>
                  </a:cubicBezTo>
                  <a:lnTo>
                    <a:pt x="109728" y="1609344"/>
                  </a:lnTo>
                  <a:cubicBezTo>
                    <a:pt x="49149" y="1609344"/>
                    <a:pt x="0" y="1560195"/>
                    <a:pt x="0" y="1499616"/>
                  </a:cubicBezTo>
                  <a:close/>
                </a:path>
              </a:pathLst>
            </a:custGeom>
            <a:solidFill>
              <a:srgbClr val="081D33"/>
            </a:solidFill>
          </p:spPr>
        </p:sp>
      </p:grpSp>
      <p:grpSp>
        <p:nvGrpSpPr>
          <p:cNvPr name="Group 56" id="56"/>
          <p:cNvGrpSpPr/>
          <p:nvPr/>
        </p:nvGrpSpPr>
        <p:grpSpPr>
          <a:xfrm rot="0">
            <a:off x="13716000" y="4910328"/>
            <a:ext cx="3086100" cy="617220"/>
            <a:chOff x="0" y="0"/>
            <a:chExt cx="4114800" cy="822960"/>
          </a:xfrm>
        </p:grpSpPr>
        <p:sp>
          <p:nvSpPr>
            <p:cNvPr name="Freeform 57" id="57"/>
            <p:cNvSpPr/>
            <p:nvPr/>
          </p:nvSpPr>
          <p:spPr>
            <a:xfrm flipH="false" flipV="false" rot="0">
              <a:off x="0" y="0"/>
              <a:ext cx="4114800" cy="822960"/>
            </a:xfrm>
            <a:custGeom>
              <a:avLst/>
              <a:gdLst/>
              <a:ahLst/>
              <a:cxnLst/>
              <a:rect r="r" b="b" t="t" l="l"/>
              <a:pathLst>
                <a:path h="822960" w="4114800">
                  <a:moveTo>
                    <a:pt x="0" y="0"/>
                  </a:moveTo>
                  <a:lnTo>
                    <a:pt x="4114800" y="0"/>
                  </a:lnTo>
                  <a:lnTo>
                    <a:pt x="4114800" y="822960"/>
                  </a:lnTo>
                  <a:lnTo>
                    <a:pt x="0" y="822960"/>
                  </a:lnTo>
                  <a:close/>
                </a:path>
              </a:pathLst>
            </a:custGeom>
            <a:blipFill>
              <a:blip r:embed="rId3">
                <a:alphaModFix amt="0"/>
              </a:blip>
              <a:stretch>
                <a:fillRect l="0" t="-47425" r="0" b="-47425"/>
              </a:stretch>
            </a:blipFill>
          </p:spPr>
        </p:sp>
        <p:sp>
          <p:nvSpPr>
            <p:cNvPr name="TextBox 58" id="58"/>
            <p:cNvSpPr txBox="true"/>
            <p:nvPr/>
          </p:nvSpPr>
          <p:spPr>
            <a:xfrm>
              <a:off x="0" y="-19050"/>
              <a:ext cx="4114800" cy="842010"/>
            </a:xfrm>
            <a:prstGeom prst="rect">
              <a:avLst/>
            </a:prstGeom>
          </p:spPr>
          <p:txBody>
            <a:bodyPr anchor="ctr" rtlCol="false" tIns="0" lIns="0" bIns="0" rIns="0"/>
            <a:lstStyle/>
            <a:p>
              <a:pPr algn="l">
                <a:lnSpc>
                  <a:spcPts val="3600"/>
                </a:lnSpc>
              </a:pPr>
              <a:r>
                <a:rPr lang="en-US" sz="3000" b="true">
                  <a:solidFill>
                    <a:srgbClr val="FF6B4A"/>
                  </a:solidFill>
                  <a:latin typeface="Cambria Bold"/>
                  <a:ea typeface="Cambria Bold"/>
                  <a:cs typeface="Cambria Bold"/>
                  <a:sym typeface="Cambria Bold"/>
                </a:rPr>
                <a:t>0.05</a:t>
              </a:r>
            </a:p>
          </p:txBody>
        </p:sp>
      </p:grpSp>
      <p:grpSp>
        <p:nvGrpSpPr>
          <p:cNvPr name="Group 59" id="59"/>
          <p:cNvGrpSpPr/>
          <p:nvPr/>
        </p:nvGrpSpPr>
        <p:grpSpPr>
          <a:xfrm rot="0">
            <a:off x="13716000" y="5513832"/>
            <a:ext cx="3086100" cy="480060"/>
            <a:chOff x="0" y="0"/>
            <a:chExt cx="4114800" cy="640080"/>
          </a:xfrm>
        </p:grpSpPr>
        <p:sp>
          <p:nvSpPr>
            <p:cNvPr name="Freeform 60" id="60"/>
            <p:cNvSpPr/>
            <p:nvPr/>
          </p:nvSpPr>
          <p:spPr>
            <a:xfrm flipH="false" flipV="false" rot="0">
              <a:off x="0" y="0"/>
              <a:ext cx="4114800" cy="640080"/>
            </a:xfrm>
            <a:custGeom>
              <a:avLst/>
              <a:gdLst/>
              <a:ahLst/>
              <a:cxnLst/>
              <a:rect r="r" b="b" t="t" l="l"/>
              <a:pathLst>
                <a:path h="640080" w="4114800">
                  <a:moveTo>
                    <a:pt x="0" y="0"/>
                  </a:moveTo>
                  <a:lnTo>
                    <a:pt x="4114800" y="0"/>
                  </a:lnTo>
                  <a:lnTo>
                    <a:pt x="4114800" y="640080"/>
                  </a:lnTo>
                  <a:lnTo>
                    <a:pt x="0" y="640080"/>
                  </a:lnTo>
                  <a:close/>
                </a:path>
              </a:pathLst>
            </a:custGeom>
            <a:blipFill>
              <a:blip r:embed="rId3">
                <a:alphaModFix amt="0"/>
              </a:blip>
              <a:stretch>
                <a:fillRect l="0" t="-75260" r="0" b="-75260"/>
              </a:stretch>
            </a:blipFill>
          </p:spPr>
        </p:sp>
        <p:sp>
          <p:nvSpPr>
            <p:cNvPr name="TextBox 61" id="61"/>
            <p:cNvSpPr txBox="true"/>
            <p:nvPr/>
          </p:nvSpPr>
          <p:spPr>
            <a:xfrm>
              <a:off x="0" y="-19050"/>
              <a:ext cx="4114800" cy="659130"/>
            </a:xfrm>
            <a:prstGeom prst="rect">
              <a:avLst/>
            </a:prstGeom>
          </p:spPr>
          <p:txBody>
            <a:bodyPr anchor="ctr" rtlCol="false" tIns="0" lIns="0" bIns="0" rIns="0"/>
            <a:lstStyle/>
            <a:p>
              <a:pPr algn="l">
                <a:lnSpc>
                  <a:spcPts val="1889"/>
                </a:lnSpc>
              </a:pPr>
              <a:r>
                <a:rPr lang="en-US" sz="1575">
                  <a:solidFill>
                    <a:srgbClr val="C7D6E2"/>
                  </a:solidFill>
                  <a:latin typeface="Calibri (MS)"/>
                  <a:ea typeface="Calibri (MS)"/>
                  <a:cs typeface="Calibri (MS)"/>
                  <a:sym typeface="Calibri (MS)"/>
                </a:rPr>
                <a:t>Mutation prob. (Pm)</a:t>
              </a:r>
            </a:p>
          </p:txBody>
        </p:sp>
      </p:grpSp>
      <p:grpSp>
        <p:nvGrpSpPr>
          <p:cNvPr name="Group 62" id="62"/>
          <p:cNvGrpSpPr/>
          <p:nvPr/>
        </p:nvGrpSpPr>
        <p:grpSpPr>
          <a:xfrm rot="0">
            <a:off x="9738360" y="6172200"/>
            <a:ext cx="3497580" cy="1207008"/>
            <a:chOff x="0" y="0"/>
            <a:chExt cx="4663440" cy="1609344"/>
          </a:xfrm>
        </p:grpSpPr>
        <p:sp>
          <p:nvSpPr>
            <p:cNvPr name="Freeform 63" id="63"/>
            <p:cNvSpPr/>
            <p:nvPr/>
          </p:nvSpPr>
          <p:spPr>
            <a:xfrm flipH="false" flipV="false" rot="0">
              <a:off x="0" y="0"/>
              <a:ext cx="4663440" cy="1609344"/>
            </a:xfrm>
            <a:custGeom>
              <a:avLst/>
              <a:gdLst/>
              <a:ahLst/>
              <a:cxnLst/>
              <a:rect r="r" b="b" t="t" l="l"/>
              <a:pathLst>
                <a:path h="1609344" w="4663440">
                  <a:moveTo>
                    <a:pt x="0" y="109728"/>
                  </a:moveTo>
                  <a:cubicBezTo>
                    <a:pt x="0" y="49149"/>
                    <a:pt x="49149" y="0"/>
                    <a:pt x="109728" y="0"/>
                  </a:cubicBezTo>
                  <a:lnTo>
                    <a:pt x="4553712" y="0"/>
                  </a:lnTo>
                  <a:cubicBezTo>
                    <a:pt x="4614291" y="0"/>
                    <a:pt x="4663440" y="49149"/>
                    <a:pt x="4663440" y="109728"/>
                  </a:cubicBezTo>
                  <a:lnTo>
                    <a:pt x="4663440" y="1499616"/>
                  </a:lnTo>
                  <a:cubicBezTo>
                    <a:pt x="4663440" y="1560195"/>
                    <a:pt x="4614291" y="1609344"/>
                    <a:pt x="4553712" y="1609344"/>
                  </a:cubicBezTo>
                  <a:lnTo>
                    <a:pt x="109728" y="1609344"/>
                  </a:lnTo>
                  <a:cubicBezTo>
                    <a:pt x="49149" y="1609344"/>
                    <a:pt x="0" y="1560195"/>
                    <a:pt x="0" y="1499616"/>
                  </a:cubicBezTo>
                  <a:close/>
                </a:path>
              </a:pathLst>
            </a:custGeom>
            <a:solidFill>
              <a:srgbClr val="081D33"/>
            </a:solidFill>
          </p:spPr>
        </p:sp>
      </p:grpSp>
      <p:grpSp>
        <p:nvGrpSpPr>
          <p:cNvPr name="Group 64" id="64"/>
          <p:cNvGrpSpPr/>
          <p:nvPr/>
        </p:nvGrpSpPr>
        <p:grpSpPr>
          <a:xfrm rot="0">
            <a:off x="9944100" y="6281928"/>
            <a:ext cx="3086100" cy="617220"/>
            <a:chOff x="0" y="0"/>
            <a:chExt cx="4114800" cy="822960"/>
          </a:xfrm>
        </p:grpSpPr>
        <p:sp>
          <p:nvSpPr>
            <p:cNvPr name="Freeform 65" id="65"/>
            <p:cNvSpPr/>
            <p:nvPr/>
          </p:nvSpPr>
          <p:spPr>
            <a:xfrm flipH="false" flipV="false" rot="0">
              <a:off x="0" y="0"/>
              <a:ext cx="4114800" cy="822960"/>
            </a:xfrm>
            <a:custGeom>
              <a:avLst/>
              <a:gdLst/>
              <a:ahLst/>
              <a:cxnLst/>
              <a:rect r="r" b="b" t="t" l="l"/>
              <a:pathLst>
                <a:path h="822960" w="4114800">
                  <a:moveTo>
                    <a:pt x="0" y="0"/>
                  </a:moveTo>
                  <a:lnTo>
                    <a:pt x="4114800" y="0"/>
                  </a:lnTo>
                  <a:lnTo>
                    <a:pt x="4114800" y="822960"/>
                  </a:lnTo>
                  <a:lnTo>
                    <a:pt x="0" y="822960"/>
                  </a:lnTo>
                  <a:close/>
                </a:path>
              </a:pathLst>
            </a:custGeom>
            <a:blipFill>
              <a:blip r:embed="rId3">
                <a:alphaModFix amt="0"/>
              </a:blip>
              <a:stretch>
                <a:fillRect l="0" t="-47425" r="0" b="-47425"/>
              </a:stretch>
            </a:blipFill>
          </p:spPr>
        </p:sp>
        <p:sp>
          <p:nvSpPr>
            <p:cNvPr name="TextBox 66" id="66"/>
            <p:cNvSpPr txBox="true"/>
            <p:nvPr/>
          </p:nvSpPr>
          <p:spPr>
            <a:xfrm>
              <a:off x="0" y="-19050"/>
              <a:ext cx="4114800" cy="842010"/>
            </a:xfrm>
            <a:prstGeom prst="rect">
              <a:avLst/>
            </a:prstGeom>
          </p:spPr>
          <p:txBody>
            <a:bodyPr anchor="ctr" rtlCol="false" tIns="0" lIns="0" bIns="0" rIns="0"/>
            <a:lstStyle/>
            <a:p>
              <a:pPr algn="l">
                <a:lnSpc>
                  <a:spcPts val="3600"/>
                </a:lnSpc>
              </a:pPr>
              <a:r>
                <a:rPr lang="en-US" sz="3000" b="true">
                  <a:solidFill>
                    <a:srgbClr val="FF6B4A"/>
                  </a:solidFill>
                  <a:latin typeface="Cambria Bold"/>
                  <a:ea typeface="Cambria Bold"/>
                  <a:cs typeface="Cambria Bold"/>
                  <a:sym typeface="Cambria Bold"/>
                </a:rPr>
                <a:t>1 kept</a:t>
              </a:r>
            </a:p>
          </p:txBody>
        </p:sp>
      </p:grpSp>
      <p:grpSp>
        <p:nvGrpSpPr>
          <p:cNvPr name="Group 67" id="67"/>
          <p:cNvGrpSpPr/>
          <p:nvPr/>
        </p:nvGrpSpPr>
        <p:grpSpPr>
          <a:xfrm rot="0">
            <a:off x="9944100" y="6885432"/>
            <a:ext cx="3086100" cy="480060"/>
            <a:chOff x="0" y="0"/>
            <a:chExt cx="4114800" cy="640080"/>
          </a:xfrm>
        </p:grpSpPr>
        <p:sp>
          <p:nvSpPr>
            <p:cNvPr name="Freeform 68" id="68"/>
            <p:cNvSpPr/>
            <p:nvPr/>
          </p:nvSpPr>
          <p:spPr>
            <a:xfrm flipH="false" flipV="false" rot="0">
              <a:off x="0" y="0"/>
              <a:ext cx="4114800" cy="640080"/>
            </a:xfrm>
            <a:custGeom>
              <a:avLst/>
              <a:gdLst/>
              <a:ahLst/>
              <a:cxnLst/>
              <a:rect r="r" b="b" t="t" l="l"/>
              <a:pathLst>
                <a:path h="640080" w="4114800">
                  <a:moveTo>
                    <a:pt x="0" y="0"/>
                  </a:moveTo>
                  <a:lnTo>
                    <a:pt x="4114800" y="0"/>
                  </a:lnTo>
                  <a:lnTo>
                    <a:pt x="4114800" y="640080"/>
                  </a:lnTo>
                  <a:lnTo>
                    <a:pt x="0" y="640080"/>
                  </a:lnTo>
                  <a:close/>
                </a:path>
              </a:pathLst>
            </a:custGeom>
            <a:blipFill>
              <a:blip r:embed="rId3">
                <a:alphaModFix amt="0"/>
              </a:blip>
              <a:stretch>
                <a:fillRect l="0" t="-75260" r="0" b="-75260"/>
              </a:stretch>
            </a:blipFill>
          </p:spPr>
        </p:sp>
        <p:sp>
          <p:nvSpPr>
            <p:cNvPr name="TextBox 69" id="69"/>
            <p:cNvSpPr txBox="true"/>
            <p:nvPr/>
          </p:nvSpPr>
          <p:spPr>
            <a:xfrm>
              <a:off x="0" y="-19050"/>
              <a:ext cx="4114800" cy="659130"/>
            </a:xfrm>
            <a:prstGeom prst="rect">
              <a:avLst/>
            </a:prstGeom>
          </p:spPr>
          <p:txBody>
            <a:bodyPr anchor="ctr" rtlCol="false" tIns="0" lIns="0" bIns="0" rIns="0"/>
            <a:lstStyle/>
            <a:p>
              <a:pPr algn="l">
                <a:lnSpc>
                  <a:spcPts val="1889"/>
                </a:lnSpc>
              </a:pPr>
              <a:r>
                <a:rPr lang="en-US" sz="1575">
                  <a:solidFill>
                    <a:srgbClr val="C7D6E2"/>
                  </a:solidFill>
                  <a:latin typeface="Calibri (MS)"/>
                  <a:ea typeface="Calibri (MS)"/>
                  <a:cs typeface="Calibri (MS)"/>
                  <a:sym typeface="Calibri (MS)"/>
                </a:rPr>
                <a:t>Elitism</a:t>
              </a:r>
            </a:p>
          </p:txBody>
        </p:sp>
      </p:grpSp>
      <p:grpSp>
        <p:nvGrpSpPr>
          <p:cNvPr name="Group 70" id="70"/>
          <p:cNvGrpSpPr/>
          <p:nvPr/>
        </p:nvGrpSpPr>
        <p:grpSpPr>
          <a:xfrm rot="0">
            <a:off x="13510260" y="6172200"/>
            <a:ext cx="3497580" cy="1207008"/>
            <a:chOff x="0" y="0"/>
            <a:chExt cx="4663440" cy="1609344"/>
          </a:xfrm>
        </p:grpSpPr>
        <p:sp>
          <p:nvSpPr>
            <p:cNvPr name="Freeform 71" id="71"/>
            <p:cNvSpPr/>
            <p:nvPr/>
          </p:nvSpPr>
          <p:spPr>
            <a:xfrm flipH="false" flipV="false" rot="0">
              <a:off x="0" y="0"/>
              <a:ext cx="4663440" cy="1609344"/>
            </a:xfrm>
            <a:custGeom>
              <a:avLst/>
              <a:gdLst/>
              <a:ahLst/>
              <a:cxnLst/>
              <a:rect r="r" b="b" t="t" l="l"/>
              <a:pathLst>
                <a:path h="1609344" w="4663440">
                  <a:moveTo>
                    <a:pt x="0" y="109728"/>
                  </a:moveTo>
                  <a:cubicBezTo>
                    <a:pt x="0" y="49149"/>
                    <a:pt x="49149" y="0"/>
                    <a:pt x="109728" y="0"/>
                  </a:cubicBezTo>
                  <a:lnTo>
                    <a:pt x="4553712" y="0"/>
                  </a:lnTo>
                  <a:cubicBezTo>
                    <a:pt x="4614291" y="0"/>
                    <a:pt x="4663440" y="49149"/>
                    <a:pt x="4663440" y="109728"/>
                  </a:cubicBezTo>
                  <a:lnTo>
                    <a:pt x="4663440" y="1499616"/>
                  </a:lnTo>
                  <a:cubicBezTo>
                    <a:pt x="4663440" y="1560195"/>
                    <a:pt x="4614291" y="1609344"/>
                    <a:pt x="4553712" y="1609344"/>
                  </a:cubicBezTo>
                  <a:lnTo>
                    <a:pt x="109728" y="1609344"/>
                  </a:lnTo>
                  <a:cubicBezTo>
                    <a:pt x="49149" y="1609344"/>
                    <a:pt x="0" y="1560195"/>
                    <a:pt x="0" y="1499616"/>
                  </a:cubicBezTo>
                  <a:close/>
                </a:path>
              </a:pathLst>
            </a:custGeom>
            <a:solidFill>
              <a:srgbClr val="081D33"/>
            </a:solidFill>
          </p:spPr>
        </p:sp>
      </p:grpSp>
      <p:grpSp>
        <p:nvGrpSpPr>
          <p:cNvPr name="Group 72" id="72"/>
          <p:cNvGrpSpPr/>
          <p:nvPr/>
        </p:nvGrpSpPr>
        <p:grpSpPr>
          <a:xfrm rot="0">
            <a:off x="13716000" y="6281928"/>
            <a:ext cx="3086100" cy="617220"/>
            <a:chOff x="0" y="0"/>
            <a:chExt cx="4114800" cy="822960"/>
          </a:xfrm>
        </p:grpSpPr>
        <p:sp>
          <p:nvSpPr>
            <p:cNvPr name="Freeform 73" id="73"/>
            <p:cNvSpPr/>
            <p:nvPr/>
          </p:nvSpPr>
          <p:spPr>
            <a:xfrm flipH="false" flipV="false" rot="0">
              <a:off x="0" y="0"/>
              <a:ext cx="4114800" cy="822960"/>
            </a:xfrm>
            <a:custGeom>
              <a:avLst/>
              <a:gdLst/>
              <a:ahLst/>
              <a:cxnLst/>
              <a:rect r="r" b="b" t="t" l="l"/>
              <a:pathLst>
                <a:path h="822960" w="4114800">
                  <a:moveTo>
                    <a:pt x="0" y="0"/>
                  </a:moveTo>
                  <a:lnTo>
                    <a:pt x="4114800" y="0"/>
                  </a:lnTo>
                  <a:lnTo>
                    <a:pt x="4114800" y="822960"/>
                  </a:lnTo>
                  <a:lnTo>
                    <a:pt x="0" y="822960"/>
                  </a:lnTo>
                  <a:close/>
                </a:path>
              </a:pathLst>
            </a:custGeom>
            <a:blipFill>
              <a:blip r:embed="rId3">
                <a:alphaModFix amt="0"/>
              </a:blip>
              <a:stretch>
                <a:fillRect l="0" t="-47425" r="0" b="-47425"/>
              </a:stretch>
            </a:blipFill>
          </p:spPr>
        </p:sp>
        <p:sp>
          <p:nvSpPr>
            <p:cNvPr name="TextBox 74" id="74"/>
            <p:cNvSpPr txBox="true"/>
            <p:nvPr/>
          </p:nvSpPr>
          <p:spPr>
            <a:xfrm>
              <a:off x="0" y="-19050"/>
              <a:ext cx="4114800" cy="842010"/>
            </a:xfrm>
            <a:prstGeom prst="rect">
              <a:avLst/>
            </a:prstGeom>
          </p:spPr>
          <p:txBody>
            <a:bodyPr anchor="ctr" rtlCol="false" tIns="0" lIns="0" bIns="0" rIns="0"/>
            <a:lstStyle/>
            <a:p>
              <a:pPr algn="l">
                <a:lnSpc>
                  <a:spcPts val="3600"/>
                </a:lnSpc>
              </a:pPr>
              <a:r>
                <a:rPr lang="en-US" sz="3000" b="true">
                  <a:solidFill>
                    <a:srgbClr val="FF6B4A"/>
                  </a:solidFill>
                  <a:latin typeface="Cambria Bold"/>
                  <a:ea typeface="Cambria Bold"/>
                  <a:cs typeface="Cambria Bold"/>
                  <a:sym typeface="Cambria Bold"/>
                </a:rPr>
                <a:t>0.5</a:t>
              </a:r>
            </a:p>
          </p:txBody>
        </p:sp>
      </p:grpSp>
      <p:grpSp>
        <p:nvGrpSpPr>
          <p:cNvPr name="Group 75" id="75"/>
          <p:cNvGrpSpPr/>
          <p:nvPr/>
        </p:nvGrpSpPr>
        <p:grpSpPr>
          <a:xfrm rot="0">
            <a:off x="13716000" y="6885432"/>
            <a:ext cx="3086100" cy="480060"/>
            <a:chOff x="0" y="0"/>
            <a:chExt cx="4114800" cy="640080"/>
          </a:xfrm>
        </p:grpSpPr>
        <p:sp>
          <p:nvSpPr>
            <p:cNvPr name="Freeform 76" id="76"/>
            <p:cNvSpPr/>
            <p:nvPr/>
          </p:nvSpPr>
          <p:spPr>
            <a:xfrm flipH="false" flipV="false" rot="0">
              <a:off x="0" y="0"/>
              <a:ext cx="4114800" cy="640080"/>
            </a:xfrm>
            <a:custGeom>
              <a:avLst/>
              <a:gdLst/>
              <a:ahLst/>
              <a:cxnLst/>
              <a:rect r="r" b="b" t="t" l="l"/>
              <a:pathLst>
                <a:path h="640080" w="4114800">
                  <a:moveTo>
                    <a:pt x="0" y="0"/>
                  </a:moveTo>
                  <a:lnTo>
                    <a:pt x="4114800" y="0"/>
                  </a:lnTo>
                  <a:lnTo>
                    <a:pt x="4114800" y="640080"/>
                  </a:lnTo>
                  <a:lnTo>
                    <a:pt x="0" y="640080"/>
                  </a:lnTo>
                  <a:close/>
                </a:path>
              </a:pathLst>
            </a:custGeom>
            <a:blipFill>
              <a:blip r:embed="rId3">
                <a:alphaModFix amt="0"/>
              </a:blip>
              <a:stretch>
                <a:fillRect l="0" t="-75260" r="0" b="-75260"/>
              </a:stretch>
            </a:blipFill>
          </p:spPr>
        </p:sp>
        <p:sp>
          <p:nvSpPr>
            <p:cNvPr name="TextBox 77" id="77"/>
            <p:cNvSpPr txBox="true"/>
            <p:nvPr/>
          </p:nvSpPr>
          <p:spPr>
            <a:xfrm>
              <a:off x="0" y="-19050"/>
              <a:ext cx="4114800" cy="659130"/>
            </a:xfrm>
            <a:prstGeom prst="rect">
              <a:avLst/>
            </a:prstGeom>
          </p:spPr>
          <p:txBody>
            <a:bodyPr anchor="ctr" rtlCol="false" tIns="0" lIns="0" bIns="0" rIns="0"/>
            <a:lstStyle/>
            <a:p>
              <a:pPr algn="l">
                <a:lnSpc>
                  <a:spcPts val="1889"/>
                </a:lnSpc>
              </a:pPr>
              <a:r>
                <a:rPr lang="en-US" sz="1575">
                  <a:solidFill>
                    <a:srgbClr val="C7D6E2"/>
                  </a:solidFill>
                  <a:latin typeface="Calibri (MS)"/>
                  <a:ea typeface="Calibri (MS)"/>
                  <a:cs typeface="Calibri (MS)"/>
                  <a:sym typeface="Calibri (MS)"/>
                </a:rPr>
                <a:t>Mutation σ (Gaussian)</a:t>
              </a:r>
            </a:p>
          </p:txBody>
        </p:sp>
      </p:grpSp>
      <p:grpSp>
        <p:nvGrpSpPr>
          <p:cNvPr name="Group 78" id="78"/>
          <p:cNvGrpSpPr/>
          <p:nvPr/>
        </p:nvGrpSpPr>
        <p:grpSpPr>
          <a:xfrm rot="0">
            <a:off x="9738360" y="7543800"/>
            <a:ext cx="3497580" cy="1207008"/>
            <a:chOff x="0" y="0"/>
            <a:chExt cx="4663440" cy="1609344"/>
          </a:xfrm>
        </p:grpSpPr>
        <p:sp>
          <p:nvSpPr>
            <p:cNvPr name="Freeform 79" id="79"/>
            <p:cNvSpPr/>
            <p:nvPr/>
          </p:nvSpPr>
          <p:spPr>
            <a:xfrm flipH="false" flipV="false" rot="0">
              <a:off x="0" y="0"/>
              <a:ext cx="4663440" cy="1609344"/>
            </a:xfrm>
            <a:custGeom>
              <a:avLst/>
              <a:gdLst/>
              <a:ahLst/>
              <a:cxnLst/>
              <a:rect r="r" b="b" t="t" l="l"/>
              <a:pathLst>
                <a:path h="1609344" w="4663440">
                  <a:moveTo>
                    <a:pt x="0" y="109728"/>
                  </a:moveTo>
                  <a:cubicBezTo>
                    <a:pt x="0" y="49149"/>
                    <a:pt x="49149" y="0"/>
                    <a:pt x="109728" y="0"/>
                  </a:cubicBezTo>
                  <a:lnTo>
                    <a:pt x="4553712" y="0"/>
                  </a:lnTo>
                  <a:cubicBezTo>
                    <a:pt x="4614291" y="0"/>
                    <a:pt x="4663440" y="49149"/>
                    <a:pt x="4663440" y="109728"/>
                  </a:cubicBezTo>
                  <a:lnTo>
                    <a:pt x="4663440" y="1499616"/>
                  </a:lnTo>
                  <a:cubicBezTo>
                    <a:pt x="4663440" y="1560195"/>
                    <a:pt x="4614291" y="1609344"/>
                    <a:pt x="4553712" y="1609344"/>
                  </a:cubicBezTo>
                  <a:lnTo>
                    <a:pt x="109728" y="1609344"/>
                  </a:lnTo>
                  <a:cubicBezTo>
                    <a:pt x="49149" y="1609344"/>
                    <a:pt x="0" y="1560195"/>
                    <a:pt x="0" y="1499616"/>
                  </a:cubicBezTo>
                  <a:close/>
                </a:path>
              </a:pathLst>
            </a:custGeom>
            <a:solidFill>
              <a:srgbClr val="081D33"/>
            </a:solidFill>
          </p:spPr>
        </p:sp>
      </p:grpSp>
      <p:grpSp>
        <p:nvGrpSpPr>
          <p:cNvPr name="Group 80" id="80"/>
          <p:cNvGrpSpPr/>
          <p:nvPr/>
        </p:nvGrpSpPr>
        <p:grpSpPr>
          <a:xfrm rot="0">
            <a:off x="9944100" y="7653528"/>
            <a:ext cx="3086100" cy="617220"/>
            <a:chOff x="0" y="0"/>
            <a:chExt cx="4114800" cy="822960"/>
          </a:xfrm>
        </p:grpSpPr>
        <p:sp>
          <p:nvSpPr>
            <p:cNvPr name="Freeform 81" id="81"/>
            <p:cNvSpPr/>
            <p:nvPr/>
          </p:nvSpPr>
          <p:spPr>
            <a:xfrm flipH="false" flipV="false" rot="0">
              <a:off x="0" y="0"/>
              <a:ext cx="4114800" cy="822960"/>
            </a:xfrm>
            <a:custGeom>
              <a:avLst/>
              <a:gdLst/>
              <a:ahLst/>
              <a:cxnLst/>
              <a:rect r="r" b="b" t="t" l="l"/>
              <a:pathLst>
                <a:path h="822960" w="4114800">
                  <a:moveTo>
                    <a:pt x="0" y="0"/>
                  </a:moveTo>
                  <a:lnTo>
                    <a:pt x="4114800" y="0"/>
                  </a:lnTo>
                  <a:lnTo>
                    <a:pt x="4114800" y="822960"/>
                  </a:lnTo>
                  <a:lnTo>
                    <a:pt x="0" y="822960"/>
                  </a:lnTo>
                  <a:close/>
                </a:path>
              </a:pathLst>
            </a:custGeom>
            <a:blipFill>
              <a:blip r:embed="rId3">
                <a:alphaModFix amt="0"/>
              </a:blip>
              <a:stretch>
                <a:fillRect l="0" t="-47425" r="0" b="-47425"/>
              </a:stretch>
            </a:blipFill>
          </p:spPr>
        </p:sp>
        <p:sp>
          <p:nvSpPr>
            <p:cNvPr name="TextBox 82" id="82"/>
            <p:cNvSpPr txBox="true"/>
            <p:nvPr/>
          </p:nvSpPr>
          <p:spPr>
            <a:xfrm>
              <a:off x="0" y="-19050"/>
              <a:ext cx="4114800" cy="842010"/>
            </a:xfrm>
            <a:prstGeom prst="rect">
              <a:avLst/>
            </a:prstGeom>
          </p:spPr>
          <p:txBody>
            <a:bodyPr anchor="ctr" rtlCol="false" tIns="0" lIns="0" bIns="0" rIns="0"/>
            <a:lstStyle/>
            <a:p>
              <a:pPr algn="l">
                <a:lnSpc>
                  <a:spcPts val="3600"/>
                </a:lnSpc>
              </a:pPr>
              <a:r>
                <a:rPr lang="en-US" sz="3000" b="true">
                  <a:solidFill>
                    <a:srgbClr val="FF6B4A"/>
                  </a:solidFill>
                  <a:latin typeface="Cambria Bold"/>
                  <a:ea typeface="Cambria Bold"/>
                  <a:cs typeface="Cambria Bold"/>
                  <a:sym typeface="Cambria Bold"/>
                </a:rPr>
                <a:t>1e-6</a:t>
              </a:r>
            </a:p>
          </p:txBody>
        </p:sp>
      </p:grpSp>
      <p:grpSp>
        <p:nvGrpSpPr>
          <p:cNvPr name="Group 83" id="83"/>
          <p:cNvGrpSpPr/>
          <p:nvPr/>
        </p:nvGrpSpPr>
        <p:grpSpPr>
          <a:xfrm rot="0">
            <a:off x="9944100" y="8257032"/>
            <a:ext cx="3086100" cy="480060"/>
            <a:chOff x="0" y="0"/>
            <a:chExt cx="4114800" cy="640080"/>
          </a:xfrm>
        </p:grpSpPr>
        <p:sp>
          <p:nvSpPr>
            <p:cNvPr name="Freeform 84" id="84"/>
            <p:cNvSpPr/>
            <p:nvPr/>
          </p:nvSpPr>
          <p:spPr>
            <a:xfrm flipH="false" flipV="false" rot="0">
              <a:off x="0" y="0"/>
              <a:ext cx="4114800" cy="640080"/>
            </a:xfrm>
            <a:custGeom>
              <a:avLst/>
              <a:gdLst/>
              <a:ahLst/>
              <a:cxnLst/>
              <a:rect r="r" b="b" t="t" l="l"/>
              <a:pathLst>
                <a:path h="640080" w="4114800">
                  <a:moveTo>
                    <a:pt x="0" y="0"/>
                  </a:moveTo>
                  <a:lnTo>
                    <a:pt x="4114800" y="0"/>
                  </a:lnTo>
                  <a:lnTo>
                    <a:pt x="4114800" y="640080"/>
                  </a:lnTo>
                  <a:lnTo>
                    <a:pt x="0" y="640080"/>
                  </a:lnTo>
                  <a:close/>
                </a:path>
              </a:pathLst>
            </a:custGeom>
            <a:blipFill>
              <a:blip r:embed="rId3">
                <a:alphaModFix amt="0"/>
              </a:blip>
              <a:stretch>
                <a:fillRect l="0" t="-75260" r="0" b="-75260"/>
              </a:stretch>
            </a:blipFill>
          </p:spPr>
        </p:sp>
        <p:sp>
          <p:nvSpPr>
            <p:cNvPr name="TextBox 85" id="85"/>
            <p:cNvSpPr txBox="true"/>
            <p:nvPr/>
          </p:nvSpPr>
          <p:spPr>
            <a:xfrm>
              <a:off x="0" y="-19050"/>
              <a:ext cx="4114800" cy="659130"/>
            </a:xfrm>
            <a:prstGeom prst="rect">
              <a:avLst/>
            </a:prstGeom>
          </p:spPr>
          <p:txBody>
            <a:bodyPr anchor="ctr" rtlCol="false" tIns="0" lIns="0" bIns="0" rIns="0"/>
            <a:lstStyle/>
            <a:p>
              <a:pPr algn="l">
                <a:lnSpc>
                  <a:spcPts val="1889"/>
                </a:lnSpc>
              </a:pPr>
              <a:r>
                <a:rPr lang="en-US" sz="1575">
                  <a:solidFill>
                    <a:srgbClr val="C7D6E2"/>
                  </a:solidFill>
                  <a:latin typeface="Calibri (MS)"/>
                  <a:ea typeface="Calibri (MS)"/>
                  <a:cs typeface="Calibri (MS)"/>
                  <a:sym typeface="Calibri (MS)"/>
                </a:rPr>
                <a:t>Early-stop tolerance</a:t>
              </a:r>
            </a:p>
          </p:txBody>
        </p:sp>
      </p:grpSp>
      <p:grpSp>
        <p:nvGrpSpPr>
          <p:cNvPr name="Group 86" id="86"/>
          <p:cNvGrpSpPr/>
          <p:nvPr/>
        </p:nvGrpSpPr>
        <p:grpSpPr>
          <a:xfrm rot="0">
            <a:off x="13510260" y="7543800"/>
            <a:ext cx="3497580" cy="1207008"/>
            <a:chOff x="0" y="0"/>
            <a:chExt cx="4663440" cy="1609344"/>
          </a:xfrm>
        </p:grpSpPr>
        <p:sp>
          <p:nvSpPr>
            <p:cNvPr name="Freeform 87" id="87"/>
            <p:cNvSpPr/>
            <p:nvPr/>
          </p:nvSpPr>
          <p:spPr>
            <a:xfrm flipH="false" flipV="false" rot="0">
              <a:off x="0" y="0"/>
              <a:ext cx="4663440" cy="1609344"/>
            </a:xfrm>
            <a:custGeom>
              <a:avLst/>
              <a:gdLst/>
              <a:ahLst/>
              <a:cxnLst/>
              <a:rect r="r" b="b" t="t" l="l"/>
              <a:pathLst>
                <a:path h="1609344" w="4663440">
                  <a:moveTo>
                    <a:pt x="0" y="109728"/>
                  </a:moveTo>
                  <a:cubicBezTo>
                    <a:pt x="0" y="49149"/>
                    <a:pt x="49149" y="0"/>
                    <a:pt x="109728" y="0"/>
                  </a:cubicBezTo>
                  <a:lnTo>
                    <a:pt x="4553712" y="0"/>
                  </a:lnTo>
                  <a:cubicBezTo>
                    <a:pt x="4614291" y="0"/>
                    <a:pt x="4663440" y="49149"/>
                    <a:pt x="4663440" y="109728"/>
                  </a:cubicBezTo>
                  <a:lnTo>
                    <a:pt x="4663440" y="1499616"/>
                  </a:lnTo>
                  <a:cubicBezTo>
                    <a:pt x="4663440" y="1560195"/>
                    <a:pt x="4614291" y="1609344"/>
                    <a:pt x="4553712" y="1609344"/>
                  </a:cubicBezTo>
                  <a:lnTo>
                    <a:pt x="109728" y="1609344"/>
                  </a:lnTo>
                  <a:cubicBezTo>
                    <a:pt x="49149" y="1609344"/>
                    <a:pt x="0" y="1560195"/>
                    <a:pt x="0" y="1499616"/>
                  </a:cubicBezTo>
                  <a:close/>
                </a:path>
              </a:pathLst>
            </a:custGeom>
            <a:solidFill>
              <a:srgbClr val="081D33"/>
            </a:solidFill>
          </p:spPr>
        </p:sp>
      </p:grpSp>
      <p:grpSp>
        <p:nvGrpSpPr>
          <p:cNvPr name="Group 88" id="88"/>
          <p:cNvGrpSpPr/>
          <p:nvPr/>
        </p:nvGrpSpPr>
        <p:grpSpPr>
          <a:xfrm rot="0">
            <a:off x="13716000" y="7653528"/>
            <a:ext cx="3086100" cy="617220"/>
            <a:chOff x="0" y="0"/>
            <a:chExt cx="4114800" cy="822960"/>
          </a:xfrm>
        </p:grpSpPr>
        <p:sp>
          <p:nvSpPr>
            <p:cNvPr name="Freeform 89" id="89"/>
            <p:cNvSpPr/>
            <p:nvPr/>
          </p:nvSpPr>
          <p:spPr>
            <a:xfrm flipH="false" flipV="false" rot="0">
              <a:off x="0" y="0"/>
              <a:ext cx="4114800" cy="822960"/>
            </a:xfrm>
            <a:custGeom>
              <a:avLst/>
              <a:gdLst/>
              <a:ahLst/>
              <a:cxnLst/>
              <a:rect r="r" b="b" t="t" l="l"/>
              <a:pathLst>
                <a:path h="822960" w="4114800">
                  <a:moveTo>
                    <a:pt x="0" y="0"/>
                  </a:moveTo>
                  <a:lnTo>
                    <a:pt x="4114800" y="0"/>
                  </a:lnTo>
                  <a:lnTo>
                    <a:pt x="4114800" y="822960"/>
                  </a:lnTo>
                  <a:lnTo>
                    <a:pt x="0" y="822960"/>
                  </a:lnTo>
                  <a:close/>
                </a:path>
              </a:pathLst>
            </a:custGeom>
            <a:blipFill>
              <a:blip r:embed="rId3">
                <a:alphaModFix amt="0"/>
              </a:blip>
              <a:stretch>
                <a:fillRect l="0" t="-47425" r="0" b="-47425"/>
              </a:stretch>
            </a:blipFill>
          </p:spPr>
        </p:sp>
        <p:sp>
          <p:nvSpPr>
            <p:cNvPr name="TextBox 90" id="90"/>
            <p:cNvSpPr txBox="true"/>
            <p:nvPr/>
          </p:nvSpPr>
          <p:spPr>
            <a:xfrm>
              <a:off x="0" y="-19050"/>
              <a:ext cx="4114800" cy="842010"/>
            </a:xfrm>
            <a:prstGeom prst="rect">
              <a:avLst/>
            </a:prstGeom>
          </p:spPr>
          <p:txBody>
            <a:bodyPr anchor="ctr" rtlCol="false" tIns="0" lIns="0" bIns="0" rIns="0"/>
            <a:lstStyle/>
            <a:p>
              <a:pPr algn="l">
                <a:lnSpc>
                  <a:spcPts val="3600"/>
                </a:lnSpc>
              </a:pPr>
              <a:r>
                <a:rPr lang="en-US" sz="3000" b="true">
                  <a:solidFill>
                    <a:srgbClr val="FF6B4A"/>
                  </a:solidFill>
                  <a:latin typeface="Cambria Bold"/>
                  <a:ea typeface="Cambria Bold"/>
                  <a:cs typeface="Cambria Bold"/>
                  <a:sym typeface="Cambria Bold"/>
                </a:rPr>
                <a:t>42 (reproducible)</a:t>
              </a:r>
            </a:p>
          </p:txBody>
        </p:sp>
      </p:grpSp>
      <p:grpSp>
        <p:nvGrpSpPr>
          <p:cNvPr name="Group 91" id="91"/>
          <p:cNvGrpSpPr/>
          <p:nvPr/>
        </p:nvGrpSpPr>
        <p:grpSpPr>
          <a:xfrm rot="0">
            <a:off x="13716000" y="8257032"/>
            <a:ext cx="3086100" cy="480060"/>
            <a:chOff x="0" y="0"/>
            <a:chExt cx="4114800" cy="640080"/>
          </a:xfrm>
        </p:grpSpPr>
        <p:sp>
          <p:nvSpPr>
            <p:cNvPr name="Freeform 92" id="92"/>
            <p:cNvSpPr/>
            <p:nvPr/>
          </p:nvSpPr>
          <p:spPr>
            <a:xfrm flipH="false" flipV="false" rot="0">
              <a:off x="0" y="0"/>
              <a:ext cx="4114800" cy="640080"/>
            </a:xfrm>
            <a:custGeom>
              <a:avLst/>
              <a:gdLst/>
              <a:ahLst/>
              <a:cxnLst/>
              <a:rect r="r" b="b" t="t" l="l"/>
              <a:pathLst>
                <a:path h="640080" w="4114800">
                  <a:moveTo>
                    <a:pt x="0" y="0"/>
                  </a:moveTo>
                  <a:lnTo>
                    <a:pt x="4114800" y="0"/>
                  </a:lnTo>
                  <a:lnTo>
                    <a:pt x="4114800" y="640080"/>
                  </a:lnTo>
                  <a:lnTo>
                    <a:pt x="0" y="640080"/>
                  </a:lnTo>
                  <a:close/>
                </a:path>
              </a:pathLst>
            </a:custGeom>
            <a:blipFill>
              <a:blip r:embed="rId3">
                <a:alphaModFix amt="0"/>
              </a:blip>
              <a:stretch>
                <a:fillRect l="0" t="-75260" r="0" b="-75260"/>
              </a:stretch>
            </a:blipFill>
          </p:spPr>
        </p:sp>
        <p:sp>
          <p:nvSpPr>
            <p:cNvPr name="TextBox 93" id="93"/>
            <p:cNvSpPr txBox="true"/>
            <p:nvPr/>
          </p:nvSpPr>
          <p:spPr>
            <a:xfrm>
              <a:off x="0" y="-19050"/>
              <a:ext cx="4114800" cy="659130"/>
            </a:xfrm>
            <a:prstGeom prst="rect">
              <a:avLst/>
            </a:prstGeom>
          </p:spPr>
          <p:txBody>
            <a:bodyPr anchor="ctr" rtlCol="false" tIns="0" lIns="0" bIns="0" rIns="0"/>
            <a:lstStyle/>
            <a:p>
              <a:pPr algn="l">
                <a:lnSpc>
                  <a:spcPts val="1889"/>
                </a:lnSpc>
              </a:pPr>
              <a:r>
                <a:rPr lang="en-US" sz="1575">
                  <a:solidFill>
                    <a:srgbClr val="C7D6E2"/>
                  </a:solidFill>
                  <a:latin typeface="Calibri (MS)"/>
                  <a:ea typeface="Calibri (MS)"/>
                  <a:cs typeface="Calibri (MS)"/>
                  <a:sym typeface="Calibri (MS)"/>
                </a:rPr>
                <a:t>Random seed</a:t>
              </a:r>
            </a:p>
          </p:txBody>
        </p:sp>
      </p:grpSp>
      <p:grpSp>
        <p:nvGrpSpPr>
          <p:cNvPr name="Group 94" id="94"/>
          <p:cNvGrpSpPr/>
          <p:nvPr/>
        </p:nvGrpSpPr>
        <p:grpSpPr>
          <a:xfrm rot="0">
            <a:off x="16774668" y="9669780"/>
            <a:ext cx="1097280" cy="411480"/>
            <a:chOff x="0" y="0"/>
            <a:chExt cx="1463040" cy="548640"/>
          </a:xfrm>
        </p:grpSpPr>
        <p:sp>
          <p:nvSpPr>
            <p:cNvPr name="Freeform 95" id="95"/>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96" id="96"/>
            <p:cNvSpPr txBox="true"/>
            <p:nvPr/>
          </p:nvSpPr>
          <p:spPr>
            <a:xfrm>
              <a:off x="0" y="-38100"/>
              <a:ext cx="1463040" cy="586740"/>
            </a:xfrm>
            <a:prstGeom prst="rect">
              <a:avLst/>
            </a:prstGeom>
          </p:spPr>
          <p:txBody>
            <a:bodyPr anchor="ctr" rtlCol="false" tIns="0" lIns="0" bIns="0" rIns="0"/>
            <a:lstStyle/>
            <a:p>
              <a:pPr algn="r">
                <a:lnSpc>
                  <a:spcPts val="1800"/>
                </a:lnSpc>
              </a:pPr>
              <a:r>
                <a:rPr lang="en-US" sz="1500">
                  <a:solidFill>
                    <a:srgbClr val="5B6472"/>
                  </a:solidFill>
                  <a:latin typeface="Calibri (MS)"/>
                  <a:ea typeface="Calibri (MS)"/>
                  <a:cs typeface="Calibri (MS)"/>
                  <a:sym typeface="Calibri (MS)"/>
                </a:rPr>
                <a:t>4 / 13</a:t>
              </a:r>
            </a:p>
          </p:txBody>
        </p:sp>
      </p:grpSp>
      <p:grpSp>
        <p:nvGrpSpPr>
          <p:cNvPr name="Group 97" id="97"/>
          <p:cNvGrpSpPr/>
          <p:nvPr/>
        </p:nvGrpSpPr>
        <p:grpSpPr>
          <a:xfrm rot="0">
            <a:off x="685800" y="9669780"/>
            <a:ext cx="5486400" cy="411480"/>
            <a:chOff x="0" y="0"/>
            <a:chExt cx="7315200" cy="548640"/>
          </a:xfrm>
        </p:grpSpPr>
        <p:sp>
          <p:nvSpPr>
            <p:cNvPr name="Freeform 98" id="98"/>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99" id="99"/>
            <p:cNvSpPr txBox="true"/>
            <p:nvPr/>
          </p:nvSpPr>
          <p:spPr>
            <a:xfrm>
              <a:off x="0" y="-38100"/>
              <a:ext cx="7315200" cy="586740"/>
            </a:xfrm>
            <a:prstGeom prst="rect">
              <a:avLst/>
            </a:prstGeom>
          </p:spPr>
          <p:txBody>
            <a:bodyPr anchor="ctr" rtlCol="false" tIns="0" lIns="0" bIns="0" rIns="0"/>
            <a:lstStyle/>
            <a:p>
              <a:pPr algn="l">
                <a:lnSpc>
                  <a:spcPts val="1800"/>
                </a:lnSpc>
              </a:pPr>
              <a:r>
                <a:rPr lang="en-US" sz="1500">
                  <a:solidFill>
                    <a:srgbClr val="5B6472"/>
                  </a:solidFill>
                  <a:latin typeface="Calibri (MS)"/>
                  <a:ea typeface="Calibri (MS)"/>
                  <a:cs typeface="Calibri (MS)"/>
                  <a:sym typeface="Calibri (MS)"/>
                </a:rPr>
                <a:t>GA · 2D Ackley Function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47625"/>
              <a:ext cx="14630400" cy="687705"/>
            </a:xfrm>
            <a:prstGeom prst="rect">
              <a:avLst/>
            </a:prstGeom>
          </p:spPr>
          <p:txBody>
            <a:bodyPr anchor="ctr" rtlCol="false" tIns="0" lIns="0" bIns="0" rIns="0"/>
            <a:lstStyle/>
            <a:p>
              <a:pPr algn="l">
                <a:lnSpc>
                  <a:spcPts val="2340"/>
                </a:lnSpc>
              </a:pPr>
              <a:r>
                <a:rPr lang="en-US" b="true" sz="1950" spc="299">
                  <a:solidFill>
                    <a:srgbClr val="1C7293"/>
                  </a:solidFill>
                  <a:latin typeface="Calibri (MS) Bold"/>
                  <a:ea typeface="Calibri (MS) Bold"/>
                  <a:cs typeface="Calibri (MS) Bold"/>
                  <a:sym typeface="Calibri (MS) Bold"/>
                </a:rPr>
                <a:t>HOW IT WORKS</a:t>
              </a:r>
            </a:p>
          </p:txBody>
        </p:sp>
      </p:grpSp>
      <p:grpSp>
        <p:nvGrpSpPr>
          <p:cNvPr name="Group 5" id="5"/>
          <p:cNvGrpSpPr/>
          <p:nvPr/>
        </p:nvGrpSpPr>
        <p:grpSpPr>
          <a:xfrm rot="0">
            <a:off x="822960" y="987552"/>
            <a:ext cx="15910560" cy="960120"/>
            <a:chOff x="0" y="0"/>
            <a:chExt cx="21214080" cy="1280160"/>
          </a:xfrm>
        </p:grpSpPr>
        <p:sp>
          <p:nvSpPr>
            <p:cNvPr name="Freeform 6" id="6"/>
            <p:cNvSpPr/>
            <p:nvPr/>
          </p:nvSpPr>
          <p:spPr>
            <a:xfrm flipH="false" flipV="false" rot="0">
              <a:off x="0" y="0"/>
              <a:ext cx="21214080" cy="1280160"/>
            </a:xfrm>
            <a:custGeom>
              <a:avLst/>
              <a:gdLst/>
              <a:ahLst/>
              <a:cxnLst/>
              <a:rect r="r" b="b" t="t" l="l"/>
              <a:pathLst>
                <a:path h="1280160" w="21214080">
                  <a:moveTo>
                    <a:pt x="0" y="0"/>
                  </a:moveTo>
                  <a:lnTo>
                    <a:pt x="21214080" y="0"/>
                  </a:lnTo>
                  <a:lnTo>
                    <a:pt x="21214080" y="1280160"/>
                  </a:lnTo>
                  <a:lnTo>
                    <a:pt x="0" y="1280160"/>
                  </a:lnTo>
                  <a:close/>
                </a:path>
              </a:pathLst>
            </a:custGeom>
            <a:blipFill>
              <a:blip r:embed="rId3">
                <a:alphaModFix amt="0"/>
              </a:blip>
              <a:stretch>
                <a:fillRect l="0" t="-272894" r="0" b="-272894"/>
              </a:stretch>
            </a:blipFill>
          </p:spPr>
        </p:sp>
        <p:sp>
          <p:nvSpPr>
            <p:cNvPr name="TextBox 7" id="7"/>
            <p:cNvSpPr txBox="true"/>
            <p:nvPr/>
          </p:nvSpPr>
          <p:spPr>
            <a:xfrm>
              <a:off x="0" y="-19050"/>
              <a:ext cx="21214080" cy="1299210"/>
            </a:xfrm>
            <a:prstGeom prst="rect">
              <a:avLst/>
            </a:prstGeom>
          </p:spPr>
          <p:txBody>
            <a:bodyPr anchor="ctr" rtlCol="false" tIns="0" lIns="0" bIns="0" rIns="0"/>
            <a:lstStyle/>
            <a:p>
              <a:pPr algn="l">
                <a:lnSpc>
                  <a:spcPts val="5400"/>
                </a:lnSpc>
              </a:pPr>
              <a:r>
                <a:rPr lang="en-US" sz="4500" b="true">
                  <a:solidFill>
                    <a:srgbClr val="1B1F27"/>
                  </a:solidFill>
                  <a:latin typeface="Cambria Bold"/>
                  <a:ea typeface="Cambria Bold"/>
                  <a:cs typeface="Cambria Bold"/>
                  <a:sym typeface="Cambria Bold"/>
                </a:rPr>
                <a:t>The standard GA flowchart</a:t>
              </a:r>
            </a:p>
          </p:txBody>
        </p:sp>
      </p:grpSp>
      <p:grpSp>
        <p:nvGrpSpPr>
          <p:cNvPr name="Group 8" id="8"/>
          <p:cNvGrpSpPr/>
          <p:nvPr/>
        </p:nvGrpSpPr>
        <p:grpSpPr>
          <a:xfrm rot="0">
            <a:off x="813435" y="2322195"/>
            <a:ext cx="8385810" cy="6384569"/>
            <a:chOff x="0" y="0"/>
            <a:chExt cx="11181080" cy="8512759"/>
          </a:xfrm>
        </p:grpSpPr>
        <p:sp>
          <p:nvSpPr>
            <p:cNvPr name="Freeform 9" id="9"/>
            <p:cNvSpPr/>
            <p:nvPr/>
          </p:nvSpPr>
          <p:spPr>
            <a:xfrm flipH="false" flipV="false" rot="0">
              <a:off x="0" y="0"/>
              <a:ext cx="11181080" cy="8512810"/>
            </a:xfrm>
            <a:custGeom>
              <a:avLst/>
              <a:gdLst/>
              <a:ahLst/>
              <a:cxnLst/>
              <a:rect r="r" b="b" t="t" l="l"/>
              <a:pathLst>
                <a:path h="8512810" w="11181080">
                  <a:moveTo>
                    <a:pt x="0" y="146812"/>
                  </a:moveTo>
                  <a:cubicBezTo>
                    <a:pt x="0" y="65659"/>
                    <a:pt x="65659" y="0"/>
                    <a:pt x="146812" y="0"/>
                  </a:cubicBezTo>
                  <a:lnTo>
                    <a:pt x="11034268" y="0"/>
                  </a:lnTo>
                  <a:cubicBezTo>
                    <a:pt x="11115294" y="0"/>
                    <a:pt x="11181080" y="65659"/>
                    <a:pt x="11181080" y="146812"/>
                  </a:cubicBezTo>
                  <a:lnTo>
                    <a:pt x="11181080" y="8365998"/>
                  </a:lnTo>
                  <a:cubicBezTo>
                    <a:pt x="11181080" y="8447024"/>
                    <a:pt x="11115422" y="8512810"/>
                    <a:pt x="11034268" y="8512810"/>
                  </a:cubicBezTo>
                  <a:lnTo>
                    <a:pt x="146812" y="8512810"/>
                  </a:lnTo>
                  <a:cubicBezTo>
                    <a:pt x="65659" y="8512810"/>
                    <a:pt x="0" y="8447024"/>
                    <a:pt x="0" y="8365998"/>
                  </a:cubicBezTo>
                  <a:close/>
                </a:path>
              </a:pathLst>
            </a:custGeom>
            <a:solidFill>
              <a:srgbClr val="FFFFFF"/>
            </a:solidFill>
            <a:ln w="19050" cap="sq">
              <a:solidFill>
                <a:srgbClr val="E3E9EE"/>
              </a:solidFill>
              <a:prstDash val="solid"/>
              <a:miter/>
            </a:ln>
          </p:spPr>
        </p:sp>
      </p:grpSp>
      <p:grpSp>
        <p:nvGrpSpPr>
          <p:cNvPr name="Group 10" id="10"/>
          <p:cNvGrpSpPr/>
          <p:nvPr/>
        </p:nvGrpSpPr>
        <p:grpSpPr>
          <a:xfrm rot="0">
            <a:off x="948829" y="2451529"/>
            <a:ext cx="7943571" cy="6107842"/>
            <a:chOff x="0" y="0"/>
            <a:chExt cx="10241280" cy="7874560"/>
          </a:xfrm>
        </p:grpSpPr>
        <p:sp>
          <p:nvSpPr>
            <p:cNvPr name="Freeform 11" id="11" descr="/home/claude/build/flowchart.png"/>
            <p:cNvSpPr/>
            <p:nvPr/>
          </p:nvSpPr>
          <p:spPr>
            <a:xfrm flipH="false" flipV="false" rot="0">
              <a:off x="0" y="0"/>
              <a:ext cx="10241280" cy="7874610"/>
            </a:xfrm>
            <a:custGeom>
              <a:avLst/>
              <a:gdLst/>
              <a:ahLst/>
              <a:cxnLst/>
              <a:rect r="r" b="b" t="t" l="l"/>
              <a:pathLst>
                <a:path h="7874610" w="10241280">
                  <a:moveTo>
                    <a:pt x="0" y="0"/>
                  </a:moveTo>
                  <a:lnTo>
                    <a:pt x="10241280" y="0"/>
                  </a:lnTo>
                  <a:lnTo>
                    <a:pt x="10241280" y="7874610"/>
                  </a:lnTo>
                  <a:lnTo>
                    <a:pt x="0" y="7874610"/>
                  </a:lnTo>
                  <a:lnTo>
                    <a:pt x="0" y="0"/>
                  </a:lnTo>
                  <a:close/>
                </a:path>
              </a:pathLst>
            </a:custGeom>
            <a:blipFill>
              <a:blip r:embed="rId4"/>
              <a:stretch>
                <a:fillRect l="-1991" t="0" r="-1991" b="0"/>
              </a:stretch>
            </a:blipFill>
          </p:spPr>
        </p:sp>
      </p:grpSp>
      <p:grpSp>
        <p:nvGrpSpPr>
          <p:cNvPr name="Group 12" id="12"/>
          <p:cNvGrpSpPr/>
          <p:nvPr/>
        </p:nvGrpSpPr>
        <p:grpSpPr>
          <a:xfrm rot="0">
            <a:off x="9601200" y="1963483"/>
            <a:ext cx="7818120" cy="548640"/>
            <a:chOff x="0" y="0"/>
            <a:chExt cx="10424160" cy="731520"/>
          </a:xfrm>
        </p:grpSpPr>
        <p:sp>
          <p:nvSpPr>
            <p:cNvPr name="Freeform 13" id="13"/>
            <p:cNvSpPr/>
            <p:nvPr/>
          </p:nvSpPr>
          <p:spPr>
            <a:xfrm flipH="false" flipV="false" rot="0">
              <a:off x="0" y="0"/>
              <a:ext cx="10424160" cy="731520"/>
            </a:xfrm>
            <a:custGeom>
              <a:avLst/>
              <a:gdLst/>
              <a:ahLst/>
              <a:cxnLst/>
              <a:rect r="r" b="b" t="t" l="l"/>
              <a:pathLst>
                <a:path h="731520" w="10424160">
                  <a:moveTo>
                    <a:pt x="0" y="0"/>
                  </a:moveTo>
                  <a:lnTo>
                    <a:pt x="10424160" y="0"/>
                  </a:lnTo>
                  <a:lnTo>
                    <a:pt x="10424160" y="731520"/>
                  </a:lnTo>
                  <a:lnTo>
                    <a:pt x="0" y="731520"/>
                  </a:lnTo>
                  <a:close/>
                </a:path>
              </a:pathLst>
            </a:custGeom>
            <a:blipFill>
              <a:blip r:embed="rId3">
                <a:alphaModFix amt="0"/>
              </a:blip>
              <a:stretch>
                <a:fillRect l="0" t="-227661" r="0" b="-227661"/>
              </a:stretch>
            </a:blipFill>
          </p:spPr>
        </p:sp>
        <p:sp>
          <p:nvSpPr>
            <p:cNvPr name="TextBox 14" id="14"/>
            <p:cNvSpPr txBox="true"/>
            <p:nvPr/>
          </p:nvSpPr>
          <p:spPr>
            <a:xfrm>
              <a:off x="0" y="-19050"/>
              <a:ext cx="10424160" cy="750570"/>
            </a:xfrm>
            <a:prstGeom prst="rect">
              <a:avLst/>
            </a:prstGeom>
          </p:spPr>
          <p:txBody>
            <a:bodyPr anchor="ctr" rtlCol="false" tIns="0" lIns="0" bIns="0" rIns="0"/>
            <a:lstStyle/>
            <a:p>
              <a:pPr algn="l">
                <a:lnSpc>
                  <a:spcPts val="4320"/>
                </a:lnSpc>
              </a:pPr>
              <a:r>
                <a:rPr lang="en-US" sz="3600" b="true">
                  <a:solidFill>
                    <a:srgbClr val="0B2A4A"/>
                  </a:solidFill>
                  <a:latin typeface="Cambria Bold"/>
                  <a:ea typeface="Cambria Bold"/>
                  <a:cs typeface="Cambria Bold"/>
                  <a:sym typeface="Cambria Bold"/>
                </a:rPr>
                <a:t>Reading the loop</a:t>
              </a:r>
            </a:p>
          </p:txBody>
        </p:sp>
      </p:grpSp>
      <p:grpSp>
        <p:nvGrpSpPr>
          <p:cNvPr name="Group 15" id="15"/>
          <p:cNvGrpSpPr/>
          <p:nvPr/>
        </p:nvGrpSpPr>
        <p:grpSpPr>
          <a:xfrm rot="0">
            <a:off x="9591675" y="2639758"/>
            <a:ext cx="7837170" cy="1088898"/>
            <a:chOff x="0" y="0"/>
            <a:chExt cx="10449560" cy="1451864"/>
          </a:xfrm>
        </p:grpSpPr>
        <p:sp>
          <p:nvSpPr>
            <p:cNvPr name="Freeform 16" id="16"/>
            <p:cNvSpPr/>
            <p:nvPr/>
          </p:nvSpPr>
          <p:spPr>
            <a:xfrm flipH="false" flipV="false" rot="0">
              <a:off x="0" y="0"/>
              <a:ext cx="10449560" cy="1451864"/>
            </a:xfrm>
            <a:custGeom>
              <a:avLst/>
              <a:gdLst/>
              <a:ahLst/>
              <a:cxnLst/>
              <a:rect r="r" b="b" t="t" l="l"/>
              <a:pathLst>
                <a:path h="1451864" w="10449560">
                  <a:moveTo>
                    <a:pt x="0" y="130302"/>
                  </a:moveTo>
                  <a:cubicBezTo>
                    <a:pt x="0" y="58293"/>
                    <a:pt x="58293" y="0"/>
                    <a:pt x="130302" y="0"/>
                  </a:cubicBezTo>
                  <a:lnTo>
                    <a:pt x="10319258" y="0"/>
                  </a:lnTo>
                  <a:cubicBezTo>
                    <a:pt x="10391267" y="0"/>
                    <a:pt x="10449560" y="58293"/>
                    <a:pt x="10449560" y="130302"/>
                  </a:cubicBezTo>
                  <a:lnTo>
                    <a:pt x="10449560" y="1321562"/>
                  </a:lnTo>
                  <a:cubicBezTo>
                    <a:pt x="10449560" y="1393571"/>
                    <a:pt x="10391267" y="1451864"/>
                    <a:pt x="10319258" y="1451864"/>
                  </a:cubicBezTo>
                  <a:lnTo>
                    <a:pt x="130302" y="1451864"/>
                  </a:lnTo>
                  <a:cubicBezTo>
                    <a:pt x="58293" y="1451864"/>
                    <a:pt x="0" y="1393571"/>
                    <a:pt x="0" y="1321562"/>
                  </a:cubicBezTo>
                  <a:close/>
                </a:path>
              </a:pathLst>
            </a:custGeom>
            <a:solidFill>
              <a:srgbClr val="FFFFFF"/>
            </a:solidFill>
            <a:ln w="19050" cap="sq">
              <a:solidFill>
                <a:srgbClr val="E3E9EE"/>
              </a:solidFill>
              <a:prstDash val="solid"/>
              <a:miter/>
            </a:ln>
          </p:spPr>
        </p:sp>
      </p:grpSp>
      <p:grpSp>
        <p:nvGrpSpPr>
          <p:cNvPr name="Group 17" id="17"/>
          <p:cNvGrpSpPr/>
          <p:nvPr/>
        </p:nvGrpSpPr>
        <p:grpSpPr>
          <a:xfrm rot="0">
            <a:off x="9601200" y="2649284"/>
            <a:ext cx="109728" cy="1069848"/>
            <a:chOff x="0" y="0"/>
            <a:chExt cx="146304" cy="1426464"/>
          </a:xfrm>
        </p:grpSpPr>
        <p:sp>
          <p:nvSpPr>
            <p:cNvPr name="Freeform 18" id="18"/>
            <p:cNvSpPr/>
            <p:nvPr/>
          </p:nvSpPr>
          <p:spPr>
            <a:xfrm flipH="false" flipV="false" rot="0">
              <a:off x="0" y="0"/>
              <a:ext cx="146304" cy="1426464"/>
            </a:xfrm>
            <a:custGeom>
              <a:avLst/>
              <a:gdLst/>
              <a:ahLst/>
              <a:cxnLst/>
              <a:rect r="r" b="b" t="t" l="l"/>
              <a:pathLst>
                <a:path h="1426464" w="146304">
                  <a:moveTo>
                    <a:pt x="0" y="0"/>
                  </a:moveTo>
                  <a:lnTo>
                    <a:pt x="146304" y="0"/>
                  </a:lnTo>
                  <a:lnTo>
                    <a:pt x="146304" y="1426464"/>
                  </a:lnTo>
                  <a:lnTo>
                    <a:pt x="0" y="1426464"/>
                  </a:lnTo>
                  <a:close/>
                </a:path>
              </a:pathLst>
            </a:custGeom>
            <a:solidFill>
              <a:srgbClr val="1C7293"/>
            </a:solidFill>
          </p:spPr>
        </p:sp>
      </p:grpSp>
      <p:grpSp>
        <p:nvGrpSpPr>
          <p:cNvPr name="Group 19" id="19"/>
          <p:cNvGrpSpPr/>
          <p:nvPr/>
        </p:nvGrpSpPr>
        <p:grpSpPr>
          <a:xfrm rot="0">
            <a:off x="9875520" y="2759011"/>
            <a:ext cx="7338060" cy="438912"/>
            <a:chOff x="0" y="0"/>
            <a:chExt cx="9784080" cy="585216"/>
          </a:xfrm>
        </p:grpSpPr>
        <p:sp>
          <p:nvSpPr>
            <p:cNvPr name="Freeform 20" id="20"/>
            <p:cNvSpPr/>
            <p:nvPr/>
          </p:nvSpPr>
          <p:spPr>
            <a:xfrm flipH="false" flipV="false" rot="0">
              <a:off x="0" y="0"/>
              <a:ext cx="9784080" cy="585216"/>
            </a:xfrm>
            <a:custGeom>
              <a:avLst/>
              <a:gdLst/>
              <a:ahLst/>
              <a:cxnLst/>
              <a:rect r="r" b="b" t="t" l="l"/>
              <a:pathLst>
                <a:path h="585216" w="9784080">
                  <a:moveTo>
                    <a:pt x="0" y="0"/>
                  </a:moveTo>
                  <a:lnTo>
                    <a:pt x="9784080" y="0"/>
                  </a:lnTo>
                  <a:lnTo>
                    <a:pt x="9784080" y="585216"/>
                  </a:lnTo>
                  <a:lnTo>
                    <a:pt x="0" y="585216"/>
                  </a:lnTo>
                  <a:close/>
                </a:path>
              </a:pathLst>
            </a:custGeom>
            <a:blipFill>
              <a:blip r:embed="rId3">
                <a:alphaModFix amt="0"/>
              </a:blip>
              <a:stretch>
                <a:fillRect l="0" t="-275765" r="0" b="-275765"/>
              </a:stretch>
            </a:blipFill>
          </p:spPr>
        </p:sp>
        <p:sp>
          <p:nvSpPr>
            <p:cNvPr name="TextBox 21" id="21"/>
            <p:cNvSpPr txBox="true"/>
            <p:nvPr/>
          </p:nvSpPr>
          <p:spPr>
            <a:xfrm>
              <a:off x="0" y="-19050"/>
              <a:ext cx="9784080" cy="604266"/>
            </a:xfrm>
            <a:prstGeom prst="rect">
              <a:avLst/>
            </a:prstGeom>
          </p:spPr>
          <p:txBody>
            <a:bodyPr anchor="ctr" rtlCol="false" tIns="0" lIns="0" bIns="0" rIns="0"/>
            <a:lstStyle/>
            <a:p>
              <a:pPr algn="l">
                <a:lnSpc>
                  <a:spcPts val="3240"/>
                </a:lnSpc>
              </a:pPr>
              <a:r>
                <a:rPr lang="en-US" sz="2700" b="true">
                  <a:solidFill>
                    <a:srgbClr val="0B2A4A"/>
                  </a:solidFill>
                  <a:latin typeface="Cambria Bold"/>
                  <a:ea typeface="Cambria Bold"/>
                  <a:cs typeface="Cambria Bold"/>
                  <a:sym typeface="Cambria Bold"/>
                </a:rPr>
                <a:t>Initialize population</a:t>
              </a:r>
            </a:p>
          </p:txBody>
        </p:sp>
      </p:grpSp>
      <p:grpSp>
        <p:nvGrpSpPr>
          <p:cNvPr name="Group 22" id="22"/>
          <p:cNvGrpSpPr/>
          <p:nvPr/>
        </p:nvGrpSpPr>
        <p:grpSpPr>
          <a:xfrm rot="0">
            <a:off x="9875520" y="3197924"/>
            <a:ext cx="7338060" cy="480060"/>
            <a:chOff x="0" y="0"/>
            <a:chExt cx="9784080" cy="640080"/>
          </a:xfrm>
        </p:grpSpPr>
        <p:sp>
          <p:nvSpPr>
            <p:cNvPr name="Freeform 23" id="23"/>
            <p:cNvSpPr/>
            <p:nvPr/>
          </p:nvSpPr>
          <p:spPr>
            <a:xfrm flipH="false" flipV="false" rot="0">
              <a:off x="0" y="0"/>
              <a:ext cx="9784080" cy="640080"/>
            </a:xfrm>
            <a:custGeom>
              <a:avLst/>
              <a:gdLst/>
              <a:ahLst/>
              <a:cxnLst/>
              <a:rect r="r" b="b" t="t" l="l"/>
              <a:pathLst>
                <a:path h="640080" w="9784080">
                  <a:moveTo>
                    <a:pt x="0" y="0"/>
                  </a:moveTo>
                  <a:lnTo>
                    <a:pt x="9784080" y="0"/>
                  </a:lnTo>
                  <a:lnTo>
                    <a:pt x="9784080" y="640080"/>
                  </a:lnTo>
                  <a:lnTo>
                    <a:pt x="0" y="640080"/>
                  </a:lnTo>
                  <a:close/>
                </a:path>
              </a:pathLst>
            </a:custGeom>
            <a:blipFill>
              <a:blip r:embed="rId3">
                <a:alphaModFix amt="0"/>
              </a:blip>
              <a:stretch>
                <a:fillRect l="0" t="-247842" r="0" b="-247842"/>
              </a:stretch>
            </a:blipFill>
          </p:spPr>
        </p:sp>
        <p:sp>
          <p:nvSpPr>
            <p:cNvPr name="TextBox 24" id="24"/>
            <p:cNvSpPr txBox="true"/>
            <p:nvPr/>
          </p:nvSpPr>
          <p:spPr>
            <a:xfrm>
              <a:off x="0" y="-57150"/>
              <a:ext cx="9784080" cy="697230"/>
            </a:xfrm>
            <a:prstGeom prst="rect">
              <a:avLst/>
            </a:prstGeom>
          </p:spPr>
          <p:txBody>
            <a:bodyPr anchor="ctr" rtlCol="false" tIns="0" lIns="0" bIns="0" rIns="0"/>
            <a:lstStyle/>
            <a:p>
              <a:pPr algn="l">
                <a:lnSpc>
                  <a:spcPts val="2376"/>
                </a:lnSpc>
              </a:pPr>
              <a:r>
                <a:rPr lang="en-US" sz="1800">
                  <a:solidFill>
                    <a:srgbClr val="5B6472"/>
                  </a:solidFill>
                  <a:latin typeface="Calibri (MS)"/>
                  <a:ea typeface="Calibri (MS)"/>
                  <a:cs typeface="Calibri (MS)"/>
                  <a:sym typeface="Calibri (MS)"/>
                </a:rPr>
                <a:t>_init_population() draws 50 chromosomes [x1,x2] uniformly from [-5,5].</a:t>
              </a:r>
            </a:p>
          </p:txBody>
        </p:sp>
      </p:grpSp>
      <p:grpSp>
        <p:nvGrpSpPr>
          <p:cNvPr name="Group 25" id="25"/>
          <p:cNvGrpSpPr/>
          <p:nvPr/>
        </p:nvGrpSpPr>
        <p:grpSpPr>
          <a:xfrm rot="0">
            <a:off x="9591675" y="3874198"/>
            <a:ext cx="7837170" cy="1088898"/>
            <a:chOff x="0" y="0"/>
            <a:chExt cx="10449560" cy="1451864"/>
          </a:xfrm>
        </p:grpSpPr>
        <p:sp>
          <p:nvSpPr>
            <p:cNvPr name="Freeform 26" id="26"/>
            <p:cNvSpPr/>
            <p:nvPr/>
          </p:nvSpPr>
          <p:spPr>
            <a:xfrm flipH="false" flipV="false" rot="0">
              <a:off x="0" y="0"/>
              <a:ext cx="10449560" cy="1451864"/>
            </a:xfrm>
            <a:custGeom>
              <a:avLst/>
              <a:gdLst/>
              <a:ahLst/>
              <a:cxnLst/>
              <a:rect r="r" b="b" t="t" l="l"/>
              <a:pathLst>
                <a:path h="1451864" w="10449560">
                  <a:moveTo>
                    <a:pt x="0" y="130302"/>
                  </a:moveTo>
                  <a:cubicBezTo>
                    <a:pt x="0" y="58293"/>
                    <a:pt x="58293" y="0"/>
                    <a:pt x="130302" y="0"/>
                  </a:cubicBezTo>
                  <a:lnTo>
                    <a:pt x="10319258" y="0"/>
                  </a:lnTo>
                  <a:cubicBezTo>
                    <a:pt x="10391267" y="0"/>
                    <a:pt x="10449560" y="58293"/>
                    <a:pt x="10449560" y="130302"/>
                  </a:cubicBezTo>
                  <a:lnTo>
                    <a:pt x="10449560" y="1321562"/>
                  </a:lnTo>
                  <a:cubicBezTo>
                    <a:pt x="10449560" y="1393571"/>
                    <a:pt x="10391267" y="1451864"/>
                    <a:pt x="10319258" y="1451864"/>
                  </a:cubicBezTo>
                  <a:lnTo>
                    <a:pt x="130302" y="1451864"/>
                  </a:lnTo>
                  <a:cubicBezTo>
                    <a:pt x="58293" y="1451864"/>
                    <a:pt x="0" y="1393571"/>
                    <a:pt x="0" y="1321562"/>
                  </a:cubicBezTo>
                  <a:close/>
                </a:path>
              </a:pathLst>
            </a:custGeom>
            <a:solidFill>
              <a:srgbClr val="FFFFFF"/>
            </a:solidFill>
            <a:ln w="19050" cap="sq">
              <a:solidFill>
                <a:srgbClr val="E3E9EE"/>
              </a:solidFill>
              <a:prstDash val="solid"/>
              <a:miter/>
            </a:ln>
          </p:spPr>
        </p:sp>
      </p:grpSp>
      <p:grpSp>
        <p:nvGrpSpPr>
          <p:cNvPr name="Group 27" id="27"/>
          <p:cNvGrpSpPr/>
          <p:nvPr/>
        </p:nvGrpSpPr>
        <p:grpSpPr>
          <a:xfrm rot="0">
            <a:off x="9601200" y="3883724"/>
            <a:ext cx="109728" cy="1069848"/>
            <a:chOff x="0" y="0"/>
            <a:chExt cx="146304" cy="1426464"/>
          </a:xfrm>
        </p:grpSpPr>
        <p:sp>
          <p:nvSpPr>
            <p:cNvPr name="Freeform 28" id="28"/>
            <p:cNvSpPr/>
            <p:nvPr/>
          </p:nvSpPr>
          <p:spPr>
            <a:xfrm flipH="false" flipV="false" rot="0">
              <a:off x="0" y="0"/>
              <a:ext cx="146304" cy="1426464"/>
            </a:xfrm>
            <a:custGeom>
              <a:avLst/>
              <a:gdLst/>
              <a:ahLst/>
              <a:cxnLst/>
              <a:rect r="r" b="b" t="t" l="l"/>
              <a:pathLst>
                <a:path h="1426464" w="146304">
                  <a:moveTo>
                    <a:pt x="0" y="0"/>
                  </a:moveTo>
                  <a:lnTo>
                    <a:pt x="146304" y="0"/>
                  </a:lnTo>
                  <a:lnTo>
                    <a:pt x="146304" y="1426464"/>
                  </a:lnTo>
                  <a:lnTo>
                    <a:pt x="0" y="1426464"/>
                  </a:lnTo>
                  <a:close/>
                </a:path>
              </a:pathLst>
            </a:custGeom>
            <a:solidFill>
              <a:srgbClr val="1C7293"/>
            </a:solidFill>
          </p:spPr>
        </p:sp>
      </p:grpSp>
      <p:grpSp>
        <p:nvGrpSpPr>
          <p:cNvPr name="Group 29" id="29"/>
          <p:cNvGrpSpPr/>
          <p:nvPr/>
        </p:nvGrpSpPr>
        <p:grpSpPr>
          <a:xfrm rot="0">
            <a:off x="9875520" y="3993452"/>
            <a:ext cx="7338060" cy="438912"/>
            <a:chOff x="0" y="0"/>
            <a:chExt cx="9784080" cy="585216"/>
          </a:xfrm>
        </p:grpSpPr>
        <p:sp>
          <p:nvSpPr>
            <p:cNvPr name="Freeform 30" id="30"/>
            <p:cNvSpPr/>
            <p:nvPr/>
          </p:nvSpPr>
          <p:spPr>
            <a:xfrm flipH="false" flipV="false" rot="0">
              <a:off x="0" y="0"/>
              <a:ext cx="9784080" cy="585216"/>
            </a:xfrm>
            <a:custGeom>
              <a:avLst/>
              <a:gdLst/>
              <a:ahLst/>
              <a:cxnLst/>
              <a:rect r="r" b="b" t="t" l="l"/>
              <a:pathLst>
                <a:path h="585216" w="9784080">
                  <a:moveTo>
                    <a:pt x="0" y="0"/>
                  </a:moveTo>
                  <a:lnTo>
                    <a:pt x="9784080" y="0"/>
                  </a:lnTo>
                  <a:lnTo>
                    <a:pt x="9784080" y="585216"/>
                  </a:lnTo>
                  <a:lnTo>
                    <a:pt x="0" y="585216"/>
                  </a:lnTo>
                  <a:close/>
                </a:path>
              </a:pathLst>
            </a:custGeom>
            <a:blipFill>
              <a:blip r:embed="rId3">
                <a:alphaModFix amt="0"/>
              </a:blip>
              <a:stretch>
                <a:fillRect l="0" t="-275765" r="0" b="-275765"/>
              </a:stretch>
            </a:blipFill>
          </p:spPr>
        </p:sp>
        <p:sp>
          <p:nvSpPr>
            <p:cNvPr name="TextBox 31" id="31"/>
            <p:cNvSpPr txBox="true"/>
            <p:nvPr/>
          </p:nvSpPr>
          <p:spPr>
            <a:xfrm>
              <a:off x="0" y="-19050"/>
              <a:ext cx="9784080" cy="604266"/>
            </a:xfrm>
            <a:prstGeom prst="rect">
              <a:avLst/>
            </a:prstGeom>
          </p:spPr>
          <p:txBody>
            <a:bodyPr anchor="ctr" rtlCol="false" tIns="0" lIns="0" bIns="0" rIns="0"/>
            <a:lstStyle/>
            <a:p>
              <a:pPr algn="l">
                <a:lnSpc>
                  <a:spcPts val="3240"/>
                </a:lnSpc>
              </a:pPr>
              <a:r>
                <a:rPr lang="en-US" sz="2700" b="true">
                  <a:solidFill>
                    <a:srgbClr val="0B2A4A"/>
                  </a:solidFill>
                  <a:latin typeface="Cambria Bold"/>
                  <a:ea typeface="Cambria Bold"/>
                  <a:cs typeface="Cambria Bold"/>
                  <a:sym typeface="Cambria Bold"/>
                </a:rPr>
                <a:t>Evaluate solutions</a:t>
              </a:r>
            </a:p>
          </p:txBody>
        </p:sp>
      </p:grpSp>
      <p:grpSp>
        <p:nvGrpSpPr>
          <p:cNvPr name="Group 32" id="32"/>
          <p:cNvGrpSpPr/>
          <p:nvPr/>
        </p:nvGrpSpPr>
        <p:grpSpPr>
          <a:xfrm rot="0">
            <a:off x="9875520" y="4432364"/>
            <a:ext cx="7338060" cy="480060"/>
            <a:chOff x="0" y="0"/>
            <a:chExt cx="9784080" cy="640080"/>
          </a:xfrm>
        </p:grpSpPr>
        <p:sp>
          <p:nvSpPr>
            <p:cNvPr name="Freeform 33" id="33"/>
            <p:cNvSpPr/>
            <p:nvPr/>
          </p:nvSpPr>
          <p:spPr>
            <a:xfrm flipH="false" flipV="false" rot="0">
              <a:off x="0" y="0"/>
              <a:ext cx="9784080" cy="640080"/>
            </a:xfrm>
            <a:custGeom>
              <a:avLst/>
              <a:gdLst/>
              <a:ahLst/>
              <a:cxnLst/>
              <a:rect r="r" b="b" t="t" l="l"/>
              <a:pathLst>
                <a:path h="640080" w="9784080">
                  <a:moveTo>
                    <a:pt x="0" y="0"/>
                  </a:moveTo>
                  <a:lnTo>
                    <a:pt x="9784080" y="0"/>
                  </a:lnTo>
                  <a:lnTo>
                    <a:pt x="9784080" y="640080"/>
                  </a:lnTo>
                  <a:lnTo>
                    <a:pt x="0" y="640080"/>
                  </a:lnTo>
                  <a:close/>
                </a:path>
              </a:pathLst>
            </a:custGeom>
            <a:blipFill>
              <a:blip r:embed="rId3">
                <a:alphaModFix amt="0"/>
              </a:blip>
              <a:stretch>
                <a:fillRect l="0" t="-247842" r="0" b="-247842"/>
              </a:stretch>
            </a:blipFill>
          </p:spPr>
        </p:sp>
        <p:sp>
          <p:nvSpPr>
            <p:cNvPr name="TextBox 34" id="34"/>
            <p:cNvSpPr txBox="true"/>
            <p:nvPr/>
          </p:nvSpPr>
          <p:spPr>
            <a:xfrm>
              <a:off x="0" y="-57150"/>
              <a:ext cx="9784080" cy="697230"/>
            </a:xfrm>
            <a:prstGeom prst="rect">
              <a:avLst/>
            </a:prstGeom>
          </p:spPr>
          <p:txBody>
            <a:bodyPr anchor="ctr" rtlCol="false" tIns="0" lIns="0" bIns="0" rIns="0"/>
            <a:lstStyle/>
            <a:p>
              <a:pPr algn="l">
                <a:lnSpc>
                  <a:spcPts val="2376"/>
                </a:lnSpc>
              </a:pPr>
              <a:r>
                <a:rPr lang="en-US" sz="1800">
                  <a:solidFill>
                    <a:srgbClr val="5B6472"/>
                  </a:solidFill>
                  <a:latin typeface="Calibri (MS)"/>
                  <a:ea typeface="Calibri (MS)"/>
                  <a:cs typeface="Calibri (MS)"/>
                  <a:sym typeface="Calibri (MS)"/>
                </a:rPr>
                <a:t>ackley_vec() scores the whole population in one vectorized call.</a:t>
              </a:r>
            </a:p>
          </p:txBody>
        </p:sp>
      </p:grpSp>
      <p:grpSp>
        <p:nvGrpSpPr>
          <p:cNvPr name="Group 35" id="35"/>
          <p:cNvGrpSpPr/>
          <p:nvPr/>
        </p:nvGrpSpPr>
        <p:grpSpPr>
          <a:xfrm rot="0">
            <a:off x="9591675" y="5108638"/>
            <a:ext cx="7837170" cy="1088898"/>
            <a:chOff x="0" y="0"/>
            <a:chExt cx="10449560" cy="1451864"/>
          </a:xfrm>
        </p:grpSpPr>
        <p:sp>
          <p:nvSpPr>
            <p:cNvPr name="Freeform 36" id="36"/>
            <p:cNvSpPr/>
            <p:nvPr/>
          </p:nvSpPr>
          <p:spPr>
            <a:xfrm flipH="false" flipV="false" rot="0">
              <a:off x="0" y="0"/>
              <a:ext cx="10449560" cy="1451864"/>
            </a:xfrm>
            <a:custGeom>
              <a:avLst/>
              <a:gdLst/>
              <a:ahLst/>
              <a:cxnLst/>
              <a:rect r="r" b="b" t="t" l="l"/>
              <a:pathLst>
                <a:path h="1451864" w="10449560">
                  <a:moveTo>
                    <a:pt x="0" y="130302"/>
                  </a:moveTo>
                  <a:cubicBezTo>
                    <a:pt x="0" y="58293"/>
                    <a:pt x="58293" y="0"/>
                    <a:pt x="130302" y="0"/>
                  </a:cubicBezTo>
                  <a:lnTo>
                    <a:pt x="10319258" y="0"/>
                  </a:lnTo>
                  <a:cubicBezTo>
                    <a:pt x="10391267" y="0"/>
                    <a:pt x="10449560" y="58293"/>
                    <a:pt x="10449560" y="130302"/>
                  </a:cubicBezTo>
                  <a:lnTo>
                    <a:pt x="10449560" y="1321562"/>
                  </a:lnTo>
                  <a:cubicBezTo>
                    <a:pt x="10449560" y="1393571"/>
                    <a:pt x="10391267" y="1451864"/>
                    <a:pt x="10319258" y="1451864"/>
                  </a:cubicBezTo>
                  <a:lnTo>
                    <a:pt x="130302" y="1451864"/>
                  </a:lnTo>
                  <a:cubicBezTo>
                    <a:pt x="58293" y="1451864"/>
                    <a:pt x="0" y="1393571"/>
                    <a:pt x="0" y="1321562"/>
                  </a:cubicBezTo>
                  <a:close/>
                </a:path>
              </a:pathLst>
            </a:custGeom>
            <a:solidFill>
              <a:srgbClr val="FFFFFF"/>
            </a:solidFill>
            <a:ln w="19050" cap="sq">
              <a:solidFill>
                <a:srgbClr val="E3E9EE"/>
              </a:solidFill>
              <a:prstDash val="solid"/>
              <a:miter/>
            </a:ln>
          </p:spPr>
        </p:sp>
      </p:grpSp>
      <p:grpSp>
        <p:nvGrpSpPr>
          <p:cNvPr name="Group 37" id="37"/>
          <p:cNvGrpSpPr/>
          <p:nvPr/>
        </p:nvGrpSpPr>
        <p:grpSpPr>
          <a:xfrm rot="0">
            <a:off x="9601200" y="5118164"/>
            <a:ext cx="109728" cy="1069848"/>
            <a:chOff x="0" y="0"/>
            <a:chExt cx="146304" cy="1426464"/>
          </a:xfrm>
        </p:grpSpPr>
        <p:sp>
          <p:nvSpPr>
            <p:cNvPr name="Freeform 38" id="38"/>
            <p:cNvSpPr/>
            <p:nvPr/>
          </p:nvSpPr>
          <p:spPr>
            <a:xfrm flipH="false" flipV="false" rot="0">
              <a:off x="0" y="0"/>
              <a:ext cx="146304" cy="1426464"/>
            </a:xfrm>
            <a:custGeom>
              <a:avLst/>
              <a:gdLst/>
              <a:ahLst/>
              <a:cxnLst/>
              <a:rect r="r" b="b" t="t" l="l"/>
              <a:pathLst>
                <a:path h="1426464" w="146304">
                  <a:moveTo>
                    <a:pt x="0" y="0"/>
                  </a:moveTo>
                  <a:lnTo>
                    <a:pt x="146304" y="0"/>
                  </a:lnTo>
                  <a:lnTo>
                    <a:pt x="146304" y="1426464"/>
                  </a:lnTo>
                  <a:lnTo>
                    <a:pt x="0" y="1426464"/>
                  </a:lnTo>
                  <a:close/>
                </a:path>
              </a:pathLst>
            </a:custGeom>
            <a:solidFill>
              <a:srgbClr val="FF6B4A"/>
            </a:solidFill>
          </p:spPr>
        </p:sp>
      </p:grpSp>
      <p:grpSp>
        <p:nvGrpSpPr>
          <p:cNvPr name="Group 39" id="39"/>
          <p:cNvGrpSpPr/>
          <p:nvPr/>
        </p:nvGrpSpPr>
        <p:grpSpPr>
          <a:xfrm rot="0">
            <a:off x="9875520" y="5227892"/>
            <a:ext cx="7338060" cy="438912"/>
            <a:chOff x="0" y="0"/>
            <a:chExt cx="9784080" cy="585216"/>
          </a:xfrm>
        </p:grpSpPr>
        <p:sp>
          <p:nvSpPr>
            <p:cNvPr name="Freeform 40" id="40"/>
            <p:cNvSpPr/>
            <p:nvPr/>
          </p:nvSpPr>
          <p:spPr>
            <a:xfrm flipH="false" flipV="false" rot="0">
              <a:off x="0" y="0"/>
              <a:ext cx="9784080" cy="585216"/>
            </a:xfrm>
            <a:custGeom>
              <a:avLst/>
              <a:gdLst/>
              <a:ahLst/>
              <a:cxnLst/>
              <a:rect r="r" b="b" t="t" l="l"/>
              <a:pathLst>
                <a:path h="585216" w="9784080">
                  <a:moveTo>
                    <a:pt x="0" y="0"/>
                  </a:moveTo>
                  <a:lnTo>
                    <a:pt x="9784080" y="0"/>
                  </a:lnTo>
                  <a:lnTo>
                    <a:pt x="9784080" y="585216"/>
                  </a:lnTo>
                  <a:lnTo>
                    <a:pt x="0" y="585216"/>
                  </a:lnTo>
                  <a:close/>
                </a:path>
              </a:pathLst>
            </a:custGeom>
            <a:blipFill>
              <a:blip r:embed="rId3">
                <a:alphaModFix amt="0"/>
              </a:blip>
              <a:stretch>
                <a:fillRect l="0" t="-275765" r="0" b="-275765"/>
              </a:stretch>
            </a:blipFill>
          </p:spPr>
        </p:sp>
        <p:sp>
          <p:nvSpPr>
            <p:cNvPr name="TextBox 41" id="41"/>
            <p:cNvSpPr txBox="true"/>
            <p:nvPr/>
          </p:nvSpPr>
          <p:spPr>
            <a:xfrm>
              <a:off x="0" y="-19050"/>
              <a:ext cx="9784080" cy="604266"/>
            </a:xfrm>
            <a:prstGeom prst="rect">
              <a:avLst/>
            </a:prstGeom>
          </p:spPr>
          <p:txBody>
            <a:bodyPr anchor="ctr" rtlCol="false" tIns="0" lIns="0" bIns="0" rIns="0"/>
            <a:lstStyle/>
            <a:p>
              <a:pPr algn="l">
                <a:lnSpc>
                  <a:spcPts val="3240"/>
                </a:lnSpc>
              </a:pPr>
              <a:r>
                <a:rPr lang="en-US" sz="2700" b="true">
                  <a:solidFill>
                    <a:srgbClr val="0B2A4A"/>
                  </a:solidFill>
                  <a:latin typeface="Cambria Bold"/>
                  <a:ea typeface="Cambria Bold"/>
                  <a:cs typeface="Cambria Bold"/>
                  <a:sym typeface="Cambria Bold"/>
                </a:rPr>
                <a:t>Optimum solution? (Y/N)</a:t>
              </a:r>
            </a:p>
          </p:txBody>
        </p:sp>
      </p:grpSp>
      <p:grpSp>
        <p:nvGrpSpPr>
          <p:cNvPr name="Group 42" id="42"/>
          <p:cNvGrpSpPr/>
          <p:nvPr/>
        </p:nvGrpSpPr>
        <p:grpSpPr>
          <a:xfrm rot="0">
            <a:off x="9875520" y="5666804"/>
            <a:ext cx="7338060" cy="480060"/>
            <a:chOff x="0" y="0"/>
            <a:chExt cx="9784080" cy="640080"/>
          </a:xfrm>
        </p:grpSpPr>
        <p:sp>
          <p:nvSpPr>
            <p:cNvPr name="Freeform 43" id="43"/>
            <p:cNvSpPr/>
            <p:nvPr/>
          </p:nvSpPr>
          <p:spPr>
            <a:xfrm flipH="false" flipV="false" rot="0">
              <a:off x="0" y="0"/>
              <a:ext cx="9784080" cy="640080"/>
            </a:xfrm>
            <a:custGeom>
              <a:avLst/>
              <a:gdLst/>
              <a:ahLst/>
              <a:cxnLst/>
              <a:rect r="r" b="b" t="t" l="l"/>
              <a:pathLst>
                <a:path h="640080" w="9784080">
                  <a:moveTo>
                    <a:pt x="0" y="0"/>
                  </a:moveTo>
                  <a:lnTo>
                    <a:pt x="9784080" y="0"/>
                  </a:lnTo>
                  <a:lnTo>
                    <a:pt x="9784080" y="640080"/>
                  </a:lnTo>
                  <a:lnTo>
                    <a:pt x="0" y="640080"/>
                  </a:lnTo>
                  <a:close/>
                </a:path>
              </a:pathLst>
            </a:custGeom>
            <a:blipFill>
              <a:blip r:embed="rId3">
                <a:alphaModFix amt="0"/>
              </a:blip>
              <a:stretch>
                <a:fillRect l="0" t="-247842" r="0" b="-247842"/>
              </a:stretch>
            </a:blipFill>
          </p:spPr>
        </p:sp>
        <p:sp>
          <p:nvSpPr>
            <p:cNvPr name="TextBox 44" id="44"/>
            <p:cNvSpPr txBox="true"/>
            <p:nvPr/>
          </p:nvSpPr>
          <p:spPr>
            <a:xfrm>
              <a:off x="0" y="-57150"/>
              <a:ext cx="9784080" cy="697230"/>
            </a:xfrm>
            <a:prstGeom prst="rect">
              <a:avLst/>
            </a:prstGeom>
          </p:spPr>
          <p:txBody>
            <a:bodyPr anchor="ctr" rtlCol="false" tIns="0" lIns="0" bIns="0" rIns="0"/>
            <a:lstStyle/>
            <a:p>
              <a:pPr algn="l">
                <a:lnSpc>
                  <a:spcPts val="2376"/>
                </a:lnSpc>
              </a:pPr>
              <a:r>
                <a:rPr lang="en-US" sz="1800">
                  <a:solidFill>
                    <a:srgbClr val="5B6472"/>
                  </a:solidFill>
                  <a:latin typeface="Calibri (MS)"/>
                  <a:ea typeface="Calibri (MS)"/>
                  <a:cs typeface="Calibri (MS)"/>
                  <a:sym typeface="Calibri (MS)"/>
                </a:rPr>
                <a:t>Checks best_fitness ≤ 1e-6 (Y → stop) or generations = 100 (Y → stop).</a:t>
              </a:r>
            </a:p>
          </p:txBody>
        </p:sp>
      </p:grpSp>
      <p:grpSp>
        <p:nvGrpSpPr>
          <p:cNvPr name="Group 45" id="45"/>
          <p:cNvGrpSpPr/>
          <p:nvPr/>
        </p:nvGrpSpPr>
        <p:grpSpPr>
          <a:xfrm rot="0">
            <a:off x="9591675" y="6343079"/>
            <a:ext cx="7837170" cy="1088898"/>
            <a:chOff x="0" y="0"/>
            <a:chExt cx="10449560" cy="1451864"/>
          </a:xfrm>
        </p:grpSpPr>
        <p:sp>
          <p:nvSpPr>
            <p:cNvPr name="Freeform 46" id="46"/>
            <p:cNvSpPr/>
            <p:nvPr/>
          </p:nvSpPr>
          <p:spPr>
            <a:xfrm flipH="false" flipV="false" rot="0">
              <a:off x="0" y="0"/>
              <a:ext cx="10449560" cy="1451864"/>
            </a:xfrm>
            <a:custGeom>
              <a:avLst/>
              <a:gdLst/>
              <a:ahLst/>
              <a:cxnLst/>
              <a:rect r="r" b="b" t="t" l="l"/>
              <a:pathLst>
                <a:path h="1451864" w="10449560">
                  <a:moveTo>
                    <a:pt x="0" y="130302"/>
                  </a:moveTo>
                  <a:cubicBezTo>
                    <a:pt x="0" y="58293"/>
                    <a:pt x="58293" y="0"/>
                    <a:pt x="130302" y="0"/>
                  </a:cubicBezTo>
                  <a:lnTo>
                    <a:pt x="10319258" y="0"/>
                  </a:lnTo>
                  <a:cubicBezTo>
                    <a:pt x="10391267" y="0"/>
                    <a:pt x="10449560" y="58293"/>
                    <a:pt x="10449560" y="130302"/>
                  </a:cubicBezTo>
                  <a:lnTo>
                    <a:pt x="10449560" y="1321562"/>
                  </a:lnTo>
                  <a:cubicBezTo>
                    <a:pt x="10449560" y="1393571"/>
                    <a:pt x="10391267" y="1451864"/>
                    <a:pt x="10319258" y="1451864"/>
                  </a:cubicBezTo>
                  <a:lnTo>
                    <a:pt x="130302" y="1451864"/>
                  </a:lnTo>
                  <a:cubicBezTo>
                    <a:pt x="58293" y="1451864"/>
                    <a:pt x="0" y="1393571"/>
                    <a:pt x="0" y="1321562"/>
                  </a:cubicBezTo>
                  <a:close/>
                </a:path>
              </a:pathLst>
            </a:custGeom>
            <a:solidFill>
              <a:srgbClr val="FFFFFF"/>
            </a:solidFill>
            <a:ln w="19050" cap="sq">
              <a:solidFill>
                <a:srgbClr val="E3E9EE"/>
              </a:solidFill>
              <a:prstDash val="solid"/>
              <a:miter/>
            </a:ln>
          </p:spPr>
        </p:sp>
      </p:grpSp>
      <p:grpSp>
        <p:nvGrpSpPr>
          <p:cNvPr name="Group 47" id="47"/>
          <p:cNvGrpSpPr/>
          <p:nvPr/>
        </p:nvGrpSpPr>
        <p:grpSpPr>
          <a:xfrm rot="0">
            <a:off x="9601200" y="6352604"/>
            <a:ext cx="109728" cy="1069848"/>
            <a:chOff x="0" y="0"/>
            <a:chExt cx="146304" cy="1426464"/>
          </a:xfrm>
        </p:grpSpPr>
        <p:sp>
          <p:nvSpPr>
            <p:cNvPr name="Freeform 48" id="48"/>
            <p:cNvSpPr/>
            <p:nvPr/>
          </p:nvSpPr>
          <p:spPr>
            <a:xfrm flipH="false" flipV="false" rot="0">
              <a:off x="0" y="0"/>
              <a:ext cx="146304" cy="1426464"/>
            </a:xfrm>
            <a:custGeom>
              <a:avLst/>
              <a:gdLst/>
              <a:ahLst/>
              <a:cxnLst/>
              <a:rect r="r" b="b" t="t" l="l"/>
              <a:pathLst>
                <a:path h="1426464" w="146304">
                  <a:moveTo>
                    <a:pt x="0" y="0"/>
                  </a:moveTo>
                  <a:lnTo>
                    <a:pt x="146304" y="0"/>
                  </a:lnTo>
                  <a:lnTo>
                    <a:pt x="146304" y="1426464"/>
                  </a:lnTo>
                  <a:lnTo>
                    <a:pt x="0" y="1426464"/>
                  </a:lnTo>
                  <a:close/>
                </a:path>
              </a:pathLst>
            </a:custGeom>
            <a:solidFill>
              <a:srgbClr val="1C7293"/>
            </a:solidFill>
          </p:spPr>
        </p:sp>
      </p:grpSp>
      <p:grpSp>
        <p:nvGrpSpPr>
          <p:cNvPr name="Group 49" id="49"/>
          <p:cNvGrpSpPr/>
          <p:nvPr/>
        </p:nvGrpSpPr>
        <p:grpSpPr>
          <a:xfrm rot="0">
            <a:off x="9875520" y="6462332"/>
            <a:ext cx="7338060" cy="438912"/>
            <a:chOff x="0" y="0"/>
            <a:chExt cx="9784080" cy="585216"/>
          </a:xfrm>
        </p:grpSpPr>
        <p:sp>
          <p:nvSpPr>
            <p:cNvPr name="Freeform 50" id="50"/>
            <p:cNvSpPr/>
            <p:nvPr/>
          </p:nvSpPr>
          <p:spPr>
            <a:xfrm flipH="false" flipV="false" rot="0">
              <a:off x="0" y="0"/>
              <a:ext cx="9784080" cy="585216"/>
            </a:xfrm>
            <a:custGeom>
              <a:avLst/>
              <a:gdLst/>
              <a:ahLst/>
              <a:cxnLst/>
              <a:rect r="r" b="b" t="t" l="l"/>
              <a:pathLst>
                <a:path h="585216" w="9784080">
                  <a:moveTo>
                    <a:pt x="0" y="0"/>
                  </a:moveTo>
                  <a:lnTo>
                    <a:pt x="9784080" y="0"/>
                  </a:lnTo>
                  <a:lnTo>
                    <a:pt x="9784080" y="585216"/>
                  </a:lnTo>
                  <a:lnTo>
                    <a:pt x="0" y="585216"/>
                  </a:lnTo>
                  <a:close/>
                </a:path>
              </a:pathLst>
            </a:custGeom>
            <a:blipFill>
              <a:blip r:embed="rId3">
                <a:alphaModFix amt="0"/>
              </a:blip>
              <a:stretch>
                <a:fillRect l="0" t="-275765" r="0" b="-275765"/>
              </a:stretch>
            </a:blipFill>
          </p:spPr>
        </p:sp>
        <p:sp>
          <p:nvSpPr>
            <p:cNvPr name="TextBox 51" id="51"/>
            <p:cNvSpPr txBox="true"/>
            <p:nvPr/>
          </p:nvSpPr>
          <p:spPr>
            <a:xfrm>
              <a:off x="0" y="-19050"/>
              <a:ext cx="9784080" cy="604266"/>
            </a:xfrm>
            <a:prstGeom prst="rect">
              <a:avLst/>
            </a:prstGeom>
          </p:spPr>
          <p:txBody>
            <a:bodyPr anchor="ctr" rtlCol="false" tIns="0" lIns="0" bIns="0" rIns="0"/>
            <a:lstStyle/>
            <a:p>
              <a:pPr algn="l">
                <a:lnSpc>
                  <a:spcPts val="3240"/>
                </a:lnSpc>
              </a:pPr>
              <a:r>
                <a:rPr lang="en-US" sz="2700" b="true">
                  <a:solidFill>
                    <a:srgbClr val="0B2A4A"/>
                  </a:solidFill>
                  <a:latin typeface="Cambria Bold"/>
                  <a:ea typeface="Cambria Bold"/>
                  <a:cs typeface="Cambria Bold"/>
                  <a:sym typeface="Cambria Bold"/>
                </a:rPr>
                <a:t>Selection → Crossover → Mutation</a:t>
              </a:r>
            </a:p>
          </p:txBody>
        </p:sp>
      </p:grpSp>
      <p:grpSp>
        <p:nvGrpSpPr>
          <p:cNvPr name="Group 52" id="52"/>
          <p:cNvGrpSpPr/>
          <p:nvPr/>
        </p:nvGrpSpPr>
        <p:grpSpPr>
          <a:xfrm rot="0">
            <a:off x="9875520" y="6901244"/>
            <a:ext cx="7338060" cy="480060"/>
            <a:chOff x="0" y="0"/>
            <a:chExt cx="9784080" cy="640080"/>
          </a:xfrm>
        </p:grpSpPr>
        <p:sp>
          <p:nvSpPr>
            <p:cNvPr name="Freeform 53" id="53"/>
            <p:cNvSpPr/>
            <p:nvPr/>
          </p:nvSpPr>
          <p:spPr>
            <a:xfrm flipH="false" flipV="false" rot="0">
              <a:off x="0" y="0"/>
              <a:ext cx="9784080" cy="640080"/>
            </a:xfrm>
            <a:custGeom>
              <a:avLst/>
              <a:gdLst/>
              <a:ahLst/>
              <a:cxnLst/>
              <a:rect r="r" b="b" t="t" l="l"/>
              <a:pathLst>
                <a:path h="640080" w="9784080">
                  <a:moveTo>
                    <a:pt x="0" y="0"/>
                  </a:moveTo>
                  <a:lnTo>
                    <a:pt x="9784080" y="0"/>
                  </a:lnTo>
                  <a:lnTo>
                    <a:pt x="9784080" y="640080"/>
                  </a:lnTo>
                  <a:lnTo>
                    <a:pt x="0" y="640080"/>
                  </a:lnTo>
                  <a:close/>
                </a:path>
              </a:pathLst>
            </a:custGeom>
            <a:blipFill>
              <a:blip r:embed="rId3">
                <a:alphaModFix amt="0"/>
              </a:blip>
              <a:stretch>
                <a:fillRect l="0" t="-247842" r="0" b="-247842"/>
              </a:stretch>
            </a:blipFill>
          </p:spPr>
        </p:sp>
        <p:sp>
          <p:nvSpPr>
            <p:cNvPr name="TextBox 54" id="54"/>
            <p:cNvSpPr txBox="true"/>
            <p:nvPr/>
          </p:nvSpPr>
          <p:spPr>
            <a:xfrm>
              <a:off x="0" y="-57150"/>
              <a:ext cx="9784080" cy="697230"/>
            </a:xfrm>
            <a:prstGeom prst="rect">
              <a:avLst/>
            </a:prstGeom>
          </p:spPr>
          <p:txBody>
            <a:bodyPr anchor="ctr" rtlCol="false" tIns="0" lIns="0" bIns="0" rIns="0"/>
            <a:lstStyle/>
            <a:p>
              <a:pPr algn="l">
                <a:lnSpc>
                  <a:spcPts val="2376"/>
                </a:lnSpc>
              </a:pPr>
              <a:r>
                <a:rPr lang="en-US" sz="1800">
                  <a:solidFill>
                    <a:srgbClr val="5B6472"/>
                  </a:solidFill>
                  <a:latin typeface="Calibri (MS)"/>
                  <a:ea typeface="Calibri (MS)"/>
                  <a:cs typeface="Calibri (MS)"/>
                  <a:sym typeface="Calibri (MS)"/>
                </a:rPr>
                <a:t>Inverted roulette wheel, one-point crossover (Pc=0.8), Gaussian mutation (Pm=0.05).</a:t>
              </a:r>
            </a:p>
          </p:txBody>
        </p:sp>
      </p:grpSp>
      <p:grpSp>
        <p:nvGrpSpPr>
          <p:cNvPr name="Group 55" id="55"/>
          <p:cNvGrpSpPr/>
          <p:nvPr/>
        </p:nvGrpSpPr>
        <p:grpSpPr>
          <a:xfrm rot="0">
            <a:off x="9591675" y="7577518"/>
            <a:ext cx="7837170" cy="1088898"/>
            <a:chOff x="0" y="0"/>
            <a:chExt cx="10449560" cy="1451864"/>
          </a:xfrm>
        </p:grpSpPr>
        <p:sp>
          <p:nvSpPr>
            <p:cNvPr name="Freeform 56" id="56"/>
            <p:cNvSpPr/>
            <p:nvPr/>
          </p:nvSpPr>
          <p:spPr>
            <a:xfrm flipH="false" flipV="false" rot="0">
              <a:off x="0" y="0"/>
              <a:ext cx="10449560" cy="1451864"/>
            </a:xfrm>
            <a:custGeom>
              <a:avLst/>
              <a:gdLst/>
              <a:ahLst/>
              <a:cxnLst/>
              <a:rect r="r" b="b" t="t" l="l"/>
              <a:pathLst>
                <a:path h="1451864" w="10449560">
                  <a:moveTo>
                    <a:pt x="0" y="130302"/>
                  </a:moveTo>
                  <a:cubicBezTo>
                    <a:pt x="0" y="58293"/>
                    <a:pt x="58293" y="0"/>
                    <a:pt x="130302" y="0"/>
                  </a:cubicBezTo>
                  <a:lnTo>
                    <a:pt x="10319258" y="0"/>
                  </a:lnTo>
                  <a:cubicBezTo>
                    <a:pt x="10391267" y="0"/>
                    <a:pt x="10449560" y="58293"/>
                    <a:pt x="10449560" y="130302"/>
                  </a:cubicBezTo>
                  <a:lnTo>
                    <a:pt x="10449560" y="1321562"/>
                  </a:lnTo>
                  <a:cubicBezTo>
                    <a:pt x="10449560" y="1393571"/>
                    <a:pt x="10391267" y="1451864"/>
                    <a:pt x="10319258" y="1451864"/>
                  </a:cubicBezTo>
                  <a:lnTo>
                    <a:pt x="130302" y="1451864"/>
                  </a:lnTo>
                  <a:cubicBezTo>
                    <a:pt x="58293" y="1451864"/>
                    <a:pt x="0" y="1393571"/>
                    <a:pt x="0" y="1321562"/>
                  </a:cubicBezTo>
                  <a:close/>
                </a:path>
              </a:pathLst>
            </a:custGeom>
            <a:solidFill>
              <a:srgbClr val="FFFFFF"/>
            </a:solidFill>
            <a:ln w="19050" cap="sq">
              <a:solidFill>
                <a:srgbClr val="E3E9EE"/>
              </a:solidFill>
              <a:prstDash val="solid"/>
              <a:miter/>
            </a:ln>
          </p:spPr>
        </p:sp>
      </p:grpSp>
      <p:grpSp>
        <p:nvGrpSpPr>
          <p:cNvPr name="Group 57" id="57"/>
          <p:cNvGrpSpPr/>
          <p:nvPr/>
        </p:nvGrpSpPr>
        <p:grpSpPr>
          <a:xfrm rot="0">
            <a:off x="9601200" y="7587044"/>
            <a:ext cx="109728" cy="1069848"/>
            <a:chOff x="0" y="0"/>
            <a:chExt cx="146304" cy="1426464"/>
          </a:xfrm>
        </p:grpSpPr>
        <p:sp>
          <p:nvSpPr>
            <p:cNvPr name="Freeform 58" id="58"/>
            <p:cNvSpPr/>
            <p:nvPr/>
          </p:nvSpPr>
          <p:spPr>
            <a:xfrm flipH="false" flipV="false" rot="0">
              <a:off x="0" y="0"/>
              <a:ext cx="146304" cy="1426464"/>
            </a:xfrm>
            <a:custGeom>
              <a:avLst/>
              <a:gdLst/>
              <a:ahLst/>
              <a:cxnLst/>
              <a:rect r="r" b="b" t="t" l="l"/>
              <a:pathLst>
                <a:path h="1426464" w="146304">
                  <a:moveTo>
                    <a:pt x="0" y="0"/>
                  </a:moveTo>
                  <a:lnTo>
                    <a:pt x="146304" y="0"/>
                  </a:lnTo>
                  <a:lnTo>
                    <a:pt x="146304" y="1426464"/>
                  </a:lnTo>
                  <a:lnTo>
                    <a:pt x="0" y="1426464"/>
                  </a:lnTo>
                  <a:close/>
                </a:path>
              </a:pathLst>
            </a:custGeom>
            <a:solidFill>
              <a:srgbClr val="1C7293"/>
            </a:solidFill>
          </p:spPr>
        </p:sp>
      </p:grpSp>
      <p:grpSp>
        <p:nvGrpSpPr>
          <p:cNvPr name="Group 59" id="59"/>
          <p:cNvGrpSpPr/>
          <p:nvPr/>
        </p:nvGrpSpPr>
        <p:grpSpPr>
          <a:xfrm rot="0">
            <a:off x="9875520" y="7696772"/>
            <a:ext cx="7338060" cy="438912"/>
            <a:chOff x="0" y="0"/>
            <a:chExt cx="9784080" cy="585216"/>
          </a:xfrm>
        </p:grpSpPr>
        <p:sp>
          <p:nvSpPr>
            <p:cNvPr name="Freeform 60" id="60"/>
            <p:cNvSpPr/>
            <p:nvPr/>
          </p:nvSpPr>
          <p:spPr>
            <a:xfrm flipH="false" flipV="false" rot="0">
              <a:off x="0" y="0"/>
              <a:ext cx="9784080" cy="585216"/>
            </a:xfrm>
            <a:custGeom>
              <a:avLst/>
              <a:gdLst/>
              <a:ahLst/>
              <a:cxnLst/>
              <a:rect r="r" b="b" t="t" l="l"/>
              <a:pathLst>
                <a:path h="585216" w="9784080">
                  <a:moveTo>
                    <a:pt x="0" y="0"/>
                  </a:moveTo>
                  <a:lnTo>
                    <a:pt x="9784080" y="0"/>
                  </a:lnTo>
                  <a:lnTo>
                    <a:pt x="9784080" y="585216"/>
                  </a:lnTo>
                  <a:lnTo>
                    <a:pt x="0" y="585216"/>
                  </a:lnTo>
                  <a:close/>
                </a:path>
              </a:pathLst>
            </a:custGeom>
            <a:blipFill>
              <a:blip r:embed="rId3">
                <a:alphaModFix amt="0"/>
              </a:blip>
              <a:stretch>
                <a:fillRect l="0" t="-275765" r="0" b="-275765"/>
              </a:stretch>
            </a:blipFill>
          </p:spPr>
        </p:sp>
        <p:sp>
          <p:nvSpPr>
            <p:cNvPr name="TextBox 61" id="61"/>
            <p:cNvSpPr txBox="true"/>
            <p:nvPr/>
          </p:nvSpPr>
          <p:spPr>
            <a:xfrm>
              <a:off x="0" y="-19050"/>
              <a:ext cx="9784080" cy="604266"/>
            </a:xfrm>
            <a:prstGeom prst="rect">
              <a:avLst/>
            </a:prstGeom>
          </p:spPr>
          <p:txBody>
            <a:bodyPr anchor="ctr" rtlCol="false" tIns="0" lIns="0" bIns="0" rIns="0"/>
            <a:lstStyle/>
            <a:p>
              <a:pPr algn="l">
                <a:lnSpc>
                  <a:spcPts val="3240"/>
                </a:lnSpc>
              </a:pPr>
              <a:r>
                <a:rPr lang="en-US" sz="2700" b="true">
                  <a:solidFill>
                    <a:srgbClr val="0B2A4A"/>
                  </a:solidFill>
                  <a:latin typeface="Cambria Bold"/>
                  <a:ea typeface="Cambria Bold"/>
                  <a:cs typeface="Cambria Bold"/>
                  <a:sym typeface="Cambria Bold"/>
                </a:rPr>
                <a:t>T = T + 1, loop back</a:t>
              </a:r>
            </a:p>
          </p:txBody>
        </p:sp>
      </p:grpSp>
      <p:grpSp>
        <p:nvGrpSpPr>
          <p:cNvPr name="Group 62" id="62"/>
          <p:cNvGrpSpPr/>
          <p:nvPr/>
        </p:nvGrpSpPr>
        <p:grpSpPr>
          <a:xfrm rot="0">
            <a:off x="9875520" y="8135684"/>
            <a:ext cx="7338060" cy="480060"/>
            <a:chOff x="0" y="0"/>
            <a:chExt cx="9784080" cy="640080"/>
          </a:xfrm>
        </p:grpSpPr>
        <p:sp>
          <p:nvSpPr>
            <p:cNvPr name="Freeform 63" id="63"/>
            <p:cNvSpPr/>
            <p:nvPr/>
          </p:nvSpPr>
          <p:spPr>
            <a:xfrm flipH="false" flipV="false" rot="0">
              <a:off x="0" y="0"/>
              <a:ext cx="9784080" cy="640080"/>
            </a:xfrm>
            <a:custGeom>
              <a:avLst/>
              <a:gdLst/>
              <a:ahLst/>
              <a:cxnLst/>
              <a:rect r="r" b="b" t="t" l="l"/>
              <a:pathLst>
                <a:path h="640080" w="9784080">
                  <a:moveTo>
                    <a:pt x="0" y="0"/>
                  </a:moveTo>
                  <a:lnTo>
                    <a:pt x="9784080" y="0"/>
                  </a:lnTo>
                  <a:lnTo>
                    <a:pt x="9784080" y="640080"/>
                  </a:lnTo>
                  <a:lnTo>
                    <a:pt x="0" y="640080"/>
                  </a:lnTo>
                  <a:close/>
                </a:path>
              </a:pathLst>
            </a:custGeom>
            <a:blipFill>
              <a:blip r:embed="rId3">
                <a:alphaModFix amt="0"/>
              </a:blip>
              <a:stretch>
                <a:fillRect l="0" t="-247842" r="0" b="-247842"/>
              </a:stretch>
            </a:blipFill>
          </p:spPr>
        </p:sp>
        <p:sp>
          <p:nvSpPr>
            <p:cNvPr name="TextBox 64" id="64"/>
            <p:cNvSpPr txBox="true"/>
            <p:nvPr/>
          </p:nvSpPr>
          <p:spPr>
            <a:xfrm>
              <a:off x="0" y="-57150"/>
              <a:ext cx="9784080" cy="697230"/>
            </a:xfrm>
            <a:prstGeom prst="rect">
              <a:avLst/>
            </a:prstGeom>
          </p:spPr>
          <p:txBody>
            <a:bodyPr anchor="ctr" rtlCol="false" tIns="0" lIns="0" bIns="0" rIns="0"/>
            <a:lstStyle/>
            <a:p>
              <a:pPr algn="l">
                <a:lnSpc>
                  <a:spcPts val="2376"/>
                </a:lnSpc>
              </a:pPr>
              <a:r>
                <a:rPr lang="en-US" sz="1800">
                  <a:solidFill>
                    <a:srgbClr val="5B6472"/>
                  </a:solidFill>
                  <a:latin typeface="Calibri (MS)"/>
                  <a:ea typeface="Calibri (MS)"/>
                  <a:cs typeface="Calibri (MS)"/>
                  <a:sym typeface="Calibri (MS)"/>
                </a:rPr>
                <a:t>Elite carried forward, new population re-evaluated, and the cycle repeats.</a:t>
              </a:r>
            </a:p>
          </p:txBody>
        </p:sp>
      </p:grpSp>
      <p:grpSp>
        <p:nvGrpSpPr>
          <p:cNvPr name="Group 65" id="65"/>
          <p:cNvGrpSpPr/>
          <p:nvPr/>
        </p:nvGrpSpPr>
        <p:grpSpPr>
          <a:xfrm rot="0">
            <a:off x="16774668" y="9669780"/>
            <a:ext cx="1097280" cy="411480"/>
            <a:chOff x="0" y="0"/>
            <a:chExt cx="1463040" cy="548640"/>
          </a:xfrm>
        </p:grpSpPr>
        <p:sp>
          <p:nvSpPr>
            <p:cNvPr name="Freeform 66" id="66"/>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67" id="67"/>
            <p:cNvSpPr txBox="true"/>
            <p:nvPr/>
          </p:nvSpPr>
          <p:spPr>
            <a:xfrm>
              <a:off x="0" y="-38100"/>
              <a:ext cx="1463040" cy="586740"/>
            </a:xfrm>
            <a:prstGeom prst="rect">
              <a:avLst/>
            </a:prstGeom>
          </p:spPr>
          <p:txBody>
            <a:bodyPr anchor="ctr" rtlCol="false" tIns="0" lIns="0" bIns="0" rIns="0"/>
            <a:lstStyle/>
            <a:p>
              <a:pPr algn="r">
                <a:lnSpc>
                  <a:spcPts val="1800"/>
                </a:lnSpc>
              </a:pPr>
              <a:r>
                <a:rPr lang="en-US" sz="1500">
                  <a:solidFill>
                    <a:srgbClr val="5B6472"/>
                  </a:solidFill>
                  <a:latin typeface="Calibri (MS)"/>
                  <a:ea typeface="Calibri (MS)"/>
                  <a:cs typeface="Calibri (MS)"/>
                  <a:sym typeface="Calibri (MS)"/>
                </a:rPr>
                <a:t>5 / 13</a:t>
              </a:r>
            </a:p>
          </p:txBody>
        </p:sp>
      </p:grpSp>
      <p:grpSp>
        <p:nvGrpSpPr>
          <p:cNvPr name="Group 68" id="68"/>
          <p:cNvGrpSpPr/>
          <p:nvPr/>
        </p:nvGrpSpPr>
        <p:grpSpPr>
          <a:xfrm rot="0">
            <a:off x="685800" y="9669780"/>
            <a:ext cx="5486400" cy="411480"/>
            <a:chOff x="0" y="0"/>
            <a:chExt cx="7315200" cy="548640"/>
          </a:xfrm>
        </p:grpSpPr>
        <p:sp>
          <p:nvSpPr>
            <p:cNvPr name="Freeform 69" id="69"/>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70" id="70"/>
            <p:cNvSpPr txBox="true"/>
            <p:nvPr/>
          </p:nvSpPr>
          <p:spPr>
            <a:xfrm>
              <a:off x="0" y="-38100"/>
              <a:ext cx="7315200" cy="586740"/>
            </a:xfrm>
            <a:prstGeom prst="rect">
              <a:avLst/>
            </a:prstGeom>
          </p:spPr>
          <p:txBody>
            <a:bodyPr anchor="ctr" rtlCol="false" tIns="0" lIns="0" bIns="0" rIns="0"/>
            <a:lstStyle/>
            <a:p>
              <a:pPr algn="l">
                <a:lnSpc>
                  <a:spcPts val="1800"/>
                </a:lnSpc>
              </a:pPr>
              <a:r>
                <a:rPr lang="en-US" sz="1500">
                  <a:solidFill>
                    <a:srgbClr val="5B6472"/>
                  </a:solidFill>
                  <a:latin typeface="Calibri (MS)"/>
                  <a:ea typeface="Calibri (MS)"/>
                  <a:cs typeface="Calibri (MS)"/>
                  <a:sym typeface="Calibri (MS)"/>
                </a:rPr>
                <a:t>GA · 2D Ackley Function</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47625"/>
              <a:ext cx="14630400" cy="687705"/>
            </a:xfrm>
            <a:prstGeom prst="rect">
              <a:avLst/>
            </a:prstGeom>
          </p:spPr>
          <p:txBody>
            <a:bodyPr anchor="ctr" rtlCol="false" tIns="0" lIns="0" bIns="0" rIns="0"/>
            <a:lstStyle/>
            <a:p>
              <a:pPr algn="l">
                <a:lnSpc>
                  <a:spcPts val="2340"/>
                </a:lnSpc>
              </a:pPr>
              <a:r>
                <a:rPr lang="en-US" b="true" sz="1950" spc="299">
                  <a:solidFill>
                    <a:srgbClr val="1C7293"/>
                  </a:solidFill>
                  <a:latin typeface="Calibri (MS) Bold"/>
                  <a:ea typeface="Calibri (MS) Bold"/>
                  <a:cs typeface="Calibri (MS) Bold"/>
                  <a:sym typeface="Calibri (MS) Bold"/>
                </a:rPr>
                <a:t>HOW IT WORKS — IN OUR CODE</a:t>
              </a:r>
            </a:p>
          </p:txBody>
        </p:sp>
      </p:grpSp>
      <p:grpSp>
        <p:nvGrpSpPr>
          <p:cNvPr name="Group 5" id="5"/>
          <p:cNvGrpSpPr/>
          <p:nvPr/>
        </p:nvGrpSpPr>
        <p:grpSpPr>
          <a:xfrm rot="0">
            <a:off x="822960" y="987552"/>
            <a:ext cx="15910560" cy="960120"/>
            <a:chOff x="0" y="0"/>
            <a:chExt cx="21214080" cy="1280160"/>
          </a:xfrm>
        </p:grpSpPr>
        <p:sp>
          <p:nvSpPr>
            <p:cNvPr name="Freeform 6" id="6"/>
            <p:cNvSpPr/>
            <p:nvPr/>
          </p:nvSpPr>
          <p:spPr>
            <a:xfrm flipH="false" flipV="false" rot="0">
              <a:off x="0" y="0"/>
              <a:ext cx="21214080" cy="1280160"/>
            </a:xfrm>
            <a:custGeom>
              <a:avLst/>
              <a:gdLst/>
              <a:ahLst/>
              <a:cxnLst/>
              <a:rect r="r" b="b" t="t" l="l"/>
              <a:pathLst>
                <a:path h="1280160" w="21214080">
                  <a:moveTo>
                    <a:pt x="0" y="0"/>
                  </a:moveTo>
                  <a:lnTo>
                    <a:pt x="21214080" y="0"/>
                  </a:lnTo>
                  <a:lnTo>
                    <a:pt x="21214080" y="1280160"/>
                  </a:lnTo>
                  <a:lnTo>
                    <a:pt x="0" y="1280160"/>
                  </a:lnTo>
                  <a:close/>
                </a:path>
              </a:pathLst>
            </a:custGeom>
            <a:blipFill>
              <a:blip r:embed="rId3">
                <a:alphaModFix amt="0"/>
              </a:blip>
              <a:stretch>
                <a:fillRect l="0" t="-272894" r="0" b="-272894"/>
              </a:stretch>
            </a:blipFill>
          </p:spPr>
        </p:sp>
        <p:sp>
          <p:nvSpPr>
            <p:cNvPr name="TextBox 7" id="7"/>
            <p:cNvSpPr txBox="true"/>
            <p:nvPr/>
          </p:nvSpPr>
          <p:spPr>
            <a:xfrm>
              <a:off x="0" y="-19050"/>
              <a:ext cx="21214080" cy="1299210"/>
            </a:xfrm>
            <a:prstGeom prst="rect">
              <a:avLst/>
            </a:prstGeom>
          </p:spPr>
          <p:txBody>
            <a:bodyPr anchor="ctr" rtlCol="false" tIns="0" lIns="0" bIns="0" rIns="0"/>
            <a:lstStyle/>
            <a:p>
              <a:pPr algn="l">
                <a:lnSpc>
                  <a:spcPts val="5400"/>
                </a:lnSpc>
              </a:pPr>
              <a:r>
                <a:rPr lang="en-US" sz="4500" b="true">
                  <a:solidFill>
                    <a:srgbClr val="1B1F27"/>
                  </a:solidFill>
                  <a:latin typeface="Cambria Bold"/>
                  <a:ea typeface="Cambria Bold"/>
                  <a:cs typeface="Cambria Bold"/>
                  <a:sym typeface="Cambria Bold"/>
                </a:rPr>
                <a:t>One generation of the algorithm, step by step</a:t>
              </a:r>
            </a:p>
          </p:txBody>
        </p:sp>
      </p:grpSp>
      <p:grpSp>
        <p:nvGrpSpPr>
          <p:cNvPr name="Group 8" id="8"/>
          <p:cNvGrpSpPr/>
          <p:nvPr/>
        </p:nvGrpSpPr>
        <p:grpSpPr>
          <a:xfrm rot="0">
            <a:off x="813435" y="2939415"/>
            <a:ext cx="3096920" cy="4613910"/>
            <a:chOff x="0" y="0"/>
            <a:chExt cx="4129227" cy="6151880"/>
          </a:xfrm>
        </p:grpSpPr>
        <p:sp>
          <p:nvSpPr>
            <p:cNvPr name="Freeform 9" id="9"/>
            <p:cNvSpPr/>
            <p:nvPr/>
          </p:nvSpPr>
          <p:spPr>
            <a:xfrm flipH="false" flipV="false" rot="0">
              <a:off x="0" y="0"/>
              <a:ext cx="4129151" cy="6151880"/>
            </a:xfrm>
            <a:custGeom>
              <a:avLst/>
              <a:gdLst/>
              <a:ahLst/>
              <a:cxnLst/>
              <a:rect r="r" b="b" t="t" l="l"/>
              <a:pathLst>
                <a:path h="6151880" w="4129151">
                  <a:moveTo>
                    <a:pt x="0" y="147193"/>
                  </a:moveTo>
                  <a:cubicBezTo>
                    <a:pt x="0" y="65913"/>
                    <a:pt x="65913" y="0"/>
                    <a:pt x="147193" y="0"/>
                  </a:cubicBezTo>
                  <a:lnTo>
                    <a:pt x="3981958" y="0"/>
                  </a:lnTo>
                  <a:cubicBezTo>
                    <a:pt x="4063238" y="0"/>
                    <a:pt x="4129151" y="65913"/>
                    <a:pt x="4129151" y="147193"/>
                  </a:cubicBezTo>
                  <a:lnTo>
                    <a:pt x="4129151" y="6004687"/>
                  </a:lnTo>
                  <a:cubicBezTo>
                    <a:pt x="4129151" y="6085967"/>
                    <a:pt x="4063238" y="6151880"/>
                    <a:pt x="3981958" y="6151880"/>
                  </a:cubicBezTo>
                  <a:lnTo>
                    <a:pt x="147193" y="6151880"/>
                  </a:lnTo>
                  <a:cubicBezTo>
                    <a:pt x="65913" y="6151880"/>
                    <a:pt x="0" y="6085967"/>
                    <a:pt x="0" y="6004687"/>
                  </a:cubicBezTo>
                  <a:close/>
                </a:path>
              </a:pathLst>
            </a:custGeom>
            <a:solidFill>
              <a:srgbClr val="FF6B4A"/>
            </a:solidFill>
            <a:ln w="19050" cap="sq">
              <a:solidFill>
                <a:srgbClr val="E3E9EE"/>
              </a:solidFill>
              <a:prstDash val="solid"/>
              <a:miter/>
            </a:ln>
          </p:spPr>
        </p:sp>
      </p:grpSp>
      <p:grpSp>
        <p:nvGrpSpPr>
          <p:cNvPr name="Group 10" id="10"/>
          <p:cNvGrpSpPr/>
          <p:nvPr/>
        </p:nvGrpSpPr>
        <p:grpSpPr>
          <a:xfrm rot="0">
            <a:off x="1977847" y="3291840"/>
            <a:ext cx="768096" cy="768096"/>
            <a:chOff x="0" y="0"/>
            <a:chExt cx="1024128" cy="1024128"/>
          </a:xfrm>
        </p:grpSpPr>
        <p:sp>
          <p:nvSpPr>
            <p:cNvPr name="Freeform 11" id="11"/>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FFFFFF"/>
            </a:solidFill>
          </p:spPr>
        </p:sp>
      </p:grpSp>
      <p:grpSp>
        <p:nvGrpSpPr>
          <p:cNvPr name="Group 12" id="12"/>
          <p:cNvGrpSpPr/>
          <p:nvPr/>
        </p:nvGrpSpPr>
        <p:grpSpPr>
          <a:xfrm rot="0">
            <a:off x="1977847" y="3291840"/>
            <a:ext cx="768096" cy="768096"/>
            <a:chOff x="0" y="0"/>
            <a:chExt cx="1024128" cy="1024128"/>
          </a:xfrm>
        </p:grpSpPr>
        <p:sp>
          <p:nvSpPr>
            <p:cNvPr name="Freeform 13" id="13"/>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14" id="14"/>
            <p:cNvSpPr txBox="true"/>
            <p:nvPr/>
          </p:nvSpPr>
          <p:spPr>
            <a:xfrm>
              <a:off x="0" y="-9525"/>
              <a:ext cx="1024128" cy="1033653"/>
            </a:xfrm>
            <a:prstGeom prst="rect">
              <a:avLst/>
            </a:prstGeom>
          </p:spPr>
          <p:txBody>
            <a:bodyPr anchor="ctr" rtlCol="false" tIns="0" lIns="0" bIns="0" rIns="0"/>
            <a:lstStyle/>
            <a:p>
              <a:pPr algn="ctr">
                <a:lnSpc>
                  <a:spcPts val="5040"/>
                </a:lnSpc>
              </a:pPr>
              <a:r>
                <a:rPr lang="en-US" sz="4200" b="true">
                  <a:solidFill>
                    <a:srgbClr val="FF6B4A"/>
                  </a:solidFill>
                  <a:latin typeface="Cambria Bold"/>
                  <a:ea typeface="Cambria Bold"/>
                  <a:cs typeface="Cambria Bold"/>
                  <a:sym typeface="Cambria Bold"/>
                </a:rPr>
                <a:t>1</a:t>
              </a:r>
            </a:p>
          </p:txBody>
        </p:sp>
      </p:grpSp>
      <p:grpSp>
        <p:nvGrpSpPr>
          <p:cNvPr name="Group 15" id="15"/>
          <p:cNvGrpSpPr/>
          <p:nvPr/>
        </p:nvGrpSpPr>
        <p:grpSpPr>
          <a:xfrm rot="0">
            <a:off x="1028700" y="4251960"/>
            <a:ext cx="2666390" cy="754380"/>
            <a:chOff x="0" y="0"/>
            <a:chExt cx="3555187" cy="1005840"/>
          </a:xfrm>
        </p:grpSpPr>
        <p:sp>
          <p:nvSpPr>
            <p:cNvPr name="Freeform 16" id="16"/>
            <p:cNvSpPr/>
            <p:nvPr/>
          </p:nvSpPr>
          <p:spPr>
            <a:xfrm flipH="false" flipV="false" rot="0">
              <a:off x="0" y="0"/>
              <a:ext cx="3555188" cy="1005840"/>
            </a:xfrm>
            <a:custGeom>
              <a:avLst/>
              <a:gdLst/>
              <a:ahLst/>
              <a:cxnLst/>
              <a:rect r="r" b="b" t="t" l="l"/>
              <a:pathLst>
                <a:path h="1005840" w="3555188">
                  <a:moveTo>
                    <a:pt x="0" y="0"/>
                  </a:moveTo>
                  <a:lnTo>
                    <a:pt x="3555188" y="0"/>
                  </a:lnTo>
                  <a:lnTo>
                    <a:pt x="3555188" y="1005840"/>
                  </a:lnTo>
                  <a:lnTo>
                    <a:pt x="0" y="1005840"/>
                  </a:lnTo>
                  <a:close/>
                </a:path>
              </a:pathLst>
            </a:custGeom>
            <a:blipFill>
              <a:blip r:embed="rId3">
                <a:alphaModFix amt="0"/>
              </a:blip>
              <a:stretch>
                <a:fillRect l="0" t="-18870" r="0" b="-18870"/>
              </a:stretch>
            </a:blipFill>
          </p:spPr>
        </p:sp>
        <p:sp>
          <p:nvSpPr>
            <p:cNvPr name="TextBox 17" id="17"/>
            <p:cNvSpPr txBox="true"/>
            <p:nvPr/>
          </p:nvSpPr>
          <p:spPr>
            <a:xfrm>
              <a:off x="0" y="-19050"/>
              <a:ext cx="3555187" cy="1024890"/>
            </a:xfrm>
            <a:prstGeom prst="rect">
              <a:avLst/>
            </a:prstGeom>
          </p:spPr>
          <p:txBody>
            <a:bodyPr anchor="ctr" rtlCol="false" tIns="0" lIns="0" bIns="0" rIns="0"/>
            <a:lstStyle/>
            <a:p>
              <a:pPr algn="ctr">
                <a:lnSpc>
                  <a:spcPts val="3240"/>
                </a:lnSpc>
              </a:pPr>
              <a:r>
                <a:rPr lang="en-US" sz="2700" b="true">
                  <a:solidFill>
                    <a:srgbClr val="FFFFFF"/>
                  </a:solidFill>
                  <a:latin typeface="Cambria Bold"/>
                  <a:ea typeface="Cambria Bold"/>
                  <a:cs typeface="Cambria Bold"/>
                  <a:sym typeface="Cambria Bold"/>
                </a:rPr>
                <a:t>Sort &amp; preserve</a:t>
              </a:r>
            </a:p>
          </p:txBody>
        </p:sp>
      </p:grpSp>
      <p:grpSp>
        <p:nvGrpSpPr>
          <p:cNvPr name="Group 18" id="18"/>
          <p:cNvGrpSpPr/>
          <p:nvPr/>
        </p:nvGrpSpPr>
        <p:grpSpPr>
          <a:xfrm rot="0">
            <a:off x="1028700" y="5006340"/>
            <a:ext cx="2666390" cy="2331720"/>
            <a:chOff x="0" y="0"/>
            <a:chExt cx="3555187" cy="3108960"/>
          </a:xfrm>
        </p:grpSpPr>
        <p:sp>
          <p:nvSpPr>
            <p:cNvPr name="Freeform 19" id="19"/>
            <p:cNvSpPr/>
            <p:nvPr/>
          </p:nvSpPr>
          <p:spPr>
            <a:xfrm flipH="false" flipV="false" rot="0">
              <a:off x="0" y="0"/>
              <a:ext cx="3555188" cy="3108960"/>
            </a:xfrm>
            <a:custGeom>
              <a:avLst/>
              <a:gdLst/>
              <a:ahLst/>
              <a:cxnLst/>
              <a:rect r="r" b="b" t="t" l="l"/>
              <a:pathLst>
                <a:path h="3108960" w="3555188">
                  <a:moveTo>
                    <a:pt x="0" y="0"/>
                  </a:moveTo>
                  <a:lnTo>
                    <a:pt x="3555188" y="0"/>
                  </a:lnTo>
                  <a:lnTo>
                    <a:pt x="3555188" y="3108960"/>
                  </a:lnTo>
                  <a:lnTo>
                    <a:pt x="0" y="3108960"/>
                  </a:lnTo>
                  <a:close/>
                </a:path>
              </a:pathLst>
            </a:custGeom>
            <a:blipFill>
              <a:blip r:embed="rId3">
                <a:alphaModFix amt="0"/>
              </a:blip>
              <a:stretch>
                <a:fillRect l="-62199" t="0" r="-62199" b="0"/>
              </a:stretch>
            </a:blipFill>
          </p:spPr>
        </p:sp>
        <p:sp>
          <p:nvSpPr>
            <p:cNvPr name="TextBox 20" id="20"/>
            <p:cNvSpPr txBox="true"/>
            <p:nvPr/>
          </p:nvSpPr>
          <p:spPr>
            <a:xfrm>
              <a:off x="0" y="-76200"/>
              <a:ext cx="3555187" cy="3185160"/>
            </a:xfrm>
            <a:prstGeom prst="rect">
              <a:avLst/>
            </a:prstGeom>
          </p:spPr>
          <p:txBody>
            <a:bodyPr anchor="ctr" rtlCol="false" tIns="0" lIns="0" bIns="0" rIns="0"/>
            <a:lstStyle/>
            <a:p>
              <a:pPr algn="ctr">
                <a:lnSpc>
                  <a:spcPts val="2897"/>
                </a:lnSpc>
              </a:pPr>
              <a:r>
                <a:rPr lang="en-US" sz="2100">
                  <a:solidFill>
                    <a:srgbClr val="FFEDE7"/>
                  </a:solidFill>
                  <a:latin typeface="Calibri (MS)"/>
                  <a:ea typeface="Calibri (MS)"/>
                  <a:cs typeface="Calibri (MS)"/>
                  <a:sym typeface="Calibri (MS)"/>
                </a:rPr>
                <a:t>Rank the population by fitness; copy the best (elite) chromosome unchanged.</a:t>
              </a:r>
            </a:p>
          </p:txBody>
        </p:sp>
      </p:grpSp>
      <p:grpSp>
        <p:nvGrpSpPr>
          <p:cNvPr name="Group 21" id="21"/>
          <p:cNvGrpSpPr/>
          <p:nvPr/>
        </p:nvGrpSpPr>
        <p:grpSpPr>
          <a:xfrm rot="0">
            <a:off x="3712997" y="4823754"/>
            <a:ext cx="533400" cy="845232"/>
            <a:chOff x="0" y="0"/>
            <a:chExt cx="711200" cy="1126976"/>
          </a:xfrm>
        </p:grpSpPr>
        <p:sp>
          <p:nvSpPr>
            <p:cNvPr name="Freeform 22" id="22"/>
            <p:cNvSpPr/>
            <p:nvPr/>
          </p:nvSpPr>
          <p:spPr>
            <a:xfrm flipH="false" flipV="false" rot="0">
              <a:off x="0" y="0"/>
              <a:ext cx="711200" cy="1126976"/>
            </a:xfrm>
            <a:custGeom>
              <a:avLst/>
              <a:gdLst/>
              <a:ahLst/>
              <a:cxnLst/>
              <a:rect r="r" b="b" t="t" l="l"/>
              <a:pathLst>
                <a:path h="1126976" w="711200">
                  <a:moveTo>
                    <a:pt x="0" y="0"/>
                  </a:moveTo>
                  <a:lnTo>
                    <a:pt x="711200" y="0"/>
                  </a:lnTo>
                  <a:lnTo>
                    <a:pt x="711200" y="1126976"/>
                  </a:lnTo>
                  <a:lnTo>
                    <a:pt x="0" y="1126976"/>
                  </a:lnTo>
                  <a:close/>
                </a:path>
              </a:pathLst>
            </a:custGeom>
            <a:blipFill>
              <a:blip r:embed="rId3">
                <a:alphaModFix amt="0"/>
              </a:blip>
              <a:stretch>
                <a:fillRect l="-136676" t="0" r="-93247" b="18862"/>
              </a:stretch>
            </a:blipFill>
          </p:spPr>
        </p:sp>
        <p:sp>
          <p:nvSpPr>
            <p:cNvPr name="TextBox 23" id="23"/>
            <p:cNvSpPr txBox="true"/>
            <p:nvPr/>
          </p:nvSpPr>
          <p:spPr>
            <a:xfrm>
              <a:off x="0" y="-85725"/>
              <a:ext cx="711200" cy="1212701"/>
            </a:xfrm>
            <a:prstGeom prst="rect">
              <a:avLst/>
            </a:prstGeom>
          </p:spPr>
          <p:txBody>
            <a:bodyPr anchor="ctr" rtlCol="false" tIns="0" lIns="0" bIns="0" rIns="0"/>
            <a:lstStyle/>
            <a:p>
              <a:pPr algn="ctr">
                <a:lnSpc>
                  <a:spcPts val="5040"/>
                </a:lnSpc>
              </a:pPr>
              <a:r>
                <a:rPr lang="en-US" sz="4200" b="true">
                  <a:solidFill>
                    <a:srgbClr val="1C7293"/>
                  </a:solidFill>
                  <a:latin typeface="Calibri (MS) Bold"/>
                  <a:ea typeface="Calibri (MS) Bold"/>
                  <a:cs typeface="Calibri (MS) Bold"/>
                  <a:sym typeface="Calibri (MS) Bold"/>
                </a:rPr>
                <a:t>→</a:t>
              </a:r>
            </a:p>
          </p:txBody>
        </p:sp>
      </p:grpSp>
      <p:grpSp>
        <p:nvGrpSpPr>
          <p:cNvPr name="Group 24" id="24"/>
          <p:cNvGrpSpPr/>
          <p:nvPr/>
        </p:nvGrpSpPr>
        <p:grpSpPr>
          <a:xfrm rot="0">
            <a:off x="4193057" y="2939415"/>
            <a:ext cx="3096920" cy="4613910"/>
            <a:chOff x="0" y="0"/>
            <a:chExt cx="4129227" cy="6151880"/>
          </a:xfrm>
        </p:grpSpPr>
        <p:sp>
          <p:nvSpPr>
            <p:cNvPr name="Freeform 25" id="25"/>
            <p:cNvSpPr/>
            <p:nvPr/>
          </p:nvSpPr>
          <p:spPr>
            <a:xfrm flipH="false" flipV="false" rot="0">
              <a:off x="0" y="0"/>
              <a:ext cx="4129151" cy="6151880"/>
            </a:xfrm>
            <a:custGeom>
              <a:avLst/>
              <a:gdLst/>
              <a:ahLst/>
              <a:cxnLst/>
              <a:rect r="r" b="b" t="t" l="l"/>
              <a:pathLst>
                <a:path h="6151880" w="4129151">
                  <a:moveTo>
                    <a:pt x="0" y="147193"/>
                  </a:moveTo>
                  <a:cubicBezTo>
                    <a:pt x="0" y="65913"/>
                    <a:pt x="65913" y="0"/>
                    <a:pt x="147193" y="0"/>
                  </a:cubicBezTo>
                  <a:lnTo>
                    <a:pt x="3981958" y="0"/>
                  </a:lnTo>
                  <a:cubicBezTo>
                    <a:pt x="4063238" y="0"/>
                    <a:pt x="4129151" y="65913"/>
                    <a:pt x="4129151" y="147193"/>
                  </a:cubicBezTo>
                  <a:lnTo>
                    <a:pt x="4129151" y="6004687"/>
                  </a:lnTo>
                  <a:cubicBezTo>
                    <a:pt x="4129151" y="6085967"/>
                    <a:pt x="4063238" y="6151880"/>
                    <a:pt x="3981958" y="6151880"/>
                  </a:cubicBezTo>
                  <a:lnTo>
                    <a:pt x="147193" y="6151880"/>
                  </a:lnTo>
                  <a:cubicBezTo>
                    <a:pt x="65913" y="6151880"/>
                    <a:pt x="0" y="6085967"/>
                    <a:pt x="0" y="6004687"/>
                  </a:cubicBezTo>
                  <a:close/>
                </a:path>
              </a:pathLst>
            </a:custGeom>
            <a:solidFill>
              <a:srgbClr val="FFFFFF"/>
            </a:solidFill>
            <a:ln w="19050" cap="sq">
              <a:solidFill>
                <a:srgbClr val="E3E9EE"/>
              </a:solidFill>
              <a:prstDash val="solid"/>
              <a:miter/>
            </a:ln>
          </p:spPr>
        </p:sp>
      </p:grpSp>
      <p:grpSp>
        <p:nvGrpSpPr>
          <p:cNvPr name="Group 26" id="26"/>
          <p:cNvGrpSpPr/>
          <p:nvPr/>
        </p:nvGrpSpPr>
        <p:grpSpPr>
          <a:xfrm rot="0">
            <a:off x="5357470" y="3291840"/>
            <a:ext cx="768096" cy="768096"/>
            <a:chOff x="0" y="0"/>
            <a:chExt cx="1024128" cy="1024128"/>
          </a:xfrm>
        </p:grpSpPr>
        <p:sp>
          <p:nvSpPr>
            <p:cNvPr name="Freeform 27" id="27"/>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B2A4A"/>
            </a:solidFill>
          </p:spPr>
        </p:sp>
      </p:grpSp>
      <p:grpSp>
        <p:nvGrpSpPr>
          <p:cNvPr name="Group 28" id="28"/>
          <p:cNvGrpSpPr/>
          <p:nvPr/>
        </p:nvGrpSpPr>
        <p:grpSpPr>
          <a:xfrm rot="0">
            <a:off x="5357470" y="3291840"/>
            <a:ext cx="768096" cy="768096"/>
            <a:chOff x="0" y="0"/>
            <a:chExt cx="1024128" cy="1024128"/>
          </a:xfrm>
        </p:grpSpPr>
        <p:sp>
          <p:nvSpPr>
            <p:cNvPr name="Freeform 29" id="29"/>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30" id="30"/>
            <p:cNvSpPr txBox="true"/>
            <p:nvPr/>
          </p:nvSpPr>
          <p:spPr>
            <a:xfrm>
              <a:off x="0" y="-9525"/>
              <a:ext cx="1024128" cy="1033653"/>
            </a:xfrm>
            <a:prstGeom prst="rect">
              <a:avLst/>
            </a:prstGeom>
          </p:spPr>
          <p:txBody>
            <a:bodyPr anchor="ctr" rtlCol="false" tIns="0" lIns="0" bIns="0" rIns="0"/>
            <a:lstStyle/>
            <a:p>
              <a:pPr algn="ctr">
                <a:lnSpc>
                  <a:spcPts val="5040"/>
                </a:lnSpc>
              </a:pPr>
              <a:r>
                <a:rPr lang="en-US" sz="4200" b="true">
                  <a:solidFill>
                    <a:srgbClr val="FFFFFF"/>
                  </a:solidFill>
                  <a:latin typeface="Cambria Bold"/>
                  <a:ea typeface="Cambria Bold"/>
                  <a:cs typeface="Cambria Bold"/>
                  <a:sym typeface="Cambria Bold"/>
                </a:rPr>
                <a:t>2</a:t>
              </a:r>
            </a:p>
          </p:txBody>
        </p:sp>
      </p:grpSp>
      <p:grpSp>
        <p:nvGrpSpPr>
          <p:cNvPr name="Group 31" id="31"/>
          <p:cNvGrpSpPr/>
          <p:nvPr/>
        </p:nvGrpSpPr>
        <p:grpSpPr>
          <a:xfrm rot="0">
            <a:off x="4408322" y="4251960"/>
            <a:ext cx="2666390" cy="754380"/>
            <a:chOff x="0" y="0"/>
            <a:chExt cx="3555187" cy="1005840"/>
          </a:xfrm>
        </p:grpSpPr>
        <p:sp>
          <p:nvSpPr>
            <p:cNvPr name="Freeform 32" id="32"/>
            <p:cNvSpPr/>
            <p:nvPr/>
          </p:nvSpPr>
          <p:spPr>
            <a:xfrm flipH="false" flipV="false" rot="0">
              <a:off x="0" y="0"/>
              <a:ext cx="3555188" cy="1005840"/>
            </a:xfrm>
            <a:custGeom>
              <a:avLst/>
              <a:gdLst/>
              <a:ahLst/>
              <a:cxnLst/>
              <a:rect r="r" b="b" t="t" l="l"/>
              <a:pathLst>
                <a:path h="1005840" w="3555188">
                  <a:moveTo>
                    <a:pt x="0" y="0"/>
                  </a:moveTo>
                  <a:lnTo>
                    <a:pt x="3555188" y="0"/>
                  </a:lnTo>
                  <a:lnTo>
                    <a:pt x="3555188" y="1005840"/>
                  </a:lnTo>
                  <a:lnTo>
                    <a:pt x="0" y="1005840"/>
                  </a:lnTo>
                  <a:close/>
                </a:path>
              </a:pathLst>
            </a:custGeom>
            <a:blipFill>
              <a:blip r:embed="rId3">
                <a:alphaModFix amt="0"/>
              </a:blip>
              <a:stretch>
                <a:fillRect l="0" t="-18870" r="0" b="-18870"/>
              </a:stretch>
            </a:blipFill>
          </p:spPr>
        </p:sp>
        <p:sp>
          <p:nvSpPr>
            <p:cNvPr name="TextBox 33" id="33"/>
            <p:cNvSpPr txBox="true"/>
            <p:nvPr/>
          </p:nvSpPr>
          <p:spPr>
            <a:xfrm>
              <a:off x="0" y="-19050"/>
              <a:ext cx="3555187" cy="1024890"/>
            </a:xfrm>
            <a:prstGeom prst="rect">
              <a:avLst/>
            </a:prstGeom>
          </p:spPr>
          <p:txBody>
            <a:bodyPr anchor="ctr" rtlCol="false" tIns="0" lIns="0" bIns="0" rIns="0"/>
            <a:lstStyle/>
            <a:p>
              <a:pPr algn="ctr">
                <a:lnSpc>
                  <a:spcPts val="3240"/>
                </a:lnSpc>
              </a:pPr>
              <a:r>
                <a:rPr lang="en-US" sz="2700" b="true">
                  <a:solidFill>
                    <a:srgbClr val="0B2A4A"/>
                  </a:solidFill>
                  <a:latin typeface="Cambria Bold"/>
                  <a:ea typeface="Cambria Bold"/>
                  <a:cs typeface="Cambria Bold"/>
                  <a:sym typeface="Cambria Bold"/>
                </a:rPr>
                <a:t>Select parents</a:t>
              </a:r>
            </a:p>
          </p:txBody>
        </p:sp>
      </p:grpSp>
      <p:grpSp>
        <p:nvGrpSpPr>
          <p:cNvPr name="Group 34" id="34"/>
          <p:cNvGrpSpPr/>
          <p:nvPr/>
        </p:nvGrpSpPr>
        <p:grpSpPr>
          <a:xfrm rot="0">
            <a:off x="4408322" y="5006340"/>
            <a:ext cx="2666390" cy="2331720"/>
            <a:chOff x="0" y="0"/>
            <a:chExt cx="3555187" cy="3108960"/>
          </a:xfrm>
        </p:grpSpPr>
        <p:sp>
          <p:nvSpPr>
            <p:cNvPr name="Freeform 35" id="35"/>
            <p:cNvSpPr/>
            <p:nvPr/>
          </p:nvSpPr>
          <p:spPr>
            <a:xfrm flipH="false" flipV="false" rot="0">
              <a:off x="0" y="0"/>
              <a:ext cx="3555188" cy="3108960"/>
            </a:xfrm>
            <a:custGeom>
              <a:avLst/>
              <a:gdLst/>
              <a:ahLst/>
              <a:cxnLst/>
              <a:rect r="r" b="b" t="t" l="l"/>
              <a:pathLst>
                <a:path h="3108960" w="3555188">
                  <a:moveTo>
                    <a:pt x="0" y="0"/>
                  </a:moveTo>
                  <a:lnTo>
                    <a:pt x="3555188" y="0"/>
                  </a:lnTo>
                  <a:lnTo>
                    <a:pt x="3555188" y="3108960"/>
                  </a:lnTo>
                  <a:lnTo>
                    <a:pt x="0" y="3108960"/>
                  </a:lnTo>
                  <a:close/>
                </a:path>
              </a:pathLst>
            </a:custGeom>
            <a:blipFill>
              <a:blip r:embed="rId3">
                <a:alphaModFix amt="0"/>
              </a:blip>
              <a:stretch>
                <a:fillRect l="-62199" t="0" r="-62199" b="0"/>
              </a:stretch>
            </a:blipFill>
          </p:spPr>
        </p:sp>
        <p:sp>
          <p:nvSpPr>
            <p:cNvPr name="TextBox 36" id="36"/>
            <p:cNvSpPr txBox="true"/>
            <p:nvPr/>
          </p:nvSpPr>
          <p:spPr>
            <a:xfrm>
              <a:off x="0" y="-76200"/>
              <a:ext cx="3555187" cy="3185160"/>
            </a:xfrm>
            <a:prstGeom prst="rect">
              <a:avLst/>
            </a:prstGeom>
          </p:spPr>
          <p:txBody>
            <a:bodyPr anchor="ctr" rtlCol="false" tIns="0" lIns="0" bIns="0" rIns="0"/>
            <a:lstStyle/>
            <a:p>
              <a:pPr algn="ctr">
                <a:lnSpc>
                  <a:spcPts val="2897"/>
                </a:lnSpc>
              </a:pPr>
              <a:r>
                <a:rPr lang="en-US" sz="2100">
                  <a:solidFill>
                    <a:srgbClr val="5B6472"/>
                  </a:solidFill>
                  <a:latin typeface="Calibri (MS)"/>
                  <a:ea typeface="Calibri (MS)"/>
                  <a:cs typeface="Calibri (MS)"/>
                  <a:sym typeface="Calibri (MS)"/>
                </a:rPr>
                <a:t>Inverted roulette wheel: weight = worst − fitness + ε, so lower Ackley values get bigger odds.</a:t>
              </a:r>
            </a:p>
          </p:txBody>
        </p:sp>
      </p:grpSp>
      <p:grpSp>
        <p:nvGrpSpPr>
          <p:cNvPr name="Group 37" id="37"/>
          <p:cNvGrpSpPr/>
          <p:nvPr/>
        </p:nvGrpSpPr>
        <p:grpSpPr>
          <a:xfrm rot="0">
            <a:off x="7074713" y="4823754"/>
            <a:ext cx="596265" cy="845232"/>
            <a:chOff x="0" y="0"/>
            <a:chExt cx="795020" cy="1126976"/>
          </a:xfrm>
        </p:grpSpPr>
        <p:sp>
          <p:nvSpPr>
            <p:cNvPr name="Freeform 38" id="38"/>
            <p:cNvSpPr/>
            <p:nvPr/>
          </p:nvSpPr>
          <p:spPr>
            <a:xfrm flipH="false" flipV="false" rot="0">
              <a:off x="0" y="0"/>
              <a:ext cx="795020" cy="1126976"/>
            </a:xfrm>
            <a:custGeom>
              <a:avLst/>
              <a:gdLst/>
              <a:ahLst/>
              <a:cxnLst/>
              <a:rect r="r" b="b" t="t" l="l"/>
              <a:pathLst>
                <a:path h="1126976" w="795020">
                  <a:moveTo>
                    <a:pt x="0" y="0"/>
                  </a:moveTo>
                  <a:lnTo>
                    <a:pt x="795020" y="0"/>
                  </a:lnTo>
                  <a:lnTo>
                    <a:pt x="795020" y="1126976"/>
                  </a:lnTo>
                  <a:lnTo>
                    <a:pt x="0" y="1126976"/>
                  </a:lnTo>
                  <a:close/>
                </a:path>
              </a:pathLst>
            </a:custGeom>
            <a:blipFill>
              <a:blip r:embed="rId3">
                <a:alphaModFix amt="0"/>
              </a:blip>
              <a:stretch>
                <a:fillRect l="-122266" t="0" r="-72873" b="18862"/>
              </a:stretch>
            </a:blipFill>
          </p:spPr>
        </p:sp>
        <p:sp>
          <p:nvSpPr>
            <p:cNvPr name="TextBox 39" id="39"/>
            <p:cNvSpPr txBox="true"/>
            <p:nvPr/>
          </p:nvSpPr>
          <p:spPr>
            <a:xfrm>
              <a:off x="0" y="-85725"/>
              <a:ext cx="795020" cy="1212701"/>
            </a:xfrm>
            <a:prstGeom prst="rect">
              <a:avLst/>
            </a:prstGeom>
          </p:spPr>
          <p:txBody>
            <a:bodyPr anchor="ctr" rtlCol="false" tIns="0" lIns="0" bIns="0" rIns="0"/>
            <a:lstStyle/>
            <a:p>
              <a:pPr algn="ctr">
                <a:lnSpc>
                  <a:spcPts val="5040"/>
                </a:lnSpc>
              </a:pPr>
              <a:r>
                <a:rPr lang="en-US" sz="4200" b="true">
                  <a:solidFill>
                    <a:srgbClr val="1C7293"/>
                  </a:solidFill>
                  <a:latin typeface="Calibri (MS) Bold"/>
                  <a:ea typeface="Calibri (MS) Bold"/>
                  <a:cs typeface="Calibri (MS) Bold"/>
                  <a:sym typeface="Calibri (MS) Bold"/>
                </a:rPr>
                <a:t>→</a:t>
              </a:r>
            </a:p>
          </p:txBody>
        </p:sp>
      </p:grpSp>
      <p:grpSp>
        <p:nvGrpSpPr>
          <p:cNvPr name="Group 40" id="40"/>
          <p:cNvGrpSpPr/>
          <p:nvPr/>
        </p:nvGrpSpPr>
        <p:grpSpPr>
          <a:xfrm rot="0">
            <a:off x="7572680" y="2939415"/>
            <a:ext cx="3096920" cy="4613910"/>
            <a:chOff x="0" y="0"/>
            <a:chExt cx="4129227" cy="6151880"/>
          </a:xfrm>
        </p:grpSpPr>
        <p:sp>
          <p:nvSpPr>
            <p:cNvPr name="Freeform 41" id="41"/>
            <p:cNvSpPr/>
            <p:nvPr/>
          </p:nvSpPr>
          <p:spPr>
            <a:xfrm flipH="false" flipV="false" rot="0">
              <a:off x="0" y="0"/>
              <a:ext cx="4129151" cy="6151880"/>
            </a:xfrm>
            <a:custGeom>
              <a:avLst/>
              <a:gdLst/>
              <a:ahLst/>
              <a:cxnLst/>
              <a:rect r="r" b="b" t="t" l="l"/>
              <a:pathLst>
                <a:path h="6151880" w="4129151">
                  <a:moveTo>
                    <a:pt x="0" y="147193"/>
                  </a:moveTo>
                  <a:cubicBezTo>
                    <a:pt x="0" y="65913"/>
                    <a:pt x="65913" y="0"/>
                    <a:pt x="147193" y="0"/>
                  </a:cubicBezTo>
                  <a:lnTo>
                    <a:pt x="3981958" y="0"/>
                  </a:lnTo>
                  <a:cubicBezTo>
                    <a:pt x="4063238" y="0"/>
                    <a:pt x="4129151" y="65913"/>
                    <a:pt x="4129151" y="147193"/>
                  </a:cubicBezTo>
                  <a:lnTo>
                    <a:pt x="4129151" y="6004687"/>
                  </a:lnTo>
                  <a:cubicBezTo>
                    <a:pt x="4129151" y="6085967"/>
                    <a:pt x="4063238" y="6151880"/>
                    <a:pt x="3981958" y="6151880"/>
                  </a:cubicBezTo>
                  <a:lnTo>
                    <a:pt x="147193" y="6151880"/>
                  </a:lnTo>
                  <a:cubicBezTo>
                    <a:pt x="65913" y="6151880"/>
                    <a:pt x="0" y="6085967"/>
                    <a:pt x="0" y="6004687"/>
                  </a:cubicBezTo>
                  <a:close/>
                </a:path>
              </a:pathLst>
            </a:custGeom>
            <a:solidFill>
              <a:srgbClr val="FFFFFF"/>
            </a:solidFill>
            <a:ln w="19050" cap="sq">
              <a:solidFill>
                <a:srgbClr val="E3E9EE"/>
              </a:solidFill>
              <a:prstDash val="solid"/>
              <a:miter/>
            </a:ln>
          </p:spPr>
        </p:sp>
      </p:grpSp>
      <p:grpSp>
        <p:nvGrpSpPr>
          <p:cNvPr name="Group 42" id="42"/>
          <p:cNvGrpSpPr/>
          <p:nvPr/>
        </p:nvGrpSpPr>
        <p:grpSpPr>
          <a:xfrm rot="0">
            <a:off x="8737092" y="3291840"/>
            <a:ext cx="768096" cy="768096"/>
            <a:chOff x="0" y="0"/>
            <a:chExt cx="1024128" cy="1024128"/>
          </a:xfrm>
        </p:grpSpPr>
        <p:sp>
          <p:nvSpPr>
            <p:cNvPr name="Freeform 43" id="43"/>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B2A4A"/>
            </a:solidFill>
          </p:spPr>
        </p:sp>
      </p:grpSp>
      <p:grpSp>
        <p:nvGrpSpPr>
          <p:cNvPr name="Group 44" id="44"/>
          <p:cNvGrpSpPr/>
          <p:nvPr/>
        </p:nvGrpSpPr>
        <p:grpSpPr>
          <a:xfrm rot="0">
            <a:off x="8737092" y="3291840"/>
            <a:ext cx="768096" cy="768096"/>
            <a:chOff x="0" y="0"/>
            <a:chExt cx="1024128" cy="1024128"/>
          </a:xfrm>
        </p:grpSpPr>
        <p:sp>
          <p:nvSpPr>
            <p:cNvPr name="Freeform 45" id="45"/>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46" id="46"/>
            <p:cNvSpPr txBox="true"/>
            <p:nvPr/>
          </p:nvSpPr>
          <p:spPr>
            <a:xfrm>
              <a:off x="0" y="-9525"/>
              <a:ext cx="1024128" cy="1033653"/>
            </a:xfrm>
            <a:prstGeom prst="rect">
              <a:avLst/>
            </a:prstGeom>
          </p:spPr>
          <p:txBody>
            <a:bodyPr anchor="ctr" rtlCol="false" tIns="0" lIns="0" bIns="0" rIns="0"/>
            <a:lstStyle/>
            <a:p>
              <a:pPr algn="ctr">
                <a:lnSpc>
                  <a:spcPts val="5040"/>
                </a:lnSpc>
              </a:pPr>
              <a:r>
                <a:rPr lang="en-US" sz="4200" b="true">
                  <a:solidFill>
                    <a:srgbClr val="FFFFFF"/>
                  </a:solidFill>
                  <a:latin typeface="Cambria Bold"/>
                  <a:ea typeface="Cambria Bold"/>
                  <a:cs typeface="Cambria Bold"/>
                  <a:sym typeface="Cambria Bold"/>
                </a:rPr>
                <a:t>3</a:t>
              </a:r>
            </a:p>
          </p:txBody>
        </p:sp>
      </p:grpSp>
      <p:grpSp>
        <p:nvGrpSpPr>
          <p:cNvPr name="Group 47" id="47"/>
          <p:cNvGrpSpPr/>
          <p:nvPr/>
        </p:nvGrpSpPr>
        <p:grpSpPr>
          <a:xfrm rot="0">
            <a:off x="7787945" y="4251960"/>
            <a:ext cx="2666390" cy="754380"/>
            <a:chOff x="0" y="0"/>
            <a:chExt cx="3555187" cy="1005840"/>
          </a:xfrm>
        </p:grpSpPr>
        <p:sp>
          <p:nvSpPr>
            <p:cNvPr name="Freeform 48" id="48"/>
            <p:cNvSpPr/>
            <p:nvPr/>
          </p:nvSpPr>
          <p:spPr>
            <a:xfrm flipH="false" flipV="false" rot="0">
              <a:off x="0" y="0"/>
              <a:ext cx="3555188" cy="1005840"/>
            </a:xfrm>
            <a:custGeom>
              <a:avLst/>
              <a:gdLst/>
              <a:ahLst/>
              <a:cxnLst/>
              <a:rect r="r" b="b" t="t" l="l"/>
              <a:pathLst>
                <a:path h="1005840" w="3555188">
                  <a:moveTo>
                    <a:pt x="0" y="0"/>
                  </a:moveTo>
                  <a:lnTo>
                    <a:pt x="3555188" y="0"/>
                  </a:lnTo>
                  <a:lnTo>
                    <a:pt x="3555188" y="1005840"/>
                  </a:lnTo>
                  <a:lnTo>
                    <a:pt x="0" y="1005840"/>
                  </a:lnTo>
                  <a:close/>
                </a:path>
              </a:pathLst>
            </a:custGeom>
            <a:blipFill>
              <a:blip r:embed="rId3">
                <a:alphaModFix amt="0"/>
              </a:blip>
              <a:stretch>
                <a:fillRect l="0" t="-18870" r="0" b="-18870"/>
              </a:stretch>
            </a:blipFill>
          </p:spPr>
        </p:sp>
        <p:sp>
          <p:nvSpPr>
            <p:cNvPr name="TextBox 49" id="49"/>
            <p:cNvSpPr txBox="true"/>
            <p:nvPr/>
          </p:nvSpPr>
          <p:spPr>
            <a:xfrm>
              <a:off x="0" y="-19050"/>
              <a:ext cx="3555187" cy="1024890"/>
            </a:xfrm>
            <a:prstGeom prst="rect">
              <a:avLst/>
            </a:prstGeom>
          </p:spPr>
          <p:txBody>
            <a:bodyPr anchor="ctr" rtlCol="false" tIns="0" lIns="0" bIns="0" rIns="0"/>
            <a:lstStyle/>
            <a:p>
              <a:pPr algn="ctr">
                <a:lnSpc>
                  <a:spcPts val="3240"/>
                </a:lnSpc>
              </a:pPr>
              <a:r>
                <a:rPr lang="en-US" sz="2700" b="true">
                  <a:solidFill>
                    <a:srgbClr val="0B2A4A"/>
                  </a:solidFill>
                  <a:latin typeface="Cambria Bold"/>
                  <a:ea typeface="Cambria Bold"/>
                  <a:cs typeface="Cambria Bold"/>
                  <a:sym typeface="Cambria Bold"/>
                </a:rPr>
                <a:t>Crossover</a:t>
              </a:r>
            </a:p>
          </p:txBody>
        </p:sp>
      </p:grpSp>
      <p:grpSp>
        <p:nvGrpSpPr>
          <p:cNvPr name="Group 50" id="50"/>
          <p:cNvGrpSpPr/>
          <p:nvPr/>
        </p:nvGrpSpPr>
        <p:grpSpPr>
          <a:xfrm rot="0">
            <a:off x="7787945" y="5006340"/>
            <a:ext cx="2666390" cy="2331720"/>
            <a:chOff x="0" y="0"/>
            <a:chExt cx="3555187" cy="3108960"/>
          </a:xfrm>
        </p:grpSpPr>
        <p:sp>
          <p:nvSpPr>
            <p:cNvPr name="Freeform 51" id="51"/>
            <p:cNvSpPr/>
            <p:nvPr/>
          </p:nvSpPr>
          <p:spPr>
            <a:xfrm flipH="false" flipV="false" rot="0">
              <a:off x="0" y="0"/>
              <a:ext cx="3555188" cy="3108960"/>
            </a:xfrm>
            <a:custGeom>
              <a:avLst/>
              <a:gdLst/>
              <a:ahLst/>
              <a:cxnLst/>
              <a:rect r="r" b="b" t="t" l="l"/>
              <a:pathLst>
                <a:path h="3108960" w="3555188">
                  <a:moveTo>
                    <a:pt x="0" y="0"/>
                  </a:moveTo>
                  <a:lnTo>
                    <a:pt x="3555188" y="0"/>
                  </a:lnTo>
                  <a:lnTo>
                    <a:pt x="3555188" y="3108960"/>
                  </a:lnTo>
                  <a:lnTo>
                    <a:pt x="0" y="3108960"/>
                  </a:lnTo>
                  <a:close/>
                </a:path>
              </a:pathLst>
            </a:custGeom>
            <a:blipFill>
              <a:blip r:embed="rId3">
                <a:alphaModFix amt="0"/>
              </a:blip>
              <a:stretch>
                <a:fillRect l="-62199" t="0" r="-62199" b="0"/>
              </a:stretch>
            </a:blipFill>
          </p:spPr>
        </p:sp>
        <p:sp>
          <p:nvSpPr>
            <p:cNvPr name="TextBox 52" id="52"/>
            <p:cNvSpPr txBox="true"/>
            <p:nvPr/>
          </p:nvSpPr>
          <p:spPr>
            <a:xfrm>
              <a:off x="0" y="-76200"/>
              <a:ext cx="3555187" cy="3185160"/>
            </a:xfrm>
            <a:prstGeom prst="rect">
              <a:avLst/>
            </a:prstGeom>
          </p:spPr>
          <p:txBody>
            <a:bodyPr anchor="ctr" rtlCol="false" tIns="0" lIns="0" bIns="0" rIns="0"/>
            <a:lstStyle/>
            <a:p>
              <a:pPr algn="ctr">
                <a:lnSpc>
                  <a:spcPts val="2897"/>
                </a:lnSpc>
              </a:pPr>
              <a:r>
                <a:rPr lang="en-US" sz="2100">
                  <a:solidFill>
                    <a:srgbClr val="5B6472"/>
                  </a:solidFill>
                  <a:latin typeface="Calibri (MS)"/>
                  <a:ea typeface="Calibri (MS)"/>
                  <a:cs typeface="Calibri (MS)"/>
                  <a:sym typeface="Calibri (MS)"/>
                </a:rPr>
                <a:t>One-point crossover swaps x1/x2 between two parents with probability 0.8.</a:t>
              </a:r>
            </a:p>
          </p:txBody>
        </p:sp>
      </p:grpSp>
      <p:grpSp>
        <p:nvGrpSpPr>
          <p:cNvPr name="Group 53" id="53"/>
          <p:cNvGrpSpPr/>
          <p:nvPr/>
        </p:nvGrpSpPr>
        <p:grpSpPr>
          <a:xfrm rot="0">
            <a:off x="10425760" y="4823754"/>
            <a:ext cx="624650" cy="845232"/>
            <a:chOff x="0" y="0"/>
            <a:chExt cx="832866" cy="1126976"/>
          </a:xfrm>
        </p:grpSpPr>
        <p:sp>
          <p:nvSpPr>
            <p:cNvPr name="Freeform 54" id="54"/>
            <p:cNvSpPr/>
            <p:nvPr/>
          </p:nvSpPr>
          <p:spPr>
            <a:xfrm flipH="false" flipV="false" rot="0">
              <a:off x="0" y="0"/>
              <a:ext cx="832866" cy="1126976"/>
            </a:xfrm>
            <a:custGeom>
              <a:avLst/>
              <a:gdLst/>
              <a:ahLst/>
              <a:cxnLst/>
              <a:rect r="r" b="b" t="t" l="l"/>
              <a:pathLst>
                <a:path h="1126976" w="832866">
                  <a:moveTo>
                    <a:pt x="0" y="0"/>
                  </a:moveTo>
                  <a:lnTo>
                    <a:pt x="832866" y="0"/>
                  </a:lnTo>
                  <a:lnTo>
                    <a:pt x="832866" y="1126976"/>
                  </a:lnTo>
                  <a:lnTo>
                    <a:pt x="0" y="1126976"/>
                  </a:lnTo>
                  <a:close/>
                </a:path>
              </a:pathLst>
            </a:custGeom>
            <a:blipFill>
              <a:blip r:embed="rId3">
                <a:alphaModFix amt="0"/>
              </a:blip>
              <a:stretch>
                <a:fillRect l="-116710" t="0" r="-65017" b="18862"/>
              </a:stretch>
            </a:blipFill>
          </p:spPr>
        </p:sp>
        <p:sp>
          <p:nvSpPr>
            <p:cNvPr name="TextBox 55" id="55"/>
            <p:cNvSpPr txBox="true"/>
            <p:nvPr/>
          </p:nvSpPr>
          <p:spPr>
            <a:xfrm>
              <a:off x="0" y="-85725"/>
              <a:ext cx="832866" cy="1212701"/>
            </a:xfrm>
            <a:prstGeom prst="rect">
              <a:avLst/>
            </a:prstGeom>
          </p:spPr>
          <p:txBody>
            <a:bodyPr anchor="ctr" rtlCol="false" tIns="0" lIns="0" bIns="0" rIns="0"/>
            <a:lstStyle/>
            <a:p>
              <a:pPr algn="ctr">
                <a:lnSpc>
                  <a:spcPts val="5040"/>
                </a:lnSpc>
              </a:pPr>
              <a:r>
                <a:rPr lang="en-US" sz="4200" b="true">
                  <a:solidFill>
                    <a:srgbClr val="1C7293"/>
                  </a:solidFill>
                  <a:latin typeface="Calibri (MS) Bold"/>
                  <a:ea typeface="Calibri (MS) Bold"/>
                  <a:cs typeface="Calibri (MS) Bold"/>
                  <a:sym typeface="Calibri (MS) Bold"/>
                </a:rPr>
                <a:t>→</a:t>
              </a:r>
            </a:p>
          </p:txBody>
        </p:sp>
      </p:grpSp>
      <p:grpSp>
        <p:nvGrpSpPr>
          <p:cNvPr name="Group 56" id="56"/>
          <p:cNvGrpSpPr/>
          <p:nvPr/>
        </p:nvGrpSpPr>
        <p:grpSpPr>
          <a:xfrm rot="0">
            <a:off x="10952302" y="2939415"/>
            <a:ext cx="3096920" cy="4613910"/>
            <a:chOff x="0" y="0"/>
            <a:chExt cx="4129227" cy="6151880"/>
          </a:xfrm>
        </p:grpSpPr>
        <p:sp>
          <p:nvSpPr>
            <p:cNvPr name="Freeform 57" id="57"/>
            <p:cNvSpPr/>
            <p:nvPr/>
          </p:nvSpPr>
          <p:spPr>
            <a:xfrm flipH="false" flipV="false" rot="0">
              <a:off x="0" y="0"/>
              <a:ext cx="4129151" cy="6151880"/>
            </a:xfrm>
            <a:custGeom>
              <a:avLst/>
              <a:gdLst/>
              <a:ahLst/>
              <a:cxnLst/>
              <a:rect r="r" b="b" t="t" l="l"/>
              <a:pathLst>
                <a:path h="6151880" w="4129151">
                  <a:moveTo>
                    <a:pt x="0" y="147193"/>
                  </a:moveTo>
                  <a:cubicBezTo>
                    <a:pt x="0" y="65913"/>
                    <a:pt x="65913" y="0"/>
                    <a:pt x="147193" y="0"/>
                  </a:cubicBezTo>
                  <a:lnTo>
                    <a:pt x="3981958" y="0"/>
                  </a:lnTo>
                  <a:cubicBezTo>
                    <a:pt x="4063238" y="0"/>
                    <a:pt x="4129151" y="65913"/>
                    <a:pt x="4129151" y="147193"/>
                  </a:cubicBezTo>
                  <a:lnTo>
                    <a:pt x="4129151" y="6004687"/>
                  </a:lnTo>
                  <a:cubicBezTo>
                    <a:pt x="4129151" y="6085967"/>
                    <a:pt x="4063238" y="6151880"/>
                    <a:pt x="3981958" y="6151880"/>
                  </a:cubicBezTo>
                  <a:lnTo>
                    <a:pt x="147193" y="6151880"/>
                  </a:lnTo>
                  <a:cubicBezTo>
                    <a:pt x="65913" y="6151880"/>
                    <a:pt x="0" y="6085967"/>
                    <a:pt x="0" y="6004687"/>
                  </a:cubicBezTo>
                  <a:close/>
                </a:path>
              </a:pathLst>
            </a:custGeom>
            <a:solidFill>
              <a:srgbClr val="FFFFFF"/>
            </a:solidFill>
            <a:ln w="19050" cap="sq">
              <a:solidFill>
                <a:srgbClr val="E3E9EE"/>
              </a:solidFill>
              <a:prstDash val="solid"/>
              <a:miter/>
            </a:ln>
          </p:spPr>
        </p:sp>
      </p:grpSp>
      <p:grpSp>
        <p:nvGrpSpPr>
          <p:cNvPr name="Group 58" id="58"/>
          <p:cNvGrpSpPr/>
          <p:nvPr/>
        </p:nvGrpSpPr>
        <p:grpSpPr>
          <a:xfrm rot="0">
            <a:off x="12116714" y="3291840"/>
            <a:ext cx="768096" cy="768096"/>
            <a:chOff x="0" y="0"/>
            <a:chExt cx="1024128" cy="1024128"/>
          </a:xfrm>
        </p:grpSpPr>
        <p:sp>
          <p:nvSpPr>
            <p:cNvPr name="Freeform 59" id="59"/>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B2A4A"/>
            </a:solidFill>
          </p:spPr>
        </p:sp>
      </p:grpSp>
      <p:grpSp>
        <p:nvGrpSpPr>
          <p:cNvPr name="Group 60" id="60"/>
          <p:cNvGrpSpPr/>
          <p:nvPr/>
        </p:nvGrpSpPr>
        <p:grpSpPr>
          <a:xfrm rot="0">
            <a:off x="12116714" y="3291840"/>
            <a:ext cx="768096" cy="768096"/>
            <a:chOff x="0" y="0"/>
            <a:chExt cx="1024128" cy="1024128"/>
          </a:xfrm>
        </p:grpSpPr>
        <p:sp>
          <p:nvSpPr>
            <p:cNvPr name="Freeform 61" id="61"/>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62" id="62"/>
            <p:cNvSpPr txBox="true"/>
            <p:nvPr/>
          </p:nvSpPr>
          <p:spPr>
            <a:xfrm>
              <a:off x="0" y="-9525"/>
              <a:ext cx="1024128" cy="1033653"/>
            </a:xfrm>
            <a:prstGeom prst="rect">
              <a:avLst/>
            </a:prstGeom>
          </p:spPr>
          <p:txBody>
            <a:bodyPr anchor="ctr" rtlCol="false" tIns="0" lIns="0" bIns="0" rIns="0"/>
            <a:lstStyle/>
            <a:p>
              <a:pPr algn="ctr">
                <a:lnSpc>
                  <a:spcPts val="5040"/>
                </a:lnSpc>
              </a:pPr>
              <a:r>
                <a:rPr lang="en-US" sz="4200" b="true">
                  <a:solidFill>
                    <a:srgbClr val="FFFFFF"/>
                  </a:solidFill>
                  <a:latin typeface="Cambria Bold"/>
                  <a:ea typeface="Cambria Bold"/>
                  <a:cs typeface="Cambria Bold"/>
                  <a:sym typeface="Cambria Bold"/>
                </a:rPr>
                <a:t>4</a:t>
              </a:r>
            </a:p>
          </p:txBody>
        </p:sp>
      </p:grpSp>
      <p:grpSp>
        <p:nvGrpSpPr>
          <p:cNvPr name="Group 63" id="63"/>
          <p:cNvGrpSpPr/>
          <p:nvPr/>
        </p:nvGrpSpPr>
        <p:grpSpPr>
          <a:xfrm rot="0">
            <a:off x="11167567" y="4251960"/>
            <a:ext cx="2666390" cy="754380"/>
            <a:chOff x="0" y="0"/>
            <a:chExt cx="3555187" cy="1005840"/>
          </a:xfrm>
        </p:grpSpPr>
        <p:sp>
          <p:nvSpPr>
            <p:cNvPr name="Freeform 64" id="64"/>
            <p:cNvSpPr/>
            <p:nvPr/>
          </p:nvSpPr>
          <p:spPr>
            <a:xfrm flipH="false" flipV="false" rot="0">
              <a:off x="0" y="0"/>
              <a:ext cx="3555188" cy="1005840"/>
            </a:xfrm>
            <a:custGeom>
              <a:avLst/>
              <a:gdLst/>
              <a:ahLst/>
              <a:cxnLst/>
              <a:rect r="r" b="b" t="t" l="l"/>
              <a:pathLst>
                <a:path h="1005840" w="3555188">
                  <a:moveTo>
                    <a:pt x="0" y="0"/>
                  </a:moveTo>
                  <a:lnTo>
                    <a:pt x="3555188" y="0"/>
                  </a:lnTo>
                  <a:lnTo>
                    <a:pt x="3555188" y="1005840"/>
                  </a:lnTo>
                  <a:lnTo>
                    <a:pt x="0" y="1005840"/>
                  </a:lnTo>
                  <a:close/>
                </a:path>
              </a:pathLst>
            </a:custGeom>
            <a:blipFill>
              <a:blip r:embed="rId3">
                <a:alphaModFix amt="0"/>
              </a:blip>
              <a:stretch>
                <a:fillRect l="0" t="-18870" r="0" b="-18870"/>
              </a:stretch>
            </a:blipFill>
          </p:spPr>
        </p:sp>
        <p:sp>
          <p:nvSpPr>
            <p:cNvPr name="TextBox 65" id="65"/>
            <p:cNvSpPr txBox="true"/>
            <p:nvPr/>
          </p:nvSpPr>
          <p:spPr>
            <a:xfrm>
              <a:off x="0" y="-19050"/>
              <a:ext cx="3555187" cy="1024890"/>
            </a:xfrm>
            <a:prstGeom prst="rect">
              <a:avLst/>
            </a:prstGeom>
          </p:spPr>
          <p:txBody>
            <a:bodyPr anchor="ctr" rtlCol="false" tIns="0" lIns="0" bIns="0" rIns="0"/>
            <a:lstStyle/>
            <a:p>
              <a:pPr algn="ctr">
                <a:lnSpc>
                  <a:spcPts val="3240"/>
                </a:lnSpc>
              </a:pPr>
              <a:r>
                <a:rPr lang="en-US" sz="2700" b="true">
                  <a:solidFill>
                    <a:srgbClr val="0B2A4A"/>
                  </a:solidFill>
                  <a:latin typeface="Cambria Bold"/>
                  <a:ea typeface="Cambria Bold"/>
                  <a:cs typeface="Cambria Bold"/>
                  <a:sym typeface="Cambria Bold"/>
                </a:rPr>
                <a:t>Mutate</a:t>
              </a:r>
            </a:p>
          </p:txBody>
        </p:sp>
      </p:grpSp>
      <p:grpSp>
        <p:nvGrpSpPr>
          <p:cNvPr name="Group 66" id="66"/>
          <p:cNvGrpSpPr/>
          <p:nvPr/>
        </p:nvGrpSpPr>
        <p:grpSpPr>
          <a:xfrm rot="0">
            <a:off x="11167567" y="5006340"/>
            <a:ext cx="2666390" cy="2331720"/>
            <a:chOff x="0" y="0"/>
            <a:chExt cx="3555187" cy="3108960"/>
          </a:xfrm>
        </p:grpSpPr>
        <p:sp>
          <p:nvSpPr>
            <p:cNvPr name="Freeform 67" id="67"/>
            <p:cNvSpPr/>
            <p:nvPr/>
          </p:nvSpPr>
          <p:spPr>
            <a:xfrm flipH="false" flipV="false" rot="0">
              <a:off x="0" y="0"/>
              <a:ext cx="3555188" cy="3108960"/>
            </a:xfrm>
            <a:custGeom>
              <a:avLst/>
              <a:gdLst/>
              <a:ahLst/>
              <a:cxnLst/>
              <a:rect r="r" b="b" t="t" l="l"/>
              <a:pathLst>
                <a:path h="3108960" w="3555188">
                  <a:moveTo>
                    <a:pt x="0" y="0"/>
                  </a:moveTo>
                  <a:lnTo>
                    <a:pt x="3555188" y="0"/>
                  </a:lnTo>
                  <a:lnTo>
                    <a:pt x="3555188" y="3108960"/>
                  </a:lnTo>
                  <a:lnTo>
                    <a:pt x="0" y="3108960"/>
                  </a:lnTo>
                  <a:close/>
                </a:path>
              </a:pathLst>
            </a:custGeom>
            <a:blipFill>
              <a:blip r:embed="rId3">
                <a:alphaModFix amt="0"/>
              </a:blip>
              <a:stretch>
                <a:fillRect l="-62199" t="0" r="-62199" b="0"/>
              </a:stretch>
            </a:blipFill>
          </p:spPr>
        </p:sp>
        <p:sp>
          <p:nvSpPr>
            <p:cNvPr name="TextBox 68" id="68"/>
            <p:cNvSpPr txBox="true"/>
            <p:nvPr/>
          </p:nvSpPr>
          <p:spPr>
            <a:xfrm>
              <a:off x="0" y="-76200"/>
              <a:ext cx="3555187" cy="3185160"/>
            </a:xfrm>
            <a:prstGeom prst="rect">
              <a:avLst/>
            </a:prstGeom>
          </p:spPr>
          <p:txBody>
            <a:bodyPr anchor="ctr" rtlCol="false" tIns="0" lIns="0" bIns="0" rIns="0"/>
            <a:lstStyle/>
            <a:p>
              <a:pPr algn="ctr">
                <a:lnSpc>
                  <a:spcPts val="2897"/>
                </a:lnSpc>
              </a:pPr>
              <a:r>
                <a:rPr lang="en-US" sz="2100">
                  <a:solidFill>
                    <a:srgbClr val="5B6472"/>
                  </a:solidFill>
                  <a:latin typeface="Calibri (MS)"/>
                  <a:ea typeface="Calibri (MS)"/>
                  <a:cs typeface="Calibri (MS)"/>
                  <a:sym typeface="Calibri (MS)"/>
                </a:rPr>
                <a:t>One randomly chosen gene gets a Gaussian nudge (σ = 0.5) with probability 0.05, then is clipped to [-5,5].</a:t>
              </a:r>
            </a:p>
          </p:txBody>
        </p:sp>
      </p:grpSp>
      <p:grpSp>
        <p:nvGrpSpPr>
          <p:cNvPr name="Group 69" id="69"/>
          <p:cNvGrpSpPr/>
          <p:nvPr/>
        </p:nvGrpSpPr>
        <p:grpSpPr>
          <a:xfrm rot="0">
            <a:off x="13722404" y="4706025"/>
            <a:ext cx="824785" cy="845232"/>
            <a:chOff x="0" y="0"/>
            <a:chExt cx="1099714" cy="1126976"/>
          </a:xfrm>
        </p:grpSpPr>
        <p:sp>
          <p:nvSpPr>
            <p:cNvPr name="Freeform 70" id="70"/>
            <p:cNvSpPr/>
            <p:nvPr/>
          </p:nvSpPr>
          <p:spPr>
            <a:xfrm flipH="false" flipV="false" rot="0">
              <a:off x="0" y="0"/>
              <a:ext cx="1099714" cy="1126976"/>
            </a:xfrm>
            <a:custGeom>
              <a:avLst/>
              <a:gdLst/>
              <a:ahLst/>
              <a:cxnLst/>
              <a:rect r="r" b="b" t="t" l="l"/>
              <a:pathLst>
                <a:path h="1126976" w="1099714">
                  <a:moveTo>
                    <a:pt x="0" y="0"/>
                  </a:moveTo>
                  <a:lnTo>
                    <a:pt x="1099714" y="0"/>
                  </a:lnTo>
                  <a:lnTo>
                    <a:pt x="1099714" y="1126976"/>
                  </a:lnTo>
                  <a:lnTo>
                    <a:pt x="0" y="1126976"/>
                  </a:lnTo>
                  <a:close/>
                </a:path>
              </a:pathLst>
            </a:custGeom>
            <a:blipFill>
              <a:blip r:embed="rId3">
                <a:alphaModFix amt="0"/>
              </a:blip>
              <a:stretch>
                <a:fillRect l="-88390" t="0" r="-24975" b="18862"/>
              </a:stretch>
            </a:blipFill>
          </p:spPr>
        </p:sp>
        <p:sp>
          <p:nvSpPr>
            <p:cNvPr name="TextBox 71" id="71"/>
            <p:cNvSpPr txBox="true"/>
            <p:nvPr/>
          </p:nvSpPr>
          <p:spPr>
            <a:xfrm>
              <a:off x="0" y="-85725"/>
              <a:ext cx="1099714" cy="1212701"/>
            </a:xfrm>
            <a:prstGeom prst="rect">
              <a:avLst/>
            </a:prstGeom>
          </p:spPr>
          <p:txBody>
            <a:bodyPr anchor="ctr" rtlCol="false" tIns="0" lIns="0" bIns="0" rIns="0"/>
            <a:lstStyle/>
            <a:p>
              <a:pPr algn="ctr">
                <a:lnSpc>
                  <a:spcPts val="5040"/>
                </a:lnSpc>
              </a:pPr>
              <a:r>
                <a:rPr lang="en-US" sz="4200" b="true">
                  <a:solidFill>
                    <a:srgbClr val="1C7293"/>
                  </a:solidFill>
                  <a:latin typeface="Calibri (MS) Bold"/>
                  <a:ea typeface="Calibri (MS) Bold"/>
                  <a:cs typeface="Calibri (MS) Bold"/>
                  <a:sym typeface="Calibri (MS) Bold"/>
                </a:rPr>
                <a:t>→</a:t>
              </a:r>
            </a:p>
          </p:txBody>
        </p:sp>
      </p:grpSp>
      <p:grpSp>
        <p:nvGrpSpPr>
          <p:cNvPr name="Group 72" id="72"/>
          <p:cNvGrpSpPr/>
          <p:nvPr/>
        </p:nvGrpSpPr>
        <p:grpSpPr>
          <a:xfrm rot="0">
            <a:off x="14331925" y="2939415"/>
            <a:ext cx="3096920" cy="4613910"/>
            <a:chOff x="0" y="0"/>
            <a:chExt cx="4129227" cy="6151880"/>
          </a:xfrm>
        </p:grpSpPr>
        <p:sp>
          <p:nvSpPr>
            <p:cNvPr name="Freeform 73" id="73"/>
            <p:cNvSpPr/>
            <p:nvPr/>
          </p:nvSpPr>
          <p:spPr>
            <a:xfrm flipH="false" flipV="false" rot="0">
              <a:off x="0" y="0"/>
              <a:ext cx="4129151" cy="6151880"/>
            </a:xfrm>
            <a:custGeom>
              <a:avLst/>
              <a:gdLst/>
              <a:ahLst/>
              <a:cxnLst/>
              <a:rect r="r" b="b" t="t" l="l"/>
              <a:pathLst>
                <a:path h="6151880" w="4129151">
                  <a:moveTo>
                    <a:pt x="0" y="147193"/>
                  </a:moveTo>
                  <a:cubicBezTo>
                    <a:pt x="0" y="65913"/>
                    <a:pt x="65913" y="0"/>
                    <a:pt x="147193" y="0"/>
                  </a:cubicBezTo>
                  <a:lnTo>
                    <a:pt x="3981958" y="0"/>
                  </a:lnTo>
                  <a:cubicBezTo>
                    <a:pt x="4063238" y="0"/>
                    <a:pt x="4129151" y="65913"/>
                    <a:pt x="4129151" y="147193"/>
                  </a:cubicBezTo>
                  <a:lnTo>
                    <a:pt x="4129151" y="6004687"/>
                  </a:lnTo>
                  <a:cubicBezTo>
                    <a:pt x="4129151" y="6085967"/>
                    <a:pt x="4063238" y="6151880"/>
                    <a:pt x="3981958" y="6151880"/>
                  </a:cubicBezTo>
                  <a:lnTo>
                    <a:pt x="147193" y="6151880"/>
                  </a:lnTo>
                  <a:cubicBezTo>
                    <a:pt x="65913" y="6151880"/>
                    <a:pt x="0" y="6085967"/>
                    <a:pt x="0" y="6004687"/>
                  </a:cubicBezTo>
                  <a:close/>
                </a:path>
              </a:pathLst>
            </a:custGeom>
            <a:solidFill>
              <a:srgbClr val="FFFFFF"/>
            </a:solidFill>
            <a:ln w="19050" cap="sq">
              <a:solidFill>
                <a:srgbClr val="E3E9EE"/>
              </a:solidFill>
              <a:prstDash val="solid"/>
              <a:miter/>
            </a:ln>
          </p:spPr>
        </p:sp>
      </p:grpSp>
      <p:grpSp>
        <p:nvGrpSpPr>
          <p:cNvPr name="Group 74" id="74"/>
          <p:cNvGrpSpPr/>
          <p:nvPr/>
        </p:nvGrpSpPr>
        <p:grpSpPr>
          <a:xfrm rot="0">
            <a:off x="15496337" y="3291840"/>
            <a:ext cx="768096" cy="768096"/>
            <a:chOff x="0" y="0"/>
            <a:chExt cx="1024128" cy="1024128"/>
          </a:xfrm>
        </p:grpSpPr>
        <p:sp>
          <p:nvSpPr>
            <p:cNvPr name="Freeform 75" id="75"/>
            <p:cNvSpPr/>
            <p:nvPr/>
          </p:nvSpPr>
          <p:spPr>
            <a:xfrm flipH="false" flipV="false" rot="0">
              <a:off x="0" y="0"/>
              <a:ext cx="1024128" cy="1024128"/>
            </a:xfrm>
            <a:custGeom>
              <a:avLst/>
              <a:gdLst/>
              <a:ahLst/>
              <a:cxnLst/>
              <a:rect r="r" b="b" t="t" l="l"/>
              <a:pathLst>
                <a:path h="1024128" w="1024128">
                  <a:moveTo>
                    <a:pt x="0" y="512064"/>
                  </a:moveTo>
                  <a:cubicBezTo>
                    <a:pt x="0" y="229235"/>
                    <a:pt x="229235" y="0"/>
                    <a:pt x="512064" y="0"/>
                  </a:cubicBezTo>
                  <a:cubicBezTo>
                    <a:pt x="794893" y="0"/>
                    <a:pt x="1024128" y="229235"/>
                    <a:pt x="1024128" y="512064"/>
                  </a:cubicBezTo>
                  <a:cubicBezTo>
                    <a:pt x="1024128" y="794893"/>
                    <a:pt x="794893" y="1024128"/>
                    <a:pt x="512064" y="1024128"/>
                  </a:cubicBezTo>
                  <a:cubicBezTo>
                    <a:pt x="229235" y="1024128"/>
                    <a:pt x="0" y="794893"/>
                    <a:pt x="0" y="512064"/>
                  </a:cubicBezTo>
                  <a:close/>
                </a:path>
              </a:pathLst>
            </a:custGeom>
            <a:solidFill>
              <a:srgbClr val="0B2A4A"/>
            </a:solidFill>
          </p:spPr>
        </p:sp>
      </p:grpSp>
      <p:grpSp>
        <p:nvGrpSpPr>
          <p:cNvPr name="Group 76" id="76"/>
          <p:cNvGrpSpPr/>
          <p:nvPr/>
        </p:nvGrpSpPr>
        <p:grpSpPr>
          <a:xfrm rot="0">
            <a:off x="15496337" y="3291840"/>
            <a:ext cx="768096" cy="768096"/>
            <a:chOff x="0" y="0"/>
            <a:chExt cx="1024128" cy="1024128"/>
          </a:xfrm>
        </p:grpSpPr>
        <p:sp>
          <p:nvSpPr>
            <p:cNvPr name="Freeform 77" id="77"/>
            <p:cNvSpPr/>
            <p:nvPr/>
          </p:nvSpPr>
          <p:spPr>
            <a:xfrm flipH="false" flipV="false" rot="0">
              <a:off x="0" y="0"/>
              <a:ext cx="1024128" cy="1024128"/>
            </a:xfrm>
            <a:custGeom>
              <a:avLst/>
              <a:gdLst/>
              <a:ahLst/>
              <a:cxnLst/>
              <a:rect r="r" b="b" t="t" l="l"/>
              <a:pathLst>
                <a:path h="1024128" w="1024128">
                  <a:moveTo>
                    <a:pt x="0" y="0"/>
                  </a:moveTo>
                  <a:lnTo>
                    <a:pt x="1024128" y="0"/>
                  </a:lnTo>
                  <a:lnTo>
                    <a:pt x="1024128" y="1024128"/>
                  </a:lnTo>
                  <a:lnTo>
                    <a:pt x="0" y="1024128"/>
                  </a:lnTo>
                  <a:close/>
                </a:path>
              </a:pathLst>
            </a:custGeom>
            <a:blipFill>
              <a:blip r:embed="rId3">
                <a:alphaModFix amt="0"/>
              </a:blip>
              <a:stretch>
                <a:fillRect l="-78303" t="0" r="-78303" b="0"/>
              </a:stretch>
            </a:blipFill>
          </p:spPr>
        </p:sp>
        <p:sp>
          <p:nvSpPr>
            <p:cNvPr name="TextBox 78" id="78"/>
            <p:cNvSpPr txBox="true"/>
            <p:nvPr/>
          </p:nvSpPr>
          <p:spPr>
            <a:xfrm>
              <a:off x="0" y="-9525"/>
              <a:ext cx="1024128" cy="1033653"/>
            </a:xfrm>
            <a:prstGeom prst="rect">
              <a:avLst/>
            </a:prstGeom>
          </p:spPr>
          <p:txBody>
            <a:bodyPr anchor="ctr" rtlCol="false" tIns="0" lIns="0" bIns="0" rIns="0"/>
            <a:lstStyle/>
            <a:p>
              <a:pPr algn="ctr">
                <a:lnSpc>
                  <a:spcPts val="5040"/>
                </a:lnSpc>
              </a:pPr>
              <a:r>
                <a:rPr lang="en-US" sz="4200" b="true">
                  <a:solidFill>
                    <a:srgbClr val="FFFFFF"/>
                  </a:solidFill>
                  <a:latin typeface="Cambria Bold"/>
                  <a:ea typeface="Cambria Bold"/>
                  <a:cs typeface="Cambria Bold"/>
                  <a:sym typeface="Cambria Bold"/>
                </a:rPr>
                <a:t>5</a:t>
              </a:r>
            </a:p>
          </p:txBody>
        </p:sp>
      </p:grpSp>
      <p:grpSp>
        <p:nvGrpSpPr>
          <p:cNvPr name="Group 79" id="79"/>
          <p:cNvGrpSpPr/>
          <p:nvPr/>
        </p:nvGrpSpPr>
        <p:grpSpPr>
          <a:xfrm rot="0">
            <a:off x="14547190" y="4251960"/>
            <a:ext cx="2666390" cy="754380"/>
            <a:chOff x="0" y="0"/>
            <a:chExt cx="3555187" cy="1005840"/>
          </a:xfrm>
        </p:grpSpPr>
        <p:sp>
          <p:nvSpPr>
            <p:cNvPr name="Freeform 80" id="80"/>
            <p:cNvSpPr/>
            <p:nvPr/>
          </p:nvSpPr>
          <p:spPr>
            <a:xfrm flipH="false" flipV="false" rot="0">
              <a:off x="0" y="0"/>
              <a:ext cx="3555188" cy="1005840"/>
            </a:xfrm>
            <a:custGeom>
              <a:avLst/>
              <a:gdLst/>
              <a:ahLst/>
              <a:cxnLst/>
              <a:rect r="r" b="b" t="t" l="l"/>
              <a:pathLst>
                <a:path h="1005840" w="3555188">
                  <a:moveTo>
                    <a:pt x="0" y="0"/>
                  </a:moveTo>
                  <a:lnTo>
                    <a:pt x="3555188" y="0"/>
                  </a:lnTo>
                  <a:lnTo>
                    <a:pt x="3555188" y="1005840"/>
                  </a:lnTo>
                  <a:lnTo>
                    <a:pt x="0" y="1005840"/>
                  </a:lnTo>
                  <a:close/>
                </a:path>
              </a:pathLst>
            </a:custGeom>
            <a:blipFill>
              <a:blip r:embed="rId3">
                <a:alphaModFix amt="0"/>
              </a:blip>
              <a:stretch>
                <a:fillRect l="0" t="-18870" r="0" b="-18870"/>
              </a:stretch>
            </a:blipFill>
          </p:spPr>
        </p:sp>
        <p:sp>
          <p:nvSpPr>
            <p:cNvPr name="TextBox 81" id="81"/>
            <p:cNvSpPr txBox="true"/>
            <p:nvPr/>
          </p:nvSpPr>
          <p:spPr>
            <a:xfrm>
              <a:off x="0" y="-19050"/>
              <a:ext cx="3555187" cy="1024890"/>
            </a:xfrm>
            <a:prstGeom prst="rect">
              <a:avLst/>
            </a:prstGeom>
          </p:spPr>
          <p:txBody>
            <a:bodyPr anchor="ctr" rtlCol="false" tIns="0" lIns="0" bIns="0" rIns="0"/>
            <a:lstStyle/>
            <a:p>
              <a:pPr algn="ctr">
                <a:lnSpc>
                  <a:spcPts val="3240"/>
                </a:lnSpc>
              </a:pPr>
              <a:r>
                <a:rPr lang="en-US" sz="2700" b="true">
                  <a:solidFill>
                    <a:srgbClr val="0B2A4A"/>
                  </a:solidFill>
                  <a:latin typeface="Cambria Bold"/>
                  <a:ea typeface="Cambria Bold"/>
                  <a:cs typeface="Cambria Bold"/>
                  <a:sym typeface="Cambria Bold"/>
                </a:rPr>
                <a:t>Re-assemble</a:t>
              </a:r>
            </a:p>
          </p:txBody>
        </p:sp>
      </p:grpSp>
      <p:grpSp>
        <p:nvGrpSpPr>
          <p:cNvPr name="Group 82" id="82"/>
          <p:cNvGrpSpPr/>
          <p:nvPr/>
        </p:nvGrpSpPr>
        <p:grpSpPr>
          <a:xfrm rot="0">
            <a:off x="14547190" y="5006340"/>
            <a:ext cx="2666390" cy="2331720"/>
            <a:chOff x="0" y="0"/>
            <a:chExt cx="3555187" cy="3108960"/>
          </a:xfrm>
        </p:grpSpPr>
        <p:sp>
          <p:nvSpPr>
            <p:cNvPr name="Freeform 83" id="83"/>
            <p:cNvSpPr/>
            <p:nvPr/>
          </p:nvSpPr>
          <p:spPr>
            <a:xfrm flipH="false" flipV="false" rot="0">
              <a:off x="0" y="0"/>
              <a:ext cx="3555188" cy="3108960"/>
            </a:xfrm>
            <a:custGeom>
              <a:avLst/>
              <a:gdLst/>
              <a:ahLst/>
              <a:cxnLst/>
              <a:rect r="r" b="b" t="t" l="l"/>
              <a:pathLst>
                <a:path h="3108960" w="3555188">
                  <a:moveTo>
                    <a:pt x="0" y="0"/>
                  </a:moveTo>
                  <a:lnTo>
                    <a:pt x="3555188" y="0"/>
                  </a:lnTo>
                  <a:lnTo>
                    <a:pt x="3555188" y="3108960"/>
                  </a:lnTo>
                  <a:lnTo>
                    <a:pt x="0" y="3108960"/>
                  </a:lnTo>
                  <a:close/>
                </a:path>
              </a:pathLst>
            </a:custGeom>
            <a:blipFill>
              <a:blip r:embed="rId3">
                <a:alphaModFix amt="0"/>
              </a:blip>
              <a:stretch>
                <a:fillRect l="-62199" t="0" r="-62199" b="0"/>
              </a:stretch>
            </a:blipFill>
          </p:spPr>
        </p:sp>
        <p:sp>
          <p:nvSpPr>
            <p:cNvPr name="TextBox 84" id="84"/>
            <p:cNvSpPr txBox="true"/>
            <p:nvPr/>
          </p:nvSpPr>
          <p:spPr>
            <a:xfrm>
              <a:off x="0" y="-76200"/>
              <a:ext cx="3555187" cy="3185160"/>
            </a:xfrm>
            <a:prstGeom prst="rect">
              <a:avLst/>
            </a:prstGeom>
          </p:spPr>
          <p:txBody>
            <a:bodyPr anchor="ctr" rtlCol="false" tIns="0" lIns="0" bIns="0" rIns="0"/>
            <a:lstStyle/>
            <a:p>
              <a:pPr algn="ctr">
                <a:lnSpc>
                  <a:spcPts val="2897"/>
                </a:lnSpc>
              </a:pPr>
              <a:r>
                <a:rPr lang="en-US" sz="2100">
                  <a:solidFill>
                    <a:srgbClr val="5B6472"/>
                  </a:solidFill>
                  <a:latin typeface="Calibri (MS)"/>
                  <a:ea typeface="Calibri (MS)"/>
                  <a:cs typeface="Calibri (MS)"/>
                  <a:sym typeface="Calibri (MS)"/>
                </a:rPr>
                <a:t>Elite + offspring form the next 50-member population; re-evaluate fitness and check for convergence.</a:t>
              </a:r>
            </a:p>
          </p:txBody>
        </p:sp>
      </p:grpSp>
      <p:grpSp>
        <p:nvGrpSpPr>
          <p:cNvPr name="Group 85" id="85"/>
          <p:cNvGrpSpPr/>
          <p:nvPr/>
        </p:nvGrpSpPr>
        <p:grpSpPr>
          <a:xfrm rot="0">
            <a:off x="822960" y="8309610"/>
            <a:ext cx="16596360" cy="548640"/>
            <a:chOff x="0" y="0"/>
            <a:chExt cx="22128480" cy="731520"/>
          </a:xfrm>
        </p:grpSpPr>
        <p:sp>
          <p:nvSpPr>
            <p:cNvPr name="Freeform 86" id="86"/>
            <p:cNvSpPr/>
            <p:nvPr/>
          </p:nvSpPr>
          <p:spPr>
            <a:xfrm flipH="false" flipV="false" rot="0">
              <a:off x="0" y="0"/>
              <a:ext cx="22128480" cy="731520"/>
            </a:xfrm>
            <a:custGeom>
              <a:avLst/>
              <a:gdLst/>
              <a:ahLst/>
              <a:cxnLst/>
              <a:rect r="r" b="b" t="t" l="l"/>
              <a:pathLst>
                <a:path h="731520" w="22128480">
                  <a:moveTo>
                    <a:pt x="0" y="0"/>
                  </a:moveTo>
                  <a:lnTo>
                    <a:pt x="22128480" y="0"/>
                  </a:lnTo>
                  <a:lnTo>
                    <a:pt x="22128480" y="731520"/>
                  </a:lnTo>
                  <a:lnTo>
                    <a:pt x="0" y="731520"/>
                  </a:lnTo>
                  <a:close/>
                </a:path>
              </a:pathLst>
            </a:custGeom>
            <a:blipFill>
              <a:blip r:embed="rId3">
                <a:alphaModFix amt="0"/>
              </a:blip>
              <a:stretch>
                <a:fillRect l="0" t="-539422" r="0" b="-539422"/>
              </a:stretch>
            </a:blipFill>
          </p:spPr>
        </p:sp>
        <p:sp>
          <p:nvSpPr>
            <p:cNvPr name="TextBox 87" id="87"/>
            <p:cNvSpPr txBox="true"/>
            <p:nvPr/>
          </p:nvSpPr>
          <p:spPr>
            <a:xfrm>
              <a:off x="0" y="-66675"/>
              <a:ext cx="22128480" cy="798195"/>
            </a:xfrm>
            <a:prstGeom prst="rect">
              <a:avLst/>
            </a:prstGeom>
          </p:spPr>
          <p:txBody>
            <a:bodyPr anchor="ctr" rtlCol="false" tIns="0" lIns="0" bIns="0" rIns="0"/>
            <a:lstStyle/>
            <a:p>
              <a:pPr algn="ctr">
                <a:lnSpc>
                  <a:spcPts val="4320"/>
                </a:lnSpc>
              </a:pPr>
              <a:r>
                <a:rPr lang="en-US" sz="3600" i="true">
                  <a:solidFill>
                    <a:srgbClr val="5B6472"/>
                  </a:solidFill>
                  <a:latin typeface="Calibri (MS) Italics"/>
                  <a:ea typeface="Calibri (MS) Italics"/>
                  <a:cs typeface="Calibri (MS) Italics"/>
                  <a:sym typeface="Calibri (MS) Italics"/>
                </a:rPr>
                <a:t>Loop repeats for up to 100 generations, or stops early once best fitness ≤ 1e-6.</a:t>
              </a:r>
            </a:p>
          </p:txBody>
        </p:sp>
      </p:grpSp>
      <p:grpSp>
        <p:nvGrpSpPr>
          <p:cNvPr name="Group 88" id="88"/>
          <p:cNvGrpSpPr/>
          <p:nvPr/>
        </p:nvGrpSpPr>
        <p:grpSpPr>
          <a:xfrm rot="0">
            <a:off x="16774668" y="9669780"/>
            <a:ext cx="1097280" cy="411480"/>
            <a:chOff x="0" y="0"/>
            <a:chExt cx="1463040" cy="548640"/>
          </a:xfrm>
        </p:grpSpPr>
        <p:sp>
          <p:nvSpPr>
            <p:cNvPr name="Freeform 89" id="89"/>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90" id="90"/>
            <p:cNvSpPr txBox="true"/>
            <p:nvPr/>
          </p:nvSpPr>
          <p:spPr>
            <a:xfrm>
              <a:off x="0" y="-38100"/>
              <a:ext cx="1463040" cy="586740"/>
            </a:xfrm>
            <a:prstGeom prst="rect">
              <a:avLst/>
            </a:prstGeom>
          </p:spPr>
          <p:txBody>
            <a:bodyPr anchor="ctr" rtlCol="false" tIns="0" lIns="0" bIns="0" rIns="0"/>
            <a:lstStyle/>
            <a:p>
              <a:pPr algn="r">
                <a:lnSpc>
                  <a:spcPts val="1800"/>
                </a:lnSpc>
              </a:pPr>
              <a:r>
                <a:rPr lang="en-US" sz="1500">
                  <a:solidFill>
                    <a:srgbClr val="5B6472"/>
                  </a:solidFill>
                  <a:latin typeface="Calibri (MS)"/>
                  <a:ea typeface="Calibri (MS)"/>
                  <a:cs typeface="Calibri (MS)"/>
                  <a:sym typeface="Calibri (MS)"/>
                </a:rPr>
                <a:t>6 / 13</a:t>
              </a:r>
            </a:p>
          </p:txBody>
        </p:sp>
      </p:grpSp>
      <p:grpSp>
        <p:nvGrpSpPr>
          <p:cNvPr name="Group 91" id="91"/>
          <p:cNvGrpSpPr/>
          <p:nvPr/>
        </p:nvGrpSpPr>
        <p:grpSpPr>
          <a:xfrm rot="0">
            <a:off x="685800" y="9669780"/>
            <a:ext cx="5486400" cy="411480"/>
            <a:chOff x="0" y="0"/>
            <a:chExt cx="7315200" cy="548640"/>
          </a:xfrm>
        </p:grpSpPr>
        <p:sp>
          <p:nvSpPr>
            <p:cNvPr name="Freeform 92" id="92"/>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93" id="93"/>
            <p:cNvSpPr txBox="true"/>
            <p:nvPr/>
          </p:nvSpPr>
          <p:spPr>
            <a:xfrm>
              <a:off x="0" y="-38100"/>
              <a:ext cx="7315200" cy="586740"/>
            </a:xfrm>
            <a:prstGeom prst="rect">
              <a:avLst/>
            </a:prstGeom>
          </p:spPr>
          <p:txBody>
            <a:bodyPr anchor="ctr" rtlCol="false" tIns="0" lIns="0" bIns="0" rIns="0"/>
            <a:lstStyle/>
            <a:p>
              <a:pPr algn="l">
                <a:lnSpc>
                  <a:spcPts val="1800"/>
                </a:lnSpc>
              </a:pPr>
              <a:r>
                <a:rPr lang="en-US" sz="1500">
                  <a:solidFill>
                    <a:srgbClr val="5B6472"/>
                  </a:solidFill>
                  <a:latin typeface="Calibri (MS)"/>
                  <a:ea typeface="Calibri (MS)"/>
                  <a:cs typeface="Calibri (MS)"/>
                  <a:sym typeface="Calibri (MS)"/>
                </a:rPr>
                <a:t>GA · 2D Ackley Function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47625"/>
              <a:ext cx="14630400" cy="687705"/>
            </a:xfrm>
            <a:prstGeom prst="rect">
              <a:avLst/>
            </a:prstGeom>
          </p:spPr>
          <p:txBody>
            <a:bodyPr anchor="ctr" rtlCol="false" tIns="0" lIns="0" bIns="0" rIns="0"/>
            <a:lstStyle/>
            <a:p>
              <a:pPr algn="l">
                <a:lnSpc>
                  <a:spcPts val="2340"/>
                </a:lnSpc>
              </a:pPr>
              <a:r>
                <a:rPr lang="en-US" b="true" sz="1950" spc="299">
                  <a:solidFill>
                    <a:srgbClr val="1C7293"/>
                  </a:solidFill>
                  <a:latin typeface="Calibri (MS) Bold"/>
                  <a:ea typeface="Calibri (MS) Bold"/>
                  <a:cs typeface="Calibri (MS) Bold"/>
                  <a:sym typeface="Calibri (MS) Bold"/>
                </a:rPr>
                <a:t>METHODOLOGY — DEEP DIVE I</a:t>
              </a:r>
            </a:p>
          </p:txBody>
        </p:sp>
      </p:grpSp>
      <p:grpSp>
        <p:nvGrpSpPr>
          <p:cNvPr name="Group 5" id="5"/>
          <p:cNvGrpSpPr/>
          <p:nvPr/>
        </p:nvGrpSpPr>
        <p:grpSpPr>
          <a:xfrm rot="0">
            <a:off x="822960" y="987552"/>
            <a:ext cx="15910560" cy="960120"/>
            <a:chOff x="0" y="0"/>
            <a:chExt cx="21214080" cy="1280160"/>
          </a:xfrm>
        </p:grpSpPr>
        <p:sp>
          <p:nvSpPr>
            <p:cNvPr name="Freeform 6" id="6"/>
            <p:cNvSpPr/>
            <p:nvPr/>
          </p:nvSpPr>
          <p:spPr>
            <a:xfrm flipH="false" flipV="false" rot="0">
              <a:off x="0" y="0"/>
              <a:ext cx="21214080" cy="1280160"/>
            </a:xfrm>
            <a:custGeom>
              <a:avLst/>
              <a:gdLst/>
              <a:ahLst/>
              <a:cxnLst/>
              <a:rect r="r" b="b" t="t" l="l"/>
              <a:pathLst>
                <a:path h="1280160" w="21214080">
                  <a:moveTo>
                    <a:pt x="0" y="0"/>
                  </a:moveTo>
                  <a:lnTo>
                    <a:pt x="21214080" y="0"/>
                  </a:lnTo>
                  <a:lnTo>
                    <a:pt x="21214080" y="1280160"/>
                  </a:lnTo>
                  <a:lnTo>
                    <a:pt x="0" y="1280160"/>
                  </a:lnTo>
                  <a:close/>
                </a:path>
              </a:pathLst>
            </a:custGeom>
            <a:blipFill>
              <a:blip r:embed="rId3">
                <a:alphaModFix amt="0"/>
              </a:blip>
              <a:stretch>
                <a:fillRect l="0" t="-272894" r="0" b="-272894"/>
              </a:stretch>
            </a:blipFill>
          </p:spPr>
        </p:sp>
        <p:sp>
          <p:nvSpPr>
            <p:cNvPr name="TextBox 7" id="7"/>
            <p:cNvSpPr txBox="true"/>
            <p:nvPr/>
          </p:nvSpPr>
          <p:spPr>
            <a:xfrm>
              <a:off x="0" y="-19050"/>
              <a:ext cx="21214080" cy="1299210"/>
            </a:xfrm>
            <a:prstGeom prst="rect">
              <a:avLst/>
            </a:prstGeom>
          </p:spPr>
          <p:txBody>
            <a:bodyPr anchor="ctr" rtlCol="false" tIns="0" lIns="0" bIns="0" rIns="0"/>
            <a:lstStyle/>
            <a:p>
              <a:pPr algn="l">
                <a:lnSpc>
                  <a:spcPts val="5400"/>
                </a:lnSpc>
              </a:pPr>
              <a:r>
                <a:rPr lang="en-US" sz="4500" b="true">
                  <a:solidFill>
                    <a:srgbClr val="1B1F27"/>
                  </a:solidFill>
                  <a:latin typeface="Cambria Bold"/>
                  <a:ea typeface="Cambria Bold"/>
                  <a:cs typeface="Cambria Bold"/>
                  <a:sym typeface="Cambria Bold"/>
                </a:rPr>
                <a:t>What actually happens inside each operator</a:t>
              </a:r>
            </a:p>
          </p:txBody>
        </p:sp>
      </p:grpSp>
      <p:grpSp>
        <p:nvGrpSpPr>
          <p:cNvPr name="Group 8" id="8"/>
          <p:cNvGrpSpPr/>
          <p:nvPr/>
        </p:nvGrpSpPr>
        <p:grpSpPr>
          <a:xfrm rot="0">
            <a:off x="813435" y="2390775"/>
            <a:ext cx="5368290" cy="7082790"/>
            <a:chOff x="0" y="0"/>
            <a:chExt cx="7157720" cy="9443720"/>
          </a:xfrm>
        </p:grpSpPr>
        <p:sp>
          <p:nvSpPr>
            <p:cNvPr name="Freeform 9" id="9"/>
            <p:cNvSpPr/>
            <p:nvPr/>
          </p:nvSpPr>
          <p:spPr>
            <a:xfrm flipH="false" flipV="false" rot="0">
              <a:off x="0" y="0"/>
              <a:ext cx="7157720" cy="9443720"/>
            </a:xfrm>
            <a:custGeom>
              <a:avLst/>
              <a:gdLst/>
              <a:ahLst/>
              <a:cxnLst/>
              <a:rect r="r" b="b" t="t" l="l"/>
              <a:pathLst>
                <a:path h="9443720" w="7157720">
                  <a:moveTo>
                    <a:pt x="0" y="146812"/>
                  </a:moveTo>
                  <a:cubicBezTo>
                    <a:pt x="0" y="65786"/>
                    <a:pt x="65786" y="0"/>
                    <a:pt x="146812" y="0"/>
                  </a:cubicBezTo>
                  <a:lnTo>
                    <a:pt x="7010908" y="0"/>
                  </a:lnTo>
                  <a:cubicBezTo>
                    <a:pt x="7091934" y="0"/>
                    <a:pt x="7157720" y="65786"/>
                    <a:pt x="7157720" y="146812"/>
                  </a:cubicBezTo>
                  <a:lnTo>
                    <a:pt x="7157720" y="9296908"/>
                  </a:lnTo>
                  <a:cubicBezTo>
                    <a:pt x="7157720" y="9377934"/>
                    <a:pt x="7091934" y="9443720"/>
                    <a:pt x="7010908" y="9443720"/>
                  </a:cubicBezTo>
                  <a:lnTo>
                    <a:pt x="146812" y="9443720"/>
                  </a:lnTo>
                  <a:cubicBezTo>
                    <a:pt x="65786" y="9443720"/>
                    <a:pt x="0" y="9377934"/>
                    <a:pt x="0" y="9296908"/>
                  </a:cubicBezTo>
                  <a:close/>
                </a:path>
              </a:pathLst>
            </a:custGeom>
            <a:solidFill>
              <a:srgbClr val="FFFFFF"/>
            </a:solidFill>
            <a:ln w="19050" cap="sq">
              <a:solidFill>
                <a:srgbClr val="E3E9EE"/>
              </a:solidFill>
              <a:prstDash val="solid"/>
              <a:miter/>
            </a:ln>
          </p:spPr>
        </p:sp>
      </p:grpSp>
      <p:grpSp>
        <p:nvGrpSpPr>
          <p:cNvPr name="Group 10" id="10"/>
          <p:cNvGrpSpPr/>
          <p:nvPr/>
        </p:nvGrpSpPr>
        <p:grpSpPr>
          <a:xfrm rot="0">
            <a:off x="822960" y="2400300"/>
            <a:ext cx="5349240" cy="685800"/>
            <a:chOff x="0" y="0"/>
            <a:chExt cx="7132320" cy="914400"/>
          </a:xfrm>
        </p:grpSpPr>
        <p:sp>
          <p:nvSpPr>
            <p:cNvPr name="Freeform 11" id="11"/>
            <p:cNvSpPr/>
            <p:nvPr/>
          </p:nvSpPr>
          <p:spPr>
            <a:xfrm flipH="false" flipV="false" rot="0">
              <a:off x="0" y="0"/>
              <a:ext cx="7132320" cy="914400"/>
            </a:xfrm>
            <a:custGeom>
              <a:avLst/>
              <a:gdLst/>
              <a:ahLst/>
              <a:cxnLst/>
              <a:rect r="r" b="b" t="t" l="l"/>
              <a:pathLst>
                <a:path h="914400" w="7132320">
                  <a:moveTo>
                    <a:pt x="0" y="0"/>
                  </a:moveTo>
                  <a:lnTo>
                    <a:pt x="7132320" y="0"/>
                  </a:lnTo>
                  <a:lnTo>
                    <a:pt x="7132320" y="914400"/>
                  </a:lnTo>
                  <a:lnTo>
                    <a:pt x="0" y="914400"/>
                  </a:lnTo>
                  <a:close/>
                </a:path>
              </a:pathLst>
            </a:custGeom>
            <a:solidFill>
              <a:srgbClr val="1C7293"/>
            </a:solidFill>
          </p:spPr>
        </p:sp>
      </p:grpSp>
      <p:grpSp>
        <p:nvGrpSpPr>
          <p:cNvPr name="Group 12" id="12"/>
          <p:cNvGrpSpPr/>
          <p:nvPr/>
        </p:nvGrpSpPr>
        <p:grpSpPr>
          <a:xfrm rot="0">
            <a:off x="1069848" y="2400300"/>
            <a:ext cx="4855464" cy="685800"/>
            <a:chOff x="0" y="0"/>
            <a:chExt cx="6473952" cy="914400"/>
          </a:xfrm>
        </p:grpSpPr>
        <p:sp>
          <p:nvSpPr>
            <p:cNvPr name="Freeform 13" id="13"/>
            <p:cNvSpPr/>
            <p:nvPr/>
          </p:nvSpPr>
          <p:spPr>
            <a:xfrm flipH="false" flipV="false" rot="0">
              <a:off x="0" y="0"/>
              <a:ext cx="6473952" cy="914400"/>
            </a:xfrm>
            <a:custGeom>
              <a:avLst/>
              <a:gdLst/>
              <a:ahLst/>
              <a:cxnLst/>
              <a:rect r="r" b="b" t="t" l="l"/>
              <a:pathLst>
                <a:path h="914400" w="6473952">
                  <a:moveTo>
                    <a:pt x="0" y="0"/>
                  </a:moveTo>
                  <a:lnTo>
                    <a:pt x="6473952" y="0"/>
                  </a:lnTo>
                  <a:lnTo>
                    <a:pt x="6473952" y="914400"/>
                  </a:lnTo>
                  <a:lnTo>
                    <a:pt x="0" y="914400"/>
                  </a:lnTo>
                  <a:close/>
                </a:path>
              </a:pathLst>
            </a:custGeom>
            <a:blipFill>
              <a:blip r:embed="rId3">
                <a:alphaModFix amt="0"/>
              </a:blip>
              <a:stretch>
                <a:fillRect l="0" t="-87954" r="0" b="-87954"/>
              </a:stretch>
            </a:blipFill>
          </p:spPr>
        </p:sp>
        <p:sp>
          <p:nvSpPr>
            <p:cNvPr name="TextBox 14" id="14"/>
            <p:cNvSpPr txBox="true"/>
            <p:nvPr/>
          </p:nvSpPr>
          <p:spPr>
            <a:xfrm>
              <a:off x="0" y="-9525"/>
              <a:ext cx="6473952" cy="923925"/>
            </a:xfrm>
            <a:prstGeom prst="rect">
              <a:avLst/>
            </a:prstGeom>
          </p:spPr>
          <p:txBody>
            <a:bodyPr anchor="ctr" rtlCol="false" tIns="0" lIns="0" bIns="0" rIns="0"/>
            <a:lstStyle/>
            <a:p>
              <a:pPr algn="l">
                <a:lnSpc>
                  <a:spcPts val="2879"/>
                </a:lnSpc>
              </a:pPr>
              <a:r>
                <a:rPr lang="en-US" sz="2400" b="true">
                  <a:solidFill>
                    <a:srgbClr val="FFFFFF"/>
                  </a:solidFill>
                  <a:latin typeface="Cambria Bold"/>
                  <a:ea typeface="Cambria Bold"/>
                  <a:cs typeface="Cambria Bold"/>
                  <a:sym typeface="Cambria Bold"/>
                </a:rPr>
                <a:t>1 · Selection</a:t>
              </a:r>
            </a:p>
          </p:txBody>
        </p:sp>
      </p:grpSp>
      <p:grpSp>
        <p:nvGrpSpPr>
          <p:cNvPr name="Group 15" id="15"/>
          <p:cNvGrpSpPr/>
          <p:nvPr/>
        </p:nvGrpSpPr>
        <p:grpSpPr>
          <a:xfrm rot="0">
            <a:off x="1069848" y="3250692"/>
            <a:ext cx="4855464" cy="411480"/>
            <a:chOff x="0" y="0"/>
            <a:chExt cx="6473952" cy="548640"/>
          </a:xfrm>
        </p:grpSpPr>
        <p:sp>
          <p:nvSpPr>
            <p:cNvPr name="Freeform 16" id="16"/>
            <p:cNvSpPr/>
            <p:nvPr/>
          </p:nvSpPr>
          <p:spPr>
            <a:xfrm flipH="false" flipV="false" rot="0">
              <a:off x="0" y="0"/>
              <a:ext cx="6473952" cy="548640"/>
            </a:xfrm>
            <a:custGeom>
              <a:avLst/>
              <a:gdLst/>
              <a:ahLst/>
              <a:cxnLst/>
              <a:rect r="r" b="b" t="t" l="l"/>
              <a:pathLst>
                <a:path h="548640" w="6473952">
                  <a:moveTo>
                    <a:pt x="0" y="0"/>
                  </a:moveTo>
                  <a:lnTo>
                    <a:pt x="6473952" y="0"/>
                  </a:lnTo>
                  <a:lnTo>
                    <a:pt x="6473952" y="548640"/>
                  </a:lnTo>
                  <a:lnTo>
                    <a:pt x="0" y="548640"/>
                  </a:lnTo>
                  <a:close/>
                </a:path>
              </a:pathLst>
            </a:custGeom>
            <a:blipFill>
              <a:blip r:embed="rId3">
                <a:alphaModFix amt="0"/>
              </a:blip>
              <a:stretch>
                <a:fillRect l="0" t="-179923" r="0" b="-179923"/>
              </a:stretch>
            </a:blipFill>
          </p:spPr>
        </p:sp>
        <p:sp>
          <p:nvSpPr>
            <p:cNvPr name="TextBox 17" id="17"/>
            <p:cNvSpPr txBox="true"/>
            <p:nvPr/>
          </p:nvSpPr>
          <p:spPr>
            <a:xfrm>
              <a:off x="0" y="-38100"/>
              <a:ext cx="6473952" cy="586740"/>
            </a:xfrm>
            <a:prstGeom prst="rect">
              <a:avLst/>
            </a:prstGeom>
          </p:spPr>
          <p:txBody>
            <a:bodyPr anchor="ctr" rtlCol="false" tIns="0" lIns="0" bIns="0" rIns="0"/>
            <a:lstStyle/>
            <a:p>
              <a:pPr algn="l">
                <a:lnSpc>
                  <a:spcPts val="2879"/>
                </a:lnSpc>
              </a:pPr>
              <a:r>
                <a:rPr lang="en-US" sz="2400" b="true">
                  <a:solidFill>
                    <a:srgbClr val="0B2A4A"/>
                  </a:solidFill>
                  <a:latin typeface="Calibri (MS) Bold"/>
                  <a:ea typeface="Calibri (MS) Bold"/>
                  <a:cs typeface="Calibri (MS) Bold"/>
                  <a:sym typeface="Calibri (MS) Bold"/>
                </a:rPr>
                <a:t>Inverted roulette wheel</a:t>
              </a:r>
            </a:p>
          </p:txBody>
        </p:sp>
      </p:grpSp>
      <p:grpSp>
        <p:nvGrpSpPr>
          <p:cNvPr name="Group 18" id="18"/>
          <p:cNvGrpSpPr/>
          <p:nvPr/>
        </p:nvGrpSpPr>
        <p:grpSpPr>
          <a:xfrm rot="0">
            <a:off x="1069848" y="3744468"/>
            <a:ext cx="4855464" cy="1165860"/>
            <a:chOff x="0" y="0"/>
            <a:chExt cx="6473952" cy="1554480"/>
          </a:xfrm>
        </p:grpSpPr>
        <p:sp>
          <p:nvSpPr>
            <p:cNvPr name="Freeform 19" id="19"/>
            <p:cNvSpPr/>
            <p:nvPr/>
          </p:nvSpPr>
          <p:spPr>
            <a:xfrm flipH="false" flipV="false" rot="0">
              <a:off x="0" y="0"/>
              <a:ext cx="6473952" cy="1554480"/>
            </a:xfrm>
            <a:custGeom>
              <a:avLst/>
              <a:gdLst/>
              <a:ahLst/>
              <a:cxnLst/>
              <a:rect r="r" b="b" t="t" l="l"/>
              <a:pathLst>
                <a:path h="1554480" w="6473952">
                  <a:moveTo>
                    <a:pt x="0" y="91440"/>
                  </a:moveTo>
                  <a:cubicBezTo>
                    <a:pt x="0" y="40894"/>
                    <a:pt x="40894" y="0"/>
                    <a:pt x="91440" y="0"/>
                  </a:cubicBezTo>
                  <a:lnTo>
                    <a:pt x="6382512" y="0"/>
                  </a:lnTo>
                  <a:cubicBezTo>
                    <a:pt x="6433058" y="0"/>
                    <a:pt x="6473952" y="40894"/>
                    <a:pt x="6473952" y="91440"/>
                  </a:cubicBezTo>
                  <a:lnTo>
                    <a:pt x="6473952" y="1463040"/>
                  </a:lnTo>
                  <a:cubicBezTo>
                    <a:pt x="6473952" y="1513586"/>
                    <a:pt x="6433058" y="1554480"/>
                    <a:pt x="6382512" y="1554480"/>
                  </a:cubicBezTo>
                  <a:lnTo>
                    <a:pt x="91440" y="1554480"/>
                  </a:lnTo>
                  <a:cubicBezTo>
                    <a:pt x="40894" y="1554480"/>
                    <a:pt x="0" y="1513586"/>
                    <a:pt x="0" y="1463040"/>
                  </a:cubicBezTo>
                  <a:close/>
                </a:path>
              </a:pathLst>
            </a:custGeom>
            <a:solidFill>
              <a:srgbClr val="0B2A4A"/>
            </a:solidFill>
          </p:spPr>
        </p:sp>
      </p:grpSp>
      <p:grpSp>
        <p:nvGrpSpPr>
          <p:cNvPr name="Group 20" id="20"/>
          <p:cNvGrpSpPr/>
          <p:nvPr/>
        </p:nvGrpSpPr>
        <p:grpSpPr>
          <a:xfrm rot="0">
            <a:off x="1234440" y="3799332"/>
            <a:ext cx="4526280" cy="1069848"/>
            <a:chOff x="0" y="0"/>
            <a:chExt cx="6035040" cy="1426464"/>
          </a:xfrm>
        </p:grpSpPr>
        <p:sp>
          <p:nvSpPr>
            <p:cNvPr name="Freeform 21" id="21"/>
            <p:cNvSpPr/>
            <p:nvPr/>
          </p:nvSpPr>
          <p:spPr>
            <a:xfrm flipH="false" flipV="false" rot="0">
              <a:off x="0" y="0"/>
              <a:ext cx="6035040" cy="1426464"/>
            </a:xfrm>
            <a:custGeom>
              <a:avLst/>
              <a:gdLst/>
              <a:ahLst/>
              <a:cxnLst/>
              <a:rect r="r" b="b" t="t" l="l"/>
              <a:pathLst>
                <a:path h="1426464" w="6035040">
                  <a:moveTo>
                    <a:pt x="0" y="0"/>
                  </a:moveTo>
                  <a:lnTo>
                    <a:pt x="6035040" y="0"/>
                  </a:lnTo>
                  <a:lnTo>
                    <a:pt x="6035040" y="1426464"/>
                  </a:lnTo>
                  <a:lnTo>
                    <a:pt x="0" y="1426464"/>
                  </a:lnTo>
                  <a:close/>
                </a:path>
              </a:pathLst>
            </a:custGeom>
            <a:blipFill>
              <a:blip r:embed="rId3">
                <a:alphaModFix amt="0"/>
              </a:blip>
              <a:stretch>
                <a:fillRect l="0" t="-32436" r="0" b="-32436"/>
              </a:stretch>
            </a:blipFill>
          </p:spPr>
        </p:sp>
        <p:sp>
          <p:nvSpPr>
            <p:cNvPr name="TextBox 22" id="22"/>
            <p:cNvSpPr txBox="true"/>
            <p:nvPr/>
          </p:nvSpPr>
          <p:spPr>
            <a:xfrm>
              <a:off x="0" y="-114300"/>
              <a:ext cx="6035040" cy="1540764"/>
            </a:xfrm>
            <a:prstGeom prst="rect">
              <a:avLst/>
            </a:prstGeom>
          </p:spPr>
          <p:txBody>
            <a:bodyPr anchor="ctr" rtlCol="false" tIns="0" lIns="0" bIns="0" rIns="0"/>
            <a:lstStyle/>
            <a:p>
              <a:pPr algn="l">
                <a:lnSpc>
                  <a:spcPts val="3276"/>
                </a:lnSpc>
              </a:pPr>
              <a:r>
                <a:rPr lang="en-US" sz="2100">
                  <a:solidFill>
                    <a:srgbClr val="FFFFFF"/>
                  </a:solidFill>
                  <a:latin typeface="Consolas"/>
                  <a:ea typeface="Consolas"/>
                  <a:cs typeface="Consolas"/>
                  <a:sym typeface="Consolas"/>
                </a:rPr>
                <a:t>w_i = (f_worst − f_i) + 1e-8</a:t>
              </a:r>
            </a:p>
            <a:p>
              <a:pPr algn="l">
                <a:lnSpc>
                  <a:spcPts val="3276"/>
                </a:lnSpc>
              </a:pPr>
              <a:r>
                <a:rPr lang="en-US" sz="2100">
                  <a:solidFill>
                    <a:srgbClr val="FFFFFF"/>
                  </a:solidFill>
                  <a:latin typeface="Consolas"/>
                  <a:ea typeface="Consolas"/>
                  <a:cs typeface="Consolas"/>
                  <a:sym typeface="Consolas"/>
                </a:rPr>
                <a:t>p_i = w_i / Σ w_k</a:t>
              </a:r>
            </a:p>
          </p:txBody>
        </p:sp>
      </p:grpSp>
      <p:grpSp>
        <p:nvGrpSpPr>
          <p:cNvPr name="Group 23" id="23"/>
          <p:cNvGrpSpPr/>
          <p:nvPr/>
        </p:nvGrpSpPr>
        <p:grpSpPr>
          <a:xfrm rot="0">
            <a:off x="1069848" y="5074920"/>
            <a:ext cx="4855464" cy="411480"/>
            <a:chOff x="0" y="0"/>
            <a:chExt cx="6473952" cy="548640"/>
          </a:xfrm>
        </p:grpSpPr>
        <p:sp>
          <p:nvSpPr>
            <p:cNvPr name="Freeform 24" id="24"/>
            <p:cNvSpPr/>
            <p:nvPr/>
          </p:nvSpPr>
          <p:spPr>
            <a:xfrm flipH="false" flipV="false" rot="0">
              <a:off x="0" y="0"/>
              <a:ext cx="6473952" cy="548640"/>
            </a:xfrm>
            <a:custGeom>
              <a:avLst/>
              <a:gdLst/>
              <a:ahLst/>
              <a:cxnLst/>
              <a:rect r="r" b="b" t="t" l="l"/>
              <a:pathLst>
                <a:path h="548640" w="6473952">
                  <a:moveTo>
                    <a:pt x="0" y="0"/>
                  </a:moveTo>
                  <a:lnTo>
                    <a:pt x="6473952" y="0"/>
                  </a:lnTo>
                  <a:lnTo>
                    <a:pt x="6473952" y="548640"/>
                  </a:lnTo>
                  <a:lnTo>
                    <a:pt x="0" y="548640"/>
                  </a:lnTo>
                  <a:close/>
                </a:path>
              </a:pathLst>
            </a:custGeom>
            <a:blipFill>
              <a:blip r:embed="rId3">
                <a:alphaModFix amt="0"/>
              </a:blip>
              <a:stretch>
                <a:fillRect l="0" t="-179923" r="0" b="-179923"/>
              </a:stretch>
            </a:blipFill>
          </p:spPr>
        </p:sp>
        <p:sp>
          <p:nvSpPr>
            <p:cNvPr name="TextBox 25" id="25"/>
            <p:cNvSpPr txBox="true"/>
            <p:nvPr/>
          </p:nvSpPr>
          <p:spPr>
            <a:xfrm>
              <a:off x="0" y="-38100"/>
              <a:ext cx="6473952" cy="586740"/>
            </a:xfrm>
            <a:prstGeom prst="rect">
              <a:avLst/>
            </a:prstGeom>
          </p:spPr>
          <p:txBody>
            <a:bodyPr anchor="ctr" rtlCol="false" tIns="0" lIns="0" bIns="0" rIns="0"/>
            <a:lstStyle/>
            <a:p>
              <a:pPr algn="l">
                <a:lnSpc>
                  <a:spcPts val="2160"/>
                </a:lnSpc>
              </a:pPr>
              <a:r>
                <a:rPr lang="en-US" sz="1800" i="true">
                  <a:solidFill>
                    <a:srgbClr val="5B6472"/>
                  </a:solidFill>
                  <a:latin typeface="Calibri (MS) Italics"/>
                  <a:ea typeface="Calibri (MS) Italics"/>
                  <a:cs typeface="Calibri (MS) Italics"/>
                  <a:sym typeface="Calibri (MS) Italics"/>
                </a:rPr>
                <a:t>Worked example (3 chromosomes):</a:t>
              </a:r>
            </a:p>
          </p:txBody>
        </p:sp>
      </p:grpSp>
      <p:grpSp>
        <p:nvGrpSpPr>
          <p:cNvPr name="Group 26" id="26"/>
          <p:cNvGrpSpPr/>
          <p:nvPr/>
        </p:nvGrpSpPr>
        <p:grpSpPr>
          <a:xfrm rot="0">
            <a:off x="1069848" y="5527548"/>
            <a:ext cx="4855464" cy="411480"/>
            <a:chOff x="0" y="0"/>
            <a:chExt cx="6473952" cy="548640"/>
          </a:xfrm>
        </p:grpSpPr>
        <p:sp>
          <p:nvSpPr>
            <p:cNvPr name="Freeform 27" id="27"/>
            <p:cNvSpPr/>
            <p:nvPr/>
          </p:nvSpPr>
          <p:spPr>
            <a:xfrm flipH="false" flipV="false" rot="0">
              <a:off x="0" y="0"/>
              <a:ext cx="6473952" cy="548640"/>
            </a:xfrm>
            <a:custGeom>
              <a:avLst/>
              <a:gdLst/>
              <a:ahLst/>
              <a:cxnLst/>
              <a:rect r="r" b="b" t="t" l="l"/>
              <a:pathLst>
                <a:path h="548640" w="6473952">
                  <a:moveTo>
                    <a:pt x="0" y="0"/>
                  </a:moveTo>
                  <a:lnTo>
                    <a:pt x="6473952" y="0"/>
                  </a:lnTo>
                  <a:lnTo>
                    <a:pt x="6473952" y="548640"/>
                  </a:lnTo>
                  <a:lnTo>
                    <a:pt x="0" y="548640"/>
                  </a:lnTo>
                  <a:close/>
                </a:path>
              </a:pathLst>
            </a:custGeom>
            <a:blipFill>
              <a:blip r:embed="rId3">
                <a:alphaModFix amt="0"/>
              </a:blip>
              <a:stretch>
                <a:fillRect l="0" t="-179923" r="0" b="-179923"/>
              </a:stretch>
            </a:blipFill>
          </p:spPr>
        </p:sp>
        <p:sp>
          <p:nvSpPr>
            <p:cNvPr name="TextBox 28" id="28"/>
            <p:cNvSpPr txBox="true"/>
            <p:nvPr/>
          </p:nvSpPr>
          <p:spPr>
            <a:xfrm>
              <a:off x="0" y="-38100"/>
              <a:ext cx="6473952" cy="586740"/>
            </a:xfrm>
            <a:prstGeom prst="rect">
              <a:avLst/>
            </a:prstGeom>
          </p:spPr>
          <p:txBody>
            <a:bodyPr anchor="ctr" rtlCol="false" tIns="0" lIns="0" bIns="0" rIns="0"/>
            <a:lstStyle/>
            <a:p>
              <a:pPr algn="l">
                <a:lnSpc>
                  <a:spcPts val="2160"/>
                </a:lnSpc>
              </a:pPr>
              <a:r>
                <a:rPr lang="en-US" sz="1800">
                  <a:solidFill>
                    <a:srgbClr val="1B1F27"/>
                  </a:solidFill>
                  <a:latin typeface="Consolas"/>
                  <a:ea typeface="Consolas"/>
                  <a:cs typeface="Consolas"/>
                  <a:sym typeface="Consolas"/>
                </a:rPr>
                <a:t>A:  f=0.4  →  w=2.6  →  p=0.65</a:t>
              </a:r>
            </a:p>
          </p:txBody>
        </p:sp>
      </p:grpSp>
      <p:grpSp>
        <p:nvGrpSpPr>
          <p:cNvPr name="Group 29" id="29"/>
          <p:cNvGrpSpPr/>
          <p:nvPr/>
        </p:nvGrpSpPr>
        <p:grpSpPr>
          <a:xfrm rot="0">
            <a:off x="1069848" y="5966460"/>
            <a:ext cx="4855464" cy="411480"/>
            <a:chOff x="0" y="0"/>
            <a:chExt cx="6473952" cy="548640"/>
          </a:xfrm>
        </p:grpSpPr>
        <p:sp>
          <p:nvSpPr>
            <p:cNvPr name="Freeform 30" id="30"/>
            <p:cNvSpPr/>
            <p:nvPr/>
          </p:nvSpPr>
          <p:spPr>
            <a:xfrm flipH="false" flipV="false" rot="0">
              <a:off x="0" y="0"/>
              <a:ext cx="6473952" cy="548640"/>
            </a:xfrm>
            <a:custGeom>
              <a:avLst/>
              <a:gdLst/>
              <a:ahLst/>
              <a:cxnLst/>
              <a:rect r="r" b="b" t="t" l="l"/>
              <a:pathLst>
                <a:path h="548640" w="6473952">
                  <a:moveTo>
                    <a:pt x="0" y="0"/>
                  </a:moveTo>
                  <a:lnTo>
                    <a:pt x="6473952" y="0"/>
                  </a:lnTo>
                  <a:lnTo>
                    <a:pt x="6473952" y="548640"/>
                  </a:lnTo>
                  <a:lnTo>
                    <a:pt x="0" y="548640"/>
                  </a:lnTo>
                  <a:close/>
                </a:path>
              </a:pathLst>
            </a:custGeom>
            <a:blipFill>
              <a:blip r:embed="rId3">
                <a:alphaModFix amt="0"/>
              </a:blip>
              <a:stretch>
                <a:fillRect l="0" t="-179923" r="0" b="-179923"/>
              </a:stretch>
            </a:blipFill>
          </p:spPr>
        </p:sp>
        <p:sp>
          <p:nvSpPr>
            <p:cNvPr name="TextBox 31" id="31"/>
            <p:cNvSpPr txBox="true"/>
            <p:nvPr/>
          </p:nvSpPr>
          <p:spPr>
            <a:xfrm>
              <a:off x="0" y="-38100"/>
              <a:ext cx="6473952" cy="586740"/>
            </a:xfrm>
            <a:prstGeom prst="rect">
              <a:avLst/>
            </a:prstGeom>
          </p:spPr>
          <p:txBody>
            <a:bodyPr anchor="ctr" rtlCol="false" tIns="0" lIns="0" bIns="0" rIns="0"/>
            <a:lstStyle/>
            <a:p>
              <a:pPr algn="l">
                <a:lnSpc>
                  <a:spcPts val="2160"/>
                </a:lnSpc>
              </a:pPr>
              <a:r>
                <a:rPr lang="en-US" sz="1800">
                  <a:solidFill>
                    <a:srgbClr val="1B1F27"/>
                  </a:solidFill>
                  <a:latin typeface="Consolas"/>
                  <a:ea typeface="Consolas"/>
                  <a:cs typeface="Consolas"/>
                  <a:sym typeface="Consolas"/>
                </a:rPr>
                <a:t>B:  f=1.5  →  w=1.5  →  p=0.375</a:t>
              </a:r>
            </a:p>
          </p:txBody>
        </p:sp>
      </p:grpSp>
      <p:grpSp>
        <p:nvGrpSpPr>
          <p:cNvPr name="Group 32" id="32"/>
          <p:cNvGrpSpPr/>
          <p:nvPr/>
        </p:nvGrpSpPr>
        <p:grpSpPr>
          <a:xfrm rot="0">
            <a:off x="1069848" y="6405372"/>
            <a:ext cx="4855464" cy="411480"/>
            <a:chOff x="0" y="0"/>
            <a:chExt cx="6473952" cy="548640"/>
          </a:xfrm>
        </p:grpSpPr>
        <p:sp>
          <p:nvSpPr>
            <p:cNvPr name="Freeform 33" id="33"/>
            <p:cNvSpPr/>
            <p:nvPr/>
          </p:nvSpPr>
          <p:spPr>
            <a:xfrm flipH="false" flipV="false" rot="0">
              <a:off x="0" y="0"/>
              <a:ext cx="6473952" cy="548640"/>
            </a:xfrm>
            <a:custGeom>
              <a:avLst/>
              <a:gdLst/>
              <a:ahLst/>
              <a:cxnLst/>
              <a:rect r="r" b="b" t="t" l="l"/>
              <a:pathLst>
                <a:path h="548640" w="6473952">
                  <a:moveTo>
                    <a:pt x="0" y="0"/>
                  </a:moveTo>
                  <a:lnTo>
                    <a:pt x="6473952" y="0"/>
                  </a:lnTo>
                  <a:lnTo>
                    <a:pt x="6473952" y="548640"/>
                  </a:lnTo>
                  <a:lnTo>
                    <a:pt x="0" y="548640"/>
                  </a:lnTo>
                  <a:close/>
                </a:path>
              </a:pathLst>
            </a:custGeom>
            <a:blipFill>
              <a:blip r:embed="rId3">
                <a:alphaModFix amt="0"/>
              </a:blip>
              <a:stretch>
                <a:fillRect l="0" t="-179923" r="0" b="-179923"/>
              </a:stretch>
            </a:blipFill>
          </p:spPr>
        </p:sp>
        <p:sp>
          <p:nvSpPr>
            <p:cNvPr name="TextBox 34" id="34"/>
            <p:cNvSpPr txBox="true"/>
            <p:nvPr/>
          </p:nvSpPr>
          <p:spPr>
            <a:xfrm>
              <a:off x="0" y="-38100"/>
              <a:ext cx="6473952" cy="586740"/>
            </a:xfrm>
            <a:prstGeom prst="rect">
              <a:avLst/>
            </a:prstGeom>
          </p:spPr>
          <p:txBody>
            <a:bodyPr anchor="ctr" rtlCol="false" tIns="0" lIns="0" bIns="0" rIns="0"/>
            <a:lstStyle/>
            <a:p>
              <a:pPr algn="l">
                <a:lnSpc>
                  <a:spcPts val="2160"/>
                </a:lnSpc>
              </a:pPr>
              <a:r>
                <a:rPr lang="en-US" sz="1800">
                  <a:solidFill>
                    <a:srgbClr val="1B1F27"/>
                  </a:solidFill>
                  <a:latin typeface="Consolas"/>
                  <a:ea typeface="Consolas"/>
                  <a:cs typeface="Consolas"/>
                  <a:sym typeface="Consolas"/>
                </a:rPr>
                <a:t>C:  f=3.0 (worst)  →  w=0.0  →  p≈0</a:t>
              </a:r>
            </a:p>
          </p:txBody>
        </p:sp>
      </p:grpSp>
      <p:grpSp>
        <p:nvGrpSpPr>
          <p:cNvPr name="Group 35" id="35"/>
          <p:cNvGrpSpPr/>
          <p:nvPr/>
        </p:nvGrpSpPr>
        <p:grpSpPr>
          <a:xfrm rot="0">
            <a:off x="1069848" y="6995160"/>
            <a:ext cx="4855464" cy="2331720"/>
            <a:chOff x="0" y="0"/>
            <a:chExt cx="6473952" cy="3108960"/>
          </a:xfrm>
        </p:grpSpPr>
        <p:sp>
          <p:nvSpPr>
            <p:cNvPr name="Freeform 36" id="36"/>
            <p:cNvSpPr/>
            <p:nvPr/>
          </p:nvSpPr>
          <p:spPr>
            <a:xfrm flipH="false" flipV="false" rot="0">
              <a:off x="0" y="0"/>
              <a:ext cx="6473952" cy="3108960"/>
            </a:xfrm>
            <a:custGeom>
              <a:avLst/>
              <a:gdLst/>
              <a:ahLst/>
              <a:cxnLst/>
              <a:rect r="r" b="b" t="t" l="l"/>
              <a:pathLst>
                <a:path h="3108960" w="6473952">
                  <a:moveTo>
                    <a:pt x="0" y="0"/>
                  </a:moveTo>
                  <a:lnTo>
                    <a:pt x="6473952" y="0"/>
                  </a:lnTo>
                  <a:lnTo>
                    <a:pt x="6473952" y="3108960"/>
                  </a:lnTo>
                  <a:lnTo>
                    <a:pt x="0" y="3108960"/>
                  </a:lnTo>
                  <a:close/>
                </a:path>
              </a:pathLst>
            </a:custGeom>
            <a:blipFill>
              <a:blip r:embed="rId3">
                <a:alphaModFix amt="0"/>
              </a:blip>
              <a:stretch>
                <a:fillRect l="-11614" t="0" r="-11614" b="0"/>
              </a:stretch>
            </a:blipFill>
          </p:spPr>
        </p:sp>
        <p:sp>
          <p:nvSpPr>
            <p:cNvPr name="TextBox 37" id="37"/>
            <p:cNvSpPr txBox="true"/>
            <p:nvPr/>
          </p:nvSpPr>
          <p:spPr>
            <a:xfrm>
              <a:off x="0" y="-114300"/>
              <a:ext cx="6473952" cy="3223260"/>
            </a:xfrm>
            <a:prstGeom prst="rect">
              <a:avLst/>
            </a:prstGeom>
          </p:spPr>
          <p:txBody>
            <a:bodyPr anchor="ctr" rtlCol="false" tIns="0" lIns="0" bIns="0" rIns="0"/>
            <a:lstStyle/>
            <a:p>
              <a:pPr algn="l">
                <a:lnSpc>
                  <a:spcPts val="3600"/>
                </a:lnSpc>
              </a:pPr>
              <a:r>
                <a:rPr lang="en-US" sz="2400">
                  <a:solidFill>
                    <a:srgbClr val="5B6472"/>
                  </a:solidFill>
                  <a:latin typeface="Calibri (MS)"/>
                  <a:ea typeface="Calibri (MS)"/>
                  <a:cs typeface="Calibri (MS)"/>
                  <a:sym typeface="Calibri (MS)"/>
                </a:rPr>
                <a:t>A is closest to zero, so it dominates the wheel; C (the worst) gets almost no chance. Parents are drawn with replacement from this distribution.</a:t>
              </a:r>
            </a:p>
          </p:txBody>
        </p:sp>
      </p:grpSp>
      <p:grpSp>
        <p:nvGrpSpPr>
          <p:cNvPr name="Group 38" id="38"/>
          <p:cNvGrpSpPr/>
          <p:nvPr/>
        </p:nvGrpSpPr>
        <p:grpSpPr>
          <a:xfrm rot="0">
            <a:off x="6436995" y="2390775"/>
            <a:ext cx="5368290" cy="7082790"/>
            <a:chOff x="0" y="0"/>
            <a:chExt cx="7157720" cy="9443720"/>
          </a:xfrm>
        </p:grpSpPr>
        <p:sp>
          <p:nvSpPr>
            <p:cNvPr name="Freeform 39" id="39"/>
            <p:cNvSpPr/>
            <p:nvPr/>
          </p:nvSpPr>
          <p:spPr>
            <a:xfrm flipH="false" flipV="false" rot="0">
              <a:off x="0" y="0"/>
              <a:ext cx="7157720" cy="9443720"/>
            </a:xfrm>
            <a:custGeom>
              <a:avLst/>
              <a:gdLst/>
              <a:ahLst/>
              <a:cxnLst/>
              <a:rect r="r" b="b" t="t" l="l"/>
              <a:pathLst>
                <a:path h="9443720" w="7157720">
                  <a:moveTo>
                    <a:pt x="0" y="146812"/>
                  </a:moveTo>
                  <a:cubicBezTo>
                    <a:pt x="0" y="65786"/>
                    <a:pt x="65786" y="0"/>
                    <a:pt x="146812" y="0"/>
                  </a:cubicBezTo>
                  <a:lnTo>
                    <a:pt x="7010908" y="0"/>
                  </a:lnTo>
                  <a:cubicBezTo>
                    <a:pt x="7091934" y="0"/>
                    <a:pt x="7157720" y="65786"/>
                    <a:pt x="7157720" y="146812"/>
                  </a:cubicBezTo>
                  <a:lnTo>
                    <a:pt x="7157720" y="9296908"/>
                  </a:lnTo>
                  <a:cubicBezTo>
                    <a:pt x="7157720" y="9377934"/>
                    <a:pt x="7091934" y="9443720"/>
                    <a:pt x="7010908" y="9443720"/>
                  </a:cubicBezTo>
                  <a:lnTo>
                    <a:pt x="146812" y="9443720"/>
                  </a:lnTo>
                  <a:cubicBezTo>
                    <a:pt x="65786" y="9443720"/>
                    <a:pt x="0" y="9377934"/>
                    <a:pt x="0" y="9296908"/>
                  </a:cubicBezTo>
                  <a:close/>
                </a:path>
              </a:pathLst>
            </a:custGeom>
            <a:solidFill>
              <a:srgbClr val="FFFFFF"/>
            </a:solidFill>
            <a:ln w="19050" cap="sq">
              <a:solidFill>
                <a:srgbClr val="E3E9EE"/>
              </a:solidFill>
              <a:prstDash val="solid"/>
              <a:miter/>
            </a:ln>
          </p:spPr>
        </p:sp>
      </p:grpSp>
      <p:grpSp>
        <p:nvGrpSpPr>
          <p:cNvPr name="Group 40" id="40"/>
          <p:cNvGrpSpPr/>
          <p:nvPr/>
        </p:nvGrpSpPr>
        <p:grpSpPr>
          <a:xfrm rot="0">
            <a:off x="6446520" y="2400300"/>
            <a:ext cx="5349240" cy="685800"/>
            <a:chOff x="0" y="0"/>
            <a:chExt cx="7132320" cy="914400"/>
          </a:xfrm>
        </p:grpSpPr>
        <p:sp>
          <p:nvSpPr>
            <p:cNvPr name="Freeform 41" id="41"/>
            <p:cNvSpPr/>
            <p:nvPr/>
          </p:nvSpPr>
          <p:spPr>
            <a:xfrm flipH="false" flipV="false" rot="0">
              <a:off x="0" y="0"/>
              <a:ext cx="7132320" cy="914400"/>
            </a:xfrm>
            <a:custGeom>
              <a:avLst/>
              <a:gdLst/>
              <a:ahLst/>
              <a:cxnLst/>
              <a:rect r="r" b="b" t="t" l="l"/>
              <a:pathLst>
                <a:path h="914400" w="7132320">
                  <a:moveTo>
                    <a:pt x="0" y="0"/>
                  </a:moveTo>
                  <a:lnTo>
                    <a:pt x="7132320" y="0"/>
                  </a:lnTo>
                  <a:lnTo>
                    <a:pt x="7132320" y="914400"/>
                  </a:lnTo>
                  <a:lnTo>
                    <a:pt x="0" y="914400"/>
                  </a:lnTo>
                  <a:close/>
                </a:path>
              </a:pathLst>
            </a:custGeom>
            <a:solidFill>
              <a:srgbClr val="FF6B4A"/>
            </a:solidFill>
          </p:spPr>
        </p:sp>
      </p:grpSp>
      <p:grpSp>
        <p:nvGrpSpPr>
          <p:cNvPr name="Group 42" id="42"/>
          <p:cNvGrpSpPr/>
          <p:nvPr/>
        </p:nvGrpSpPr>
        <p:grpSpPr>
          <a:xfrm rot="0">
            <a:off x="6693408" y="2400300"/>
            <a:ext cx="4855464" cy="685800"/>
            <a:chOff x="0" y="0"/>
            <a:chExt cx="6473952" cy="914400"/>
          </a:xfrm>
        </p:grpSpPr>
        <p:sp>
          <p:nvSpPr>
            <p:cNvPr name="Freeform 43" id="43"/>
            <p:cNvSpPr/>
            <p:nvPr/>
          </p:nvSpPr>
          <p:spPr>
            <a:xfrm flipH="false" flipV="false" rot="0">
              <a:off x="0" y="0"/>
              <a:ext cx="6473952" cy="914400"/>
            </a:xfrm>
            <a:custGeom>
              <a:avLst/>
              <a:gdLst/>
              <a:ahLst/>
              <a:cxnLst/>
              <a:rect r="r" b="b" t="t" l="l"/>
              <a:pathLst>
                <a:path h="914400" w="6473952">
                  <a:moveTo>
                    <a:pt x="0" y="0"/>
                  </a:moveTo>
                  <a:lnTo>
                    <a:pt x="6473952" y="0"/>
                  </a:lnTo>
                  <a:lnTo>
                    <a:pt x="6473952" y="914400"/>
                  </a:lnTo>
                  <a:lnTo>
                    <a:pt x="0" y="914400"/>
                  </a:lnTo>
                  <a:close/>
                </a:path>
              </a:pathLst>
            </a:custGeom>
            <a:blipFill>
              <a:blip r:embed="rId3">
                <a:alphaModFix amt="0"/>
              </a:blip>
              <a:stretch>
                <a:fillRect l="0" t="-87954" r="0" b="-87954"/>
              </a:stretch>
            </a:blipFill>
          </p:spPr>
        </p:sp>
        <p:sp>
          <p:nvSpPr>
            <p:cNvPr name="TextBox 44" id="44"/>
            <p:cNvSpPr txBox="true"/>
            <p:nvPr/>
          </p:nvSpPr>
          <p:spPr>
            <a:xfrm>
              <a:off x="0" y="-9525"/>
              <a:ext cx="6473952" cy="923925"/>
            </a:xfrm>
            <a:prstGeom prst="rect">
              <a:avLst/>
            </a:prstGeom>
          </p:spPr>
          <p:txBody>
            <a:bodyPr anchor="ctr" rtlCol="false" tIns="0" lIns="0" bIns="0" rIns="0"/>
            <a:lstStyle/>
            <a:p>
              <a:pPr algn="l">
                <a:lnSpc>
                  <a:spcPts val="2879"/>
                </a:lnSpc>
              </a:pPr>
              <a:r>
                <a:rPr lang="en-US" sz="2400" b="true">
                  <a:solidFill>
                    <a:srgbClr val="FFFFFF"/>
                  </a:solidFill>
                  <a:latin typeface="Cambria Bold"/>
                  <a:ea typeface="Cambria Bold"/>
                  <a:cs typeface="Cambria Bold"/>
                  <a:sym typeface="Cambria Bold"/>
                </a:rPr>
                <a:t>2 · Crossover</a:t>
              </a:r>
            </a:p>
          </p:txBody>
        </p:sp>
      </p:grpSp>
      <p:grpSp>
        <p:nvGrpSpPr>
          <p:cNvPr name="Group 45" id="45"/>
          <p:cNvGrpSpPr/>
          <p:nvPr/>
        </p:nvGrpSpPr>
        <p:grpSpPr>
          <a:xfrm rot="0">
            <a:off x="6693408" y="3250692"/>
            <a:ext cx="4855464" cy="411480"/>
            <a:chOff x="0" y="0"/>
            <a:chExt cx="6473952" cy="548640"/>
          </a:xfrm>
        </p:grpSpPr>
        <p:sp>
          <p:nvSpPr>
            <p:cNvPr name="Freeform 46" id="46"/>
            <p:cNvSpPr/>
            <p:nvPr/>
          </p:nvSpPr>
          <p:spPr>
            <a:xfrm flipH="false" flipV="false" rot="0">
              <a:off x="0" y="0"/>
              <a:ext cx="6473952" cy="548640"/>
            </a:xfrm>
            <a:custGeom>
              <a:avLst/>
              <a:gdLst/>
              <a:ahLst/>
              <a:cxnLst/>
              <a:rect r="r" b="b" t="t" l="l"/>
              <a:pathLst>
                <a:path h="548640" w="6473952">
                  <a:moveTo>
                    <a:pt x="0" y="0"/>
                  </a:moveTo>
                  <a:lnTo>
                    <a:pt x="6473952" y="0"/>
                  </a:lnTo>
                  <a:lnTo>
                    <a:pt x="6473952" y="548640"/>
                  </a:lnTo>
                  <a:lnTo>
                    <a:pt x="0" y="548640"/>
                  </a:lnTo>
                  <a:close/>
                </a:path>
              </a:pathLst>
            </a:custGeom>
            <a:blipFill>
              <a:blip r:embed="rId3">
                <a:alphaModFix amt="0"/>
              </a:blip>
              <a:stretch>
                <a:fillRect l="0" t="-179923" r="0" b="-179923"/>
              </a:stretch>
            </a:blipFill>
          </p:spPr>
        </p:sp>
        <p:sp>
          <p:nvSpPr>
            <p:cNvPr name="TextBox 47" id="47"/>
            <p:cNvSpPr txBox="true"/>
            <p:nvPr/>
          </p:nvSpPr>
          <p:spPr>
            <a:xfrm>
              <a:off x="0" y="-38100"/>
              <a:ext cx="6473952" cy="586740"/>
            </a:xfrm>
            <a:prstGeom prst="rect">
              <a:avLst/>
            </a:prstGeom>
          </p:spPr>
          <p:txBody>
            <a:bodyPr anchor="ctr" rtlCol="false" tIns="0" lIns="0" bIns="0" rIns="0"/>
            <a:lstStyle/>
            <a:p>
              <a:pPr algn="l">
                <a:lnSpc>
                  <a:spcPts val="2879"/>
                </a:lnSpc>
              </a:pPr>
              <a:r>
                <a:rPr lang="en-US" sz="2400" b="true">
                  <a:solidFill>
                    <a:srgbClr val="0B2A4A"/>
                  </a:solidFill>
                  <a:latin typeface="Calibri (MS) Bold"/>
                  <a:ea typeface="Calibri (MS) Bold"/>
                  <a:cs typeface="Calibri (MS) Bold"/>
                  <a:sym typeface="Calibri (MS) Bold"/>
                </a:rPr>
                <a:t>One-point, applied with Pc = 0.8</a:t>
              </a:r>
            </a:p>
          </p:txBody>
        </p:sp>
      </p:grpSp>
      <p:grpSp>
        <p:nvGrpSpPr>
          <p:cNvPr name="Group 48" id="48"/>
          <p:cNvGrpSpPr/>
          <p:nvPr/>
        </p:nvGrpSpPr>
        <p:grpSpPr>
          <a:xfrm rot="0">
            <a:off x="6693408" y="3771900"/>
            <a:ext cx="4855464" cy="960120"/>
            <a:chOff x="0" y="0"/>
            <a:chExt cx="6473952" cy="1280160"/>
          </a:xfrm>
        </p:grpSpPr>
        <p:sp>
          <p:nvSpPr>
            <p:cNvPr name="Freeform 49" id="49"/>
            <p:cNvSpPr/>
            <p:nvPr/>
          </p:nvSpPr>
          <p:spPr>
            <a:xfrm flipH="false" flipV="false" rot="0">
              <a:off x="0" y="0"/>
              <a:ext cx="6473952" cy="1280160"/>
            </a:xfrm>
            <a:custGeom>
              <a:avLst/>
              <a:gdLst/>
              <a:ahLst/>
              <a:cxnLst/>
              <a:rect r="r" b="b" t="t" l="l"/>
              <a:pathLst>
                <a:path h="1280160" w="6473952">
                  <a:moveTo>
                    <a:pt x="0" y="0"/>
                  </a:moveTo>
                  <a:lnTo>
                    <a:pt x="6473952" y="0"/>
                  </a:lnTo>
                  <a:lnTo>
                    <a:pt x="6473952" y="1280160"/>
                  </a:lnTo>
                  <a:lnTo>
                    <a:pt x="0" y="1280160"/>
                  </a:lnTo>
                  <a:close/>
                </a:path>
              </a:pathLst>
            </a:custGeom>
            <a:blipFill>
              <a:blip r:embed="rId3">
                <a:alphaModFix amt="0"/>
              </a:blip>
              <a:stretch>
                <a:fillRect l="0" t="-48538" r="0" b="-48538"/>
              </a:stretch>
            </a:blipFill>
          </p:spPr>
        </p:sp>
        <p:sp>
          <p:nvSpPr>
            <p:cNvPr name="TextBox 50" id="50"/>
            <p:cNvSpPr txBox="true"/>
            <p:nvPr/>
          </p:nvSpPr>
          <p:spPr>
            <a:xfrm>
              <a:off x="0" y="-76200"/>
              <a:ext cx="6473952" cy="1356360"/>
            </a:xfrm>
            <a:prstGeom prst="rect">
              <a:avLst/>
            </a:prstGeom>
          </p:spPr>
          <p:txBody>
            <a:bodyPr anchor="ctr" rtlCol="false" tIns="0" lIns="0" bIns="0" rIns="0"/>
            <a:lstStyle/>
            <a:p>
              <a:pPr algn="l">
                <a:lnSpc>
                  <a:spcPts val="2592"/>
                </a:lnSpc>
              </a:pPr>
              <a:r>
                <a:rPr lang="en-US" sz="1800">
                  <a:solidFill>
                    <a:srgbClr val="5B6472"/>
                  </a:solidFill>
                  <a:latin typeface="Calibri (MS)"/>
                  <a:ea typeface="Calibri (MS)"/>
                  <a:cs typeface="Calibri (MS)"/>
                  <a:sym typeface="Calibri (MS)"/>
                </a:rPr>
                <a:t>A 2-gene chromosome has exactly one interior cut point — between x1 and x2 — so the children simply trade genes:</a:t>
              </a:r>
            </a:p>
          </p:txBody>
        </p:sp>
      </p:grpSp>
      <p:grpSp>
        <p:nvGrpSpPr>
          <p:cNvPr name="Group 51" id="51"/>
          <p:cNvGrpSpPr/>
          <p:nvPr/>
        </p:nvGrpSpPr>
        <p:grpSpPr>
          <a:xfrm rot="0">
            <a:off x="6693408" y="4800600"/>
            <a:ext cx="4855464" cy="1577340"/>
            <a:chOff x="0" y="0"/>
            <a:chExt cx="6473952" cy="2103120"/>
          </a:xfrm>
        </p:grpSpPr>
        <p:sp>
          <p:nvSpPr>
            <p:cNvPr name="Freeform 52" id="52"/>
            <p:cNvSpPr/>
            <p:nvPr/>
          </p:nvSpPr>
          <p:spPr>
            <a:xfrm flipH="false" flipV="false" rot="0">
              <a:off x="0" y="0"/>
              <a:ext cx="6473952" cy="2103120"/>
            </a:xfrm>
            <a:custGeom>
              <a:avLst/>
              <a:gdLst/>
              <a:ahLst/>
              <a:cxnLst/>
              <a:rect r="r" b="b" t="t" l="l"/>
              <a:pathLst>
                <a:path h="2103120" w="6473952">
                  <a:moveTo>
                    <a:pt x="0" y="91440"/>
                  </a:moveTo>
                  <a:cubicBezTo>
                    <a:pt x="0" y="40894"/>
                    <a:pt x="40894" y="0"/>
                    <a:pt x="91440" y="0"/>
                  </a:cubicBezTo>
                  <a:lnTo>
                    <a:pt x="6382512" y="0"/>
                  </a:lnTo>
                  <a:cubicBezTo>
                    <a:pt x="6433058" y="0"/>
                    <a:pt x="6473952" y="40894"/>
                    <a:pt x="6473952" y="91440"/>
                  </a:cubicBezTo>
                  <a:lnTo>
                    <a:pt x="6473952" y="2011680"/>
                  </a:lnTo>
                  <a:cubicBezTo>
                    <a:pt x="6473952" y="2062226"/>
                    <a:pt x="6433058" y="2103120"/>
                    <a:pt x="6382512" y="2103120"/>
                  </a:cubicBezTo>
                  <a:lnTo>
                    <a:pt x="91440" y="2103120"/>
                  </a:lnTo>
                  <a:cubicBezTo>
                    <a:pt x="40894" y="2103120"/>
                    <a:pt x="0" y="2062226"/>
                    <a:pt x="0" y="2011680"/>
                  </a:cubicBezTo>
                  <a:close/>
                </a:path>
              </a:pathLst>
            </a:custGeom>
            <a:solidFill>
              <a:srgbClr val="0B2A4A"/>
            </a:solidFill>
          </p:spPr>
        </p:sp>
      </p:grpSp>
      <p:grpSp>
        <p:nvGrpSpPr>
          <p:cNvPr name="Group 53" id="53"/>
          <p:cNvGrpSpPr/>
          <p:nvPr/>
        </p:nvGrpSpPr>
        <p:grpSpPr>
          <a:xfrm rot="0">
            <a:off x="6858000" y="4869180"/>
            <a:ext cx="4526280" cy="1440180"/>
            <a:chOff x="0" y="0"/>
            <a:chExt cx="6035040" cy="1920240"/>
          </a:xfrm>
        </p:grpSpPr>
        <p:sp>
          <p:nvSpPr>
            <p:cNvPr name="Freeform 54" id="54"/>
            <p:cNvSpPr/>
            <p:nvPr/>
          </p:nvSpPr>
          <p:spPr>
            <a:xfrm flipH="false" flipV="false" rot="0">
              <a:off x="0" y="0"/>
              <a:ext cx="6035040" cy="1920240"/>
            </a:xfrm>
            <a:custGeom>
              <a:avLst/>
              <a:gdLst/>
              <a:ahLst/>
              <a:cxnLst/>
              <a:rect r="r" b="b" t="t" l="l"/>
              <a:pathLst>
                <a:path h="1920240" w="6035040">
                  <a:moveTo>
                    <a:pt x="0" y="0"/>
                  </a:moveTo>
                  <a:lnTo>
                    <a:pt x="6035040" y="0"/>
                  </a:lnTo>
                  <a:lnTo>
                    <a:pt x="6035040" y="1920240"/>
                  </a:lnTo>
                  <a:lnTo>
                    <a:pt x="0" y="1920240"/>
                  </a:lnTo>
                  <a:close/>
                </a:path>
              </a:pathLst>
            </a:custGeom>
            <a:blipFill>
              <a:blip r:embed="rId3">
                <a:alphaModFix amt="0"/>
              </a:blip>
              <a:stretch>
                <a:fillRect l="0" t="-11238" r="0" b="-11238"/>
              </a:stretch>
            </a:blipFill>
          </p:spPr>
        </p:sp>
        <p:sp>
          <p:nvSpPr>
            <p:cNvPr name="TextBox 55" id="55"/>
            <p:cNvSpPr txBox="true"/>
            <p:nvPr/>
          </p:nvSpPr>
          <p:spPr>
            <a:xfrm>
              <a:off x="0" y="-104775"/>
              <a:ext cx="6035040" cy="2025015"/>
            </a:xfrm>
            <a:prstGeom prst="rect">
              <a:avLst/>
            </a:prstGeom>
          </p:spPr>
          <p:txBody>
            <a:bodyPr anchor="ctr" rtlCol="false" tIns="0" lIns="0" bIns="0" rIns="0"/>
            <a:lstStyle/>
            <a:p>
              <a:pPr algn="l">
                <a:lnSpc>
                  <a:spcPts val="3150"/>
                </a:lnSpc>
              </a:pPr>
              <a:r>
                <a:rPr lang="en-US" sz="2100">
                  <a:solidFill>
                    <a:srgbClr val="FFFFFF"/>
                  </a:solidFill>
                  <a:latin typeface="Consolas"/>
                  <a:ea typeface="Consolas"/>
                  <a:cs typeface="Consolas"/>
                  <a:sym typeface="Consolas"/>
                </a:rPr>
                <a:t>P1 = [ 2.10, -3.40 ]</a:t>
              </a:r>
            </a:p>
            <a:p>
              <a:pPr algn="l">
                <a:lnSpc>
                  <a:spcPts val="3150"/>
                </a:lnSpc>
              </a:pPr>
              <a:r>
                <a:rPr lang="en-US" sz="2100">
                  <a:solidFill>
                    <a:srgbClr val="FFFFFF"/>
                  </a:solidFill>
                  <a:latin typeface="Consolas"/>
                  <a:ea typeface="Consolas"/>
                  <a:cs typeface="Consolas"/>
                  <a:sym typeface="Consolas"/>
                </a:rPr>
                <a:t>P2 = [-1.05,  0.90 ]</a:t>
              </a:r>
            </a:p>
            <a:p>
              <a:pPr algn="l">
                <a:lnSpc>
                  <a:spcPts val="3150"/>
                </a:lnSpc>
              </a:pPr>
              <a:r>
                <a:rPr lang="en-US" sz="2100">
                  <a:solidFill>
                    <a:srgbClr val="FFFFFF"/>
                  </a:solidFill>
                  <a:latin typeface="Consolas"/>
                  <a:ea typeface="Consolas"/>
                  <a:cs typeface="Consolas"/>
                  <a:sym typeface="Consolas"/>
                </a:rPr>
                <a:t>→ C1 = [ 2.10,  0.90 ]</a:t>
              </a:r>
            </a:p>
            <a:p>
              <a:pPr algn="l">
                <a:lnSpc>
                  <a:spcPts val="3150"/>
                </a:lnSpc>
              </a:pPr>
              <a:r>
                <a:rPr lang="en-US" sz="2100">
                  <a:solidFill>
                    <a:srgbClr val="FFFFFF"/>
                  </a:solidFill>
                  <a:latin typeface="Consolas"/>
                  <a:ea typeface="Consolas"/>
                  <a:cs typeface="Consolas"/>
                  <a:sym typeface="Consolas"/>
                </a:rPr>
                <a:t>→ C2 = [-1.05, -3.40 ]</a:t>
              </a:r>
            </a:p>
          </p:txBody>
        </p:sp>
      </p:grpSp>
      <p:grpSp>
        <p:nvGrpSpPr>
          <p:cNvPr name="Group 56" id="56"/>
          <p:cNvGrpSpPr/>
          <p:nvPr/>
        </p:nvGrpSpPr>
        <p:grpSpPr>
          <a:xfrm rot="0">
            <a:off x="6693408" y="6652260"/>
            <a:ext cx="4855464" cy="1234440"/>
            <a:chOff x="0" y="0"/>
            <a:chExt cx="6473952" cy="1645920"/>
          </a:xfrm>
        </p:grpSpPr>
        <p:sp>
          <p:nvSpPr>
            <p:cNvPr name="Freeform 57" id="57"/>
            <p:cNvSpPr/>
            <p:nvPr/>
          </p:nvSpPr>
          <p:spPr>
            <a:xfrm flipH="false" flipV="false" rot="0">
              <a:off x="0" y="0"/>
              <a:ext cx="6473952" cy="1645920"/>
            </a:xfrm>
            <a:custGeom>
              <a:avLst/>
              <a:gdLst/>
              <a:ahLst/>
              <a:cxnLst/>
              <a:rect r="r" b="b" t="t" l="l"/>
              <a:pathLst>
                <a:path h="1645920" w="6473952">
                  <a:moveTo>
                    <a:pt x="0" y="0"/>
                  </a:moveTo>
                  <a:lnTo>
                    <a:pt x="6473952" y="0"/>
                  </a:lnTo>
                  <a:lnTo>
                    <a:pt x="6473952" y="1645920"/>
                  </a:lnTo>
                  <a:lnTo>
                    <a:pt x="0" y="1645920"/>
                  </a:lnTo>
                  <a:close/>
                </a:path>
              </a:pathLst>
            </a:custGeom>
            <a:blipFill>
              <a:blip r:embed="rId3">
                <a:alphaModFix amt="0"/>
              </a:blip>
              <a:stretch>
                <a:fillRect l="0" t="-26641" r="0" b="-26641"/>
              </a:stretch>
            </a:blipFill>
          </p:spPr>
        </p:sp>
        <p:sp>
          <p:nvSpPr>
            <p:cNvPr name="TextBox 58" id="58"/>
            <p:cNvSpPr txBox="true"/>
            <p:nvPr/>
          </p:nvSpPr>
          <p:spPr>
            <a:xfrm>
              <a:off x="0" y="-95250"/>
              <a:ext cx="6473952" cy="1741170"/>
            </a:xfrm>
            <a:prstGeom prst="rect">
              <a:avLst/>
            </a:prstGeom>
          </p:spPr>
          <p:txBody>
            <a:bodyPr anchor="ctr" rtlCol="false" tIns="0" lIns="0" bIns="0" rIns="0"/>
            <a:lstStyle/>
            <a:p>
              <a:pPr algn="l">
                <a:lnSpc>
                  <a:spcPts val="3024"/>
                </a:lnSpc>
              </a:pPr>
              <a:r>
                <a:rPr lang="en-US" sz="2100">
                  <a:solidFill>
                    <a:srgbClr val="5B6472"/>
                  </a:solidFill>
                  <a:latin typeface="Calibri (MS)"/>
                  <a:ea typeface="Calibri (MS)"/>
                  <a:cs typeface="Calibri (MS)"/>
                  <a:sym typeface="Calibri (MS)"/>
                </a:rPr>
                <a:t>Roll &lt; 0.8 → crossover fires and children replace the parents; roll ≥ 0.8 → parents pass through unchanged (copied as-is).</a:t>
              </a:r>
            </a:p>
          </p:txBody>
        </p:sp>
      </p:grpSp>
      <p:grpSp>
        <p:nvGrpSpPr>
          <p:cNvPr name="Group 59" id="59"/>
          <p:cNvGrpSpPr/>
          <p:nvPr/>
        </p:nvGrpSpPr>
        <p:grpSpPr>
          <a:xfrm rot="0">
            <a:off x="6693408" y="8092440"/>
            <a:ext cx="4855464" cy="1234440"/>
            <a:chOff x="0" y="0"/>
            <a:chExt cx="6473952" cy="1645920"/>
          </a:xfrm>
        </p:grpSpPr>
        <p:sp>
          <p:nvSpPr>
            <p:cNvPr name="Freeform 60" id="60"/>
            <p:cNvSpPr/>
            <p:nvPr/>
          </p:nvSpPr>
          <p:spPr>
            <a:xfrm flipH="false" flipV="false" rot="0">
              <a:off x="0" y="0"/>
              <a:ext cx="6473952" cy="1645920"/>
            </a:xfrm>
            <a:custGeom>
              <a:avLst/>
              <a:gdLst/>
              <a:ahLst/>
              <a:cxnLst/>
              <a:rect r="r" b="b" t="t" l="l"/>
              <a:pathLst>
                <a:path h="1645920" w="6473952">
                  <a:moveTo>
                    <a:pt x="0" y="0"/>
                  </a:moveTo>
                  <a:lnTo>
                    <a:pt x="6473952" y="0"/>
                  </a:lnTo>
                  <a:lnTo>
                    <a:pt x="6473952" y="1645920"/>
                  </a:lnTo>
                  <a:lnTo>
                    <a:pt x="0" y="1645920"/>
                  </a:lnTo>
                  <a:close/>
                </a:path>
              </a:pathLst>
            </a:custGeom>
            <a:blipFill>
              <a:blip r:embed="rId3">
                <a:alphaModFix amt="0"/>
              </a:blip>
              <a:stretch>
                <a:fillRect l="0" t="-26641" r="0" b="-26641"/>
              </a:stretch>
            </a:blipFill>
          </p:spPr>
        </p:sp>
        <p:sp>
          <p:nvSpPr>
            <p:cNvPr name="TextBox 61" id="61"/>
            <p:cNvSpPr txBox="true"/>
            <p:nvPr/>
          </p:nvSpPr>
          <p:spPr>
            <a:xfrm>
              <a:off x="0" y="-95250"/>
              <a:ext cx="6473952" cy="1741170"/>
            </a:xfrm>
            <a:prstGeom prst="rect">
              <a:avLst/>
            </a:prstGeom>
          </p:spPr>
          <p:txBody>
            <a:bodyPr anchor="ctr" rtlCol="false" tIns="0" lIns="0" bIns="0" rIns="0"/>
            <a:lstStyle/>
            <a:p>
              <a:pPr algn="l">
                <a:lnSpc>
                  <a:spcPts val="3024"/>
                </a:lnSpc>
              </a:pPr>
              <a:r>
                <a:rPr lang="en-US" sz="2100" i="true">
                  <a:solidFill>
                    <a:srgbClr val="5B6472"/>
                  </a:solidFill>
                  <a:latin typeface="Calibri (MS) Italics"/>
                  <a:ea typeface="Calibri (MS) Italics"/>
                  <a:cs typeface="Calibri (MS) Italics"/>
                  <a:sym typeface="Calibri (MS) Italics"/>
                </a:rPr>
                <a:t>This mixes x1 from one parent with x2 from another — the only recombination possible with a 2-gene, real-valued chromosome.</a:t>
              </a:r>
            </a:p>
          </p:txBody>
        </p:sp>
      </p:grpSp>
      <p:grpSp>
        <p:nvGrpSpPr>
          <p:cNvPr name="Group 62" id="62"/>
          <p:cNvGrpSpPr/>
          <p:nvPr/>
        </p:nvGrpSpPr>
        <p:grpSpPr>
          <a:xfrm rot="0">
            <a:off x="12060555" y="2390775"/>
            <a:ext cx="5368290" cy="7082790"/>
            <a:chOff x="0" y="0"/>
            <a:chExt cx="7157720" cy="9443720"/>
          </a:xfrm>
        </p:grpSpPr>
        <p:sp>
          <p:nvSpPr>
            <p:cNvPr name="Freeform 63" id="63"/>
            <p:cNvSpPr/>
            <p:nvPr/>
          </p:nvSpPr>
          <p:spPr>
            <a:xfrm flipH="false" flipV="false" rot="0">
              <a:off x="0" y="0"/>
              <a:ext cx="7157720" cy="9443720"/>
            </a:xfrm>
            <a:custGeom>
              <a:avLst/>
              <a:gdLst/>
              <a:ahLst/>
              <a:cxnLst/>
              <a:rect r="r" b="b" t="t" l="l"/>
              <a:pathLst>
                <a:path h="9443720" w="7157720">
                  <a:moveTo>
                    <a:pt x="0" y="146812"/>
                  </a:moveTo>
                  <a:cubicBezTo>
                    <a:pt x="0" y="65786"/>
                    <a:pt x="65786" y="0"/>
                    <a:pt x="146812" y="0"/>
                  </a:cubicBezTo>
                  <a:lnTo>
                    <a:pt x="7010908" y="0"/>
                  </a:lnTo>
                  <a:cubicBezTo>
                    <a:pt x="7091934" y="0"/>
                    <a:pt x="7157720" y="65786"/>
                    <a:pt x="7157720" y="146812"/>
                  </a:cubicBezTo>
                  <a:lnTo>
                    <a:pt x="7157720" y="9296908"/>
                  </a:lnTo>
                  <a:cubicBezTo>
                    <a:pt x="7157720" y="9377934"/>
                    <a:pt x="7091934" y="9443720"/>
                    <a:pt x="7010908" y="9443720"/>
                  </a:cubicBezTo>
                  <a:lnTo>
                    <a:pt x="146812" y="9443720"/>
                  </a:lnTo>
                  <a:cubicBezTo>
                    <a:pt x="65786" y="9443720"/>
                    <a:pt x="0" y="9377934"/>
                    <a:pt x="0" y="9296908"/>
                  </a:cubicBezTo>
                  <a:close/>
                </a:path>
              </a:pathLst>
            </a:custGeom>
            <a:solidFill>
              <a:srgbClr val="FFFFFF"/>
            </a:solidFill>
            <a:ln w="19050" cap="sq">
              <a:solidFill>
                <a:srgbClr val="E3E9EE"/>
              </a:solidFill>
              <a:prstDash val="solid"/>
              <a:miter/>
            </a:ln>
          </p:spPr>
        </p:sp>
      </p:grpSp>
      <p:grpSp>
        <p:nvGrpSpPr>
          <p:cNvPr name="Group 64" id="64"/>
          <p:cNvGrpSpPr/>
          <p:nvPr/>
        </p:nvGrpSpPr>
        <p:grpSpPr>
          <a:xfrm rot="0">
            <a:off x="12070080" y="2400300"/>
            <a:ext cx="5349240" cy="685800"/>
            <a:chOff x="0" y="0"/>
            <a:chExt cx="7132320" cy="914400"/>
          </a:xfrm>
        </p:grpSpPr>
        <p:sp>
          <p:nvSpPr>
            <p:cNvPr name="Freeform 65" id="65"/>
            <p:cNvSpPr/>
            <p:nvPr/>
          </p:nvSpPr>
          <p:spPr>
            <a:xfrm flipH="false" flipV="false" rot="0">
              <a:off x="0" y="0"/>
              <a:ext cx="7132320" cy="914400"/>
            </a:xfrm>
            <a:custGeom>
              <a:avLst/>
              <a:gdLst/>
              <a:ahLst/>
              <a:cxnLst/>
              <a:rect r="r" b="b" t="t" l="l"/>
              <a:pathLst>
                <a:path h="914400" w="7132320">
                  <a:moveTo>
                    <a:pt x="0" y="0"/>
                  </a:moveTo>
                  <a:lnTo>
                    <a:pt x="7132320" y="0"/>
                  </a:lnTo>
                  <a:lnTo>
                    <a:pt x="7132320" y="914400"/>
                  </a:lnTo>
                  <a:lnTo>
                    <a:pt x="0" y="914400"/>
                  </a:lnTo>
                  <a:close/>
                </a:path>
              </a:pathLst>
            </a:custGeom>
            <a:solidFill>
              <a:srgbClr val="0B2A4A"/>
            </a:solidFill>
          </p:spPr>
        </p:sp>
      </p:grpSp>
      <p:grpSp>
        <p:nvGrpSpPr>
          <p:cNvPr name="Group 66" id="66"/>
          <p:cNvGrpSpPr/>
          <p:nvPr/>
        </p:nvGrpSpPr>
        <p:grpSpPr>
          <a:xfrm rot="0">
            <a:off x="12316968" y="2400300"/>
            <a:ext cx="4855464" cy="685800"/>
            <a:chOff x="0" y="0"/>
            <a:chExt cx="6473952" cy="914400"/>
          </a:xfrm>
        </p:grpSpPr>
        <p:sp>
          <p:nvSpPr>
            <p:cNvPr name="Freeform 67" id="67"/>
            <p:cNvSpPr/>
            <p:nvPr/>
          </p:nvSpPr>
          <p:spPr>
            <a:xfrm flipH="false" flipV="false" rot="0">
              <a:off x="0" y="0"/>
              <a:ext cx="6473952" cy="914400"/>
            </a:xfrm>
            <a:custGeom>
              <a:avLst/>
              <a:gdLst/>
              <a:ahLst/>
              <a:cxnLst/>
              <a:rect r="r" b="b" t="t" l="l"/>
              <a:pathLst>
                <a:path h="914400" w="6473952">
                  <a:moveTo>
                    <a:pt x="0" y="0"/>
                  </a:moveTo>
                  <a:lnTo>
                    <a:pt x="6473952" y="0"/>
                  </a:lnTo>
                  <a:lnTo>
                    <a:pt x="6473952" y="914400"/>
                  </a:lnTo>
                  <a:lnTo>
                    <a:pt x="0" y="914400"/>
                  </a:lnTo>
                  <a:close/>
                </a:path>
              </a:pathLst>
            </a:custGeom>
            <a:blipFill>
              <a:blip r:embed="rId3">
                <a:alphaModFix amt="0"/>
              </a:blip>
              <a:stretch>
                <a:fillRect l="0" t="-87954" r="0" b="-87954"/>
              </a:stretch>
            </a:blipFill>
          </p:spPr>
        </p:sp>
        <p:sp>
          <p:nvSpPr>
            <p:cNvPr name="TextBox 68" id="68"/>
            <p:cNvSpPr txBox="true"/>
            <p:nvPr/>
          </p:nvSpPr>
          <p:spPr>
            <a:xfrm>
              <a:off x="0" y="-9525"/>
              <a:ext cx="6473952" cy="923925"/>
            </a:xfrm>
            <a:prstGeom prst="rect">
              <a:avLst/>
            </a:prstGeom>
          </p:spPr>
          <p:txBody>
            <a:bodyPr anchor="ctr" rtlCol="false" tIns="0" lIns="0" bIns="0" rIns="0"/>
            <a:lstStyle/>
            <a:p>
              <a:pPr algn="l">
                <a:lnSpc>
                  <a:spcPts val="2879"/>
                </a:lnSpc>
              </a:pPr>
              <a:r>
                <a:rPr lang="en-US" sz="2400" b="true">
                  <a:solidFill>
                    <a:srgbClr val="FFFFFF"/>
                  </a:solidFill>
                  <a:latin typeface="Cambria Bold"/>
                  <a:ea typeface="Cambria Bold"/>
                  <a:cs typeface="Cambria Bold"/>
                  <a:sym typeface="Cambria Bold"/>
                </a:rPr>
                <a:t>3 · Mutation</a:t>
              </a:r>
            </a:p>
          </p:txBody>
        </p:sp>
      </p:grpSp>
      <p:grpSp>
        <p:nvGrpSpPr>
          <p:cNvPr name="Group 69" id="69"/>
          <p:cNvGrpSpPr/>
          <p:nvPr/>
        </p:nvGrpSpPr>
        <p:grpSpPr>
          <a:xfrm rot="0">
            <a:off x="12316968" y="3250692"/>
            <a:ext cx="4855464" cy="417854"/>
            <a:chOff x="0" y="0"/>
            <a:chExt cx="6473952" cy="557139"/>
          </a:xfrm>
        </p:grpSpPr>
        <p:sp>
          <p:nvSpPr>
            <p:cNvPr name="Freeform 70" id="70"/>
            <p:cNvSpPr/>
            <p:nvPr/>
          </p:nvSpPr>
          <p:spPr>
            <a:xfrm flipH="false" flipV="false" rot="0">
              <a:off x="0" y="0"/>
              <a:ext cx="6473952" cy="557139"/>
            </a:xfrm>
            <a:custGeom>
              <a:avLst/>
              <a:gdLst/>
              <a:ahLst/>
              <a:cxnLst/>
              <a:rect r="r" b="b" t="t" l="l"/>
              <a:pathLst>
                <a:path h="557139" w="6473952">
                  <a:moveTo>
                    <a:pt x="0" y="0"/>
                  </a:moveTo>
                  <a:lnTo>
                    <a:pt x="6473952" y="0"/>
                  </a:lnTo>
                  <a:lnTo>
                    <a:pt x="6473952" y="557139"/>
                  </a:lnTo>
                  <a:lnTo>
                    <a:pt x="0" y="557139"/>
                  </a:lnTo>
                  <a:close/>
                </a:path>
              </a:pathLst>
            </a:custGeom>
            <a:blipFill>
              <a:blip r:embed="rId3">
                <a:alphaModFix amt="0"/>
              </a:blip>
              <a:stretch>
                <a:fillRect l="0" t="-177178" r="0" b="-175653"/>
              </a:stretch>
            </a:blipFill>
          </p:spPr>
        </p:sp>
        <p:sp>
          <p:nvSpPr>
            <p:cNvPr name="TextBox 71" id="71"/>
            <p:cNvSpPr txBox="true"/>
            <p:nvPr/>
          </p:nvSpPr>
          <p:spPr>
            <a:xfrm>
              <a:off x="0" y="-47625"/>
              <a:ext cx="6473952" cy="604764"/>
            </a:xfrm>
            <a:prstGeom prst="rect">
              <a:avLst/>
            </a:prstGeom>
          </p:spPr>
          <p:txBody>
            <a:bodyPr anchor="ctr" rtlCol="false" tIns="0" lIns="0" bIns="0" rIns="0"/>
            <a:lstStyle/>
            <a:p>
              <a:pPr algn="l">
                <a:lnSpc>
                  <a:spcPts val="2520"/>
                </a:lnSpc>
              </a:pPr>
              <a:r>
                <a:rPr lang="en-US" sz="2100" b="true">
                  <a:solidFill>
                    <a:srgbClr val="0B2A4A"/>
                  </a:solidFill>
                  <a:latin typeface="Calibri (MS) Bold"/>
                  <a:ea typeface="Calibri (MS) Bold"/>
                  <a:cs typeface="Calibri (MS) Bold"/>
                  <a:sym typeface="Calibri (MS) Bold"/>
                </a:rPr>
                <a:t>One-gene Gaussian, applied with Pm = 0.05</a:t>
              </a:r>
            </a:p>
          </p:txBody>
        </p:sp>
      </p:grpSp>
      <p:grpSp>
        <p:nvGrpSpPr>
          <p:cNvPr name="Group 72" id="72"/>
          <p:cNvGrpSpPr/>
          <p:nvPr/>
        </p:nvGrpSpPr>
        <p:grpSpPr>
          <a:xfrm rot="0">
            <a:off x="12316968" y="3826764"/>
            <a:ext cx="329184" cy="329184"/>
            <a:chOff x="0" y="0"/>
            <a:chExt cx="438912" cy="438912"/>
          </a:xfrm>
        </p:grpSpPr>
        <p:sp>
          <p:nvSpPr>
            <p:cNvPr name="Freeform 73" id="73"/>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1C7293"/>
            </a:solidFill>
          </p:spPr>
        </p:sp>
      </p:grpSp>
      <p:grpSp>
        <p:nvGrpSpPr>
          <p:cNvPr name="Group 74" id="74"/>
          <p:cNvGrpSpPr/>
          <p:nvPr/>
        </p:nvGrpSpPr>
        <p:grpSpPr>
          <a:xfrm rot="0">
            <a:off x="12316968" y="3826764"/>
            <a:ext cx="329184" cy="329184"/>
            <a:chOff x="0" y="0"/>
            <a:chExt cx="438912" cy="438912"/>
          </a:xfrm>
        </p:grpSpPr>
        <p:sp>
          <p:nvSpPr>
            <p:cNvPr name="Freeform 75" id="75"/>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close/>
                </a:path>
              </a:pathLst>
            </a:custGeom>
            <a:blipFill>
              <a:blip r:embed="rId3">
                <a:alphaModFix amt="0"/>
              </a:blip>
              <a:stretch>
                <a:fillRect l="-78303" t="0" r="-78303" b="0"/>
              </a:stretch>
            </a:blipFill>
          </p:spPr>
        </p:sp>
        <p:sp>
          <p:nvSpPr>
            <p:cNvPr name="TextBox 76" id="76"/>
            <p:cNvSpPr txBox="true"/>
            <p:nvPr/>
          </p:nvSpPr>
          <p:spPr>
            <a:xfrm>
              <a:off x="0" y="-28575"/>
              <a:ext cx="438912" cy="467487"/>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1</a:t>
              </a:r>
            </a:p>
          </p:txBody>
        </p:sp>
      </p:grpSp>
      <p:grpSp>
        <p:nvGrpSpPr>
          <p:cNvPr name="Group 77" id="77"/>
          <p:cNvGrpSpPr/>
          <p:nvPr/>
        </p:nvGrpSpPr>
        <p:grpSpPr>
          <a:xfrm rot="0">
            <a:off x="12755880" y="3799332"/>
            <a:ext cx="4416552" cy="548640"/>
            <a:chOff x="0" y="0"/>
            <a:chExt cx="5888736" cy="731520"/>
          </a:xfrm>
        </p:grpSpPr>
        <p:sp>
          <p:nvSpPr>
            <p:cNvPr name="Freeform 78" id="78"/>
            <p:cNvSpPr/>
            <p:nvPr/>
          </p:nvSpPr>
          <p:spPr>
            <a:xfrm flipH="false" flipV="false" rot="0">
              <a:off x="0" y="0"/>
              <a:ext cx="5888736" cy="731520"/>
            </a:xfrm>
            <a:custGeom>
              <a:avLst/>
              <a:gdLst/>
              <a:ahLst/>
              <a:cxnLst/>
              <a:rect r="r" b="b" t="t" l="l"/>
              <a:pathLst>
                <a:path h="731520" w="5888736">
                  <a:moveTo>
                    <a:pt x="0" y="0"/>
                  </a:moveTo>
                  <a:lnTo>
                    <a:pt x="5888736" y="0"/>
                  </a:lnTo>
                  <a:lnTo>
                    <a:pt x="5888736" y="731520"/>
                  </a:lnTo>
                  <a:lnTo>
                    <a:pt x="0" y="731520"/>
                  </a:lnTo>
                  <a:close/>
                </a:path>
              </a:pathLst>
            </a:custGeom>
            <a:blipFill>
              <a:blip r:embed="rId3">
                <a:alphaModFix amt="0"/>
              </a:blip>
              <a:stretch>
                <a:fillRect l="0" t="-106854" r="0" b="-106854"/>
              </a:stretch>
            </a:blipFill>
          </p:spPr>
        </p:sp>
        <p:sp>
          <p:nvSpPr>
            <p:cNvPr name="TextBox 79" id="79"/>
            <p:cNvSpPr txBox="true"/>
            <p:nvPr/>
          </p:nvSpPr>
          <p:spPr>
            <a:xfrm>
              <a:off x="0" y="-47625"/>
              <a:ext cx="5888736" cy="779145"/>
            </a:xfrm>
            <a:prstGeom prst="rect">
              <a:avLst/>
            </a:prstGeom>
          </p:spPr>
          <p:txBody>
            <a:bodyPr anchor="ctr" rtlCol="false" tIns="0" lIns="0" bIns="0" rIns="0"/>
            <a:lstStyle/>
            <a:p>
              <a:pPr algn="l">
                <a:lnSpc>
                  <a:spcPts val="2178"/>
                </a:lnSpc>
              </a:pPr>
              <a:r>
                <a:rPr lang="en-US" sz="1650">
                  <a:solidFill>
                    <a:srgbClr val="1B1F27"/>
                  </a:solidFill>
                  <a:latin typeface="Calibri (MS)"/>
                  <a:ea typeface="Calibri (MS)"/>
                  <a:cs typeface="Calibri (MS)"/>
                  <a:sym typeface="Calibri (MS)"/>
                </a:rPr>
                <a:t>Copy the chromosome (never mutate the parent array in place).</a:t>
              </a:r>
            </a:p>
          </p:txBody>
        </p:sp>
      </p:grpSp>
      <p:grpSp>
        <p:nvGrpSpPr>
          <p:cNvPr name="Group 80" id="80"/>
          <p:cNvGrpSpPr/>
          <p:nvPr/>
        </p:nvGrpSpPr>
        <p:grpSpPr>
          <a:xfrm rot="0">
            <a:off x="12316968" y="4402836"/>
            <a:ext cx="329184" cy="329184"/>
            <a:chOff x="0" y="0"/>
            <a:chExt cx="438912" cy="438912"/>
          </a:xfrm>
        </p:grpSpPr>
        <p:sp>
          <p:nvSpPr>
            <p:cNvPr name="Freeform 81" id="81"/>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1C7293"/>
            </a:solidFill>
          </p:spPr>
        </p:sp>
      </p:grpSp>
      <p:grpSp>
        <p:nvGrpSpPr>
          <p:cNvPr name="Group 82" id="82"/>
          <p:cNvGrpSpPr/>
          <p:nvPr/>
        </p:nvGrpSpPr>
        <p:grpSpPr>
          <a:xfrm rot="0">
            <a:off x="12316968" y="4402836"/>
            <a:ext cx="329184" cy="329184"/>
            <a:chOff x="0" y="0"/>
            <a:chExt cx="438912" cy="438912"/>
          </a:xfrm>
        </p:grpSpPr>
        <p:sp>
          <p:nvSpPr>
            <p:cNvPr name="Freeform 83" id="83"/>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close/>
                </a:path>
              </a:pathLst>
            </a:custGeom>
            <a:blipFill>
              <a:blip r:embed="rId3">
                <a:alphaModFix amt="0"/>
              </a:blip>
              <a:stretch>
                <a:fillRect l="-78303" t="0" r="-78303" b="0"/>
              </a:stretch>
            </a:blipFill>
          </p:spPr>
        </p:sp>
        <p:sp>
          <p:nvSpPr>
            <p:cNvPr name="TextBox 84" id="84"/>
            <p:cNvSpPr txBox="true"/>
            <p:nvPr/>
          </p:nvSpPr>
          <p:spPr>
            <a:xfrm>
              <a:off x="0" y="-28575"/>
              <a:ext cx="438912" cy="467487"/>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2</a:t>
              </a:r>
            </a:p>
          </p:txBody>
        </p:sp>
      </p:grpSp>
      <p:grpSp>
        <p:nvGrpSpPr>
          <p:cNvPr name="Group 85" id="85"/>
          <p:cNvGrpSpPr/>
          <p:nvPr/>
        </p:nvGrpSpPr>
        <p:grpSpPr>
          <a:xfrm rot="0">
            <a:off x="12755880" y="4375404"/>
            <a:ext cx="4416552" cy="548640"/>
            <a:chOff x="0" y="0"/>
            <a:chExt cx="5888736" cy="731520"/>
          </a:xfrm>
        </p:grpSpPr>
        <p:sp>
          <p:nvSpPr>
            <p:cNvPr name="Freeform 86" id="86"/>
            <p:cNvSpPr/>
            <p:nvPr/>
          </p:nvSpPr>
          <p:spPr>
            <a:xfrm flipH="false" flipV="false" rot="0">
              <a:off x="0" y="0"/>
              <a:ext cx="5888736" cy="731520"/>
            </a:xfrm>
            <a:custGeom>
              <a:avLst/>
              <a:gdLst/>
              <a:ahLst/>
              <a:cxnLst/>
              <a:rect r="r" b="b" t="t" l="l"/>
              <a:pathLst>
                <a:path h="731520" w="5888736">
                  <a:moveTo>
                    <a:pt x="0" y="0"/>
                  </a:moveTo>
                  <a:lnTo>
                    <a:pt x="5888736" y="0"/>
                  </a:lnTo>
                  <a:lnTo>
                    <a:pt x="5888736" y="731520"/>
                  </a:lnTo>
                  <a:lnTo>
                    <a:pt x="0" y="731520"/>
                  </a:lnTo>
                  <a:close/>
                </a:path>
              </a:pathLst>
            </a:custGeom>
            <a:blipFill>
              <a:blip r:embed="rId3">
                <a:alphaModFix amt="0"/>
              </a:blip>
              <a:stretch>
                <a:fillRect l="0" t="-106854" r="0" b="-106854"/>
              </a:stretch>
            </a:blipFill>
          </p:spPr>
        </p:sp>
        <p:sp>
          <p:nvSpPr>
            <p:cNvPr name="TextBox 87" id="87"/>
            <p:cNvSpPr txBox="true"/>
            <p:nvPr/>
          </p:nvSpPr>
          <p:spPr>
            <a:xfrm>
              <a:off x="0" y="-47625"/>
              <a:ext cx="5888736" cy="779145"/>
            </a:xfrm>
            <a:prstGeom prst="rect">
              <a:avLst/>
            </a:prstGeom>
          </p:spPr>
          <p:txBody>
            <a:bodyPr anchor="ctr" rtlCol="false" tIns="0" lIns="0" bIns="0" rIns="0"/>
            <a:lstStyle/>
            <a:p>
              <a:pPr algn="l">
                <a:lnSpc>
                  <a:spcPts val="2178"/>
                </a:lnSpc>
              </a:pPr>
              <a:r>
                <a:rPr lang="en-US" sz="1650">
                  <a:solidFill>
                    <a:srgbClr val="1B1F27"/>
                  </a:solidFill>
                  <a:latin typeface="Calibri (MS)"/>
                  <a:ea typeface="Calibri (MS)"/>
                  <a:cs typeface="Calibri (MS)"/>
                  <a:sym typeface="Calibri (MS)"/>
                </a:rPr>
                <a:t>Pick one of the 2 gene indexes at random.</a:t>
              </a:r>
            </a:p>
          </p:txBody>
        </p:sp>
      </p:grpSp>
      <p:grpSp>
        <p:nvGrpSpPr>
          <p:cNvPr name="Group 88" id="88"/>
          <p:cNvGrpSpPr/>
          <p:nvPr/>
        </p:nvGrpSpPr>
        <p:grpSpPr>
          <a:xfrm rot="0">
            <a:off x="12316968" y="4978908"/>
            <a:ext cx="329184" cy="329184"/>
            <a:chOff x="0" y="0"/>
            <a:chExt cx="438912" cy="438912"/>
          </a:xfrm>
        </p:grpSpPr>
        <p:sp>
          <p:nvSpPr>
            <p:cNvPr name="Freeform 89" id="89"/>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1C7293"/>
            </a:solidFill>
          </p:spPr>
        </p:sp>
      </p:grpSp>
      <p:grpSp>
        <p:nvGrpSpPr>
          <p:cNvPr name="Group 90" id="90"/>
          <p:cNvGrpSpPr/>
          <p:nvPr/>
        </p:nvGrpSpPr>
        <p:grpSpPr>
          <a:xfrm rot="0">
            <a:off x="12316968" y="4978908"/>
            <a:ext cx="329184" cy="329184"/>
            <a:chOff x="0" y="0"/>
            <a:chExt cx="438912" cy="438912"/>
          </a:xfrm>
        </p:grpSpPr>
        <p:sp>
          <p:nvSpPr>
            <p:cNvPr name="Freeform 91" id="91"/>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close/>
                </a:path>
              </a:pathLst>
            </a:custGeom>
            <a:blipFill>
              <a:blip r:embed="rId3">
                <a:alphaModFix amt="0"/>
              </a:blip>
              <a:stretch>
                <a:fillRect l="-78303" t="0" r="-78303" b="0"/>
              </a:stretch>
            </a:blipFill>
          </p:spPr>
        </p:sp>
        <p:sp>
          <p:nvSpPr>
            <p:cNvPr name="TextBox 92" id="92"/>
            <p:cNvSpPr txBox="true"/>
            <p:nvPr/>
          </p:nvSpPr>
          <p:spPr>
            <a:xfrm>
              <a:off x="0" y="-38100"/>
              <a:ext cx="438912" cy="47701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3</a:t>
              </a:r>
            </a:p>
          </p:txBody>
        </p:sp>
      </p:grpSp>
      <p:grpSp>
        <p:nvGrpSpPr>
          <p:cNvPr name="Group 93" id="93"/>
          <p:cNvGrpSpPr/>
          <p:nvPr/>
        </p:nvGrpSpPr>
        <p:grpSpPr>
          <a:xfrm rot="0">
            <a:off x="12755880" y="4951476"/>
            <a:ext cx="4416552" cy="548640"/>
            <a:chOff x="0" y="0"/>
            <a:chExt cx="5888736" cy="731520"/>
          </a:xfrm>
        </p:grpSpPr>
        <p:sp>
          <p:nvSpPr>
            <p:cNvPr name="Freeform 94" id="94"/>
            <p:cNvSpPr/>
            <p:nvPr/>
          </p:nvSpPr>
          <p:spPr>
            <a:xfrm flipH="false" flipV="false" rot="0">
              <a:off x="0" y="0"/>
              <a:ext cx="5888736" cy="731520"/>
            </a:xfrm>
            <a:custGeom>
              <a:avLst/>
              <a:gdLst/>
              <a:ahLst/>
              <a:cxnLst/>
              <a:rect r="r" b="b" t="t" l="l"/>
              <a:pathLst>
                <a:path h="731520" w="5888736">
                  <a:moveTo>
                    <a:pt x="0" y="0"/>
                  </a:moveTo>
                  <a:lnTo>
                    <a:pt x="5888736" y="0"/>
                  </a:lnTo>
                  <a:lnTo>
                    <a:pt x="5888736" y="731520"/>
                  </a:lnTo>
                  <a:lnTo>
                    <a:pt x="0" y="731520"/>
                  </a:lnTo>
                  <a:close/>
                </a:path>
              </a:pathLst>
            </a:custGeom>
            <a:blipFill>
              <a:blip r:embed="rId3">
                <a:alphaModFix amt="0"/>
              </a:blip>
              <a:stretch>
                <a:fillRect l="0" t="-106854" r="0" b="-106854"/>
              </a:stretch>
            </a:blipFill>
          </p:spPr>
        </p:sp>
        <p:sp>
          <p:nvSpPr>
            <p:cNvPr name="TextBox 95" id="95"/>
            <p:cNvSpPr txBox="true"/>
            <p:nvPr/>
          </p:nvSpPr>
          <p:spPr>
            <a:xfrm>
              <a:off x="0" y="-57150"/>
              <a:ext cx="5888736" cy="788670"/>
            </a:xfrm>
            <a:prstGeom prst="rect">
              <a:avLst/>
            </a:prstGeom>
          </p:spPr>
          <p:txBody>
            <a:bodyPr anchor="ctr" rtlCol="false" tIns="0" lIns="0" bIns="0" rIns="0"/>
            <a:lstStyle/>
            <a:p>
              <a:pPr algn="l">
                <a:lnSpc>
                  <a:spcPts val="2376"/>
                </a:lnSpc>
              </a:pPr>
              <a:r>
                <a:rPr lang="en-US" sz="1800">
                  <a:solidFill>
                    <a:srgbClr val="1B1F27"/>
                  </a:solidFill>
                  <a:latin typeface="Calibri (MS)"/>
                  <a:ea typeface="Calibri (MS)"/>
                  <a:cs typeface="Calibri (MS)"/>
                  <a:sym typeface="Calibri (MS)"/>
                </a:rPr>
                <a:t>Draw Δ ~ N(0, σ²) with σ = 0.5.</a:t>
              </a:r>
            </a:p>
          </p:txBody>
        </p:sp>
      </p:grpSp>
      <p:grpSp>
        <p:nvGrpSpPr>
          <p:cNvPr name="Group 96" id="96"/>
          <p:cNvGrpSpPr/>
          <p:nvPr/>
        </p:nvGrpSpPr>
        <p:grpSpPr>
          <a:xfrm rot="0">
            <a:off x="12316968" y="5554980"/>
            <a:ext cx="329184" cy="329184"/>
            <a:chOff x="0" y="0"/>
            <a:chExt cx="438912" cy="438912"/>
          </a:xfrm>
        </p:grpSpPr>
        <p:sp>
          <p:nvSpPr>
            <p:cNvPr name="Freeform 97" id="97"/>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1C7293"/>
            </a:solidFill>
          </p:spPr>
        </p:sp>
      </p:grpSp>
      <p:grpSp>
        <p:nvGrpSpPr>
          <p:cNvPr name="Group 98" id="98"/>
          <p:cNvGrpSpPr/>
          <p:nvPr/>
        </p:nvGrpSpPr>
        <p:grpSpPr>
          <a:xfrm rot="0">
            <a:off x="12316968" y="5554980"/>
            <a:ext cx="329184" cy="329184"/>
            <a:chOff x="0" y="0"/>
            <a:chExt cx="438912" cy="438912"/>
          </a:xfrm>
        </p:grpSpPr>
        <p:sp>
          <p:nvSpPr>
            <p:cNvPr name="Freeform 99" id="99"/>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close/>
                </a:path>
              </a:pathLst>
            </a:custGeom>
            <a:blipFill>
              <a:blip r:embed="rId3">
                <a:alphaModFix amt="0"/>
              </a:blip>
              <a:stretch>
                <a:fillRect l="-78303" t="0" r="-78303" b="0"/>
              </a:stretch>
            </a:blipFill>
          </p:spPr>
        </p:sp>
        <p:sp>
          <p:nvSpPr>
            <p:cNvPr name="TextBox 100" id="100"/>
            <p:cNvSpPr txBox="true"/>
            <p:nvPr/>
          </p:nvSpPr>
          <p:spPr>
            <a:xfrm>
              <a:off x="0" y="-38100"/>
              <a:ext cx="438912" cy="47701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4</a:t>
              </a:r>
            </a:p>
          </p:txBody>
        </p:sp>
      </p:grpSp>
      <p:grpSp>
        <p:nvGrpSpPr>
          <p:cNvPr name="Group 101" id="101"/>
          <p:cNvGrpSpPr/>
          <p:nvPr/>
        </p:nvGrpSpPr>
        <p:grpSpPr>
          <a:xfrm rot="0">
            <a:off x="12755880" y="5527548"/>
            <a:ext cx="4416552" cy="548640"/>
            <a:chOff x="0" y="0"/>
            <a:chExt cx="5888736" cy="731520"/>
          </a:xfrm>
        </p:grpSpPr>
        <p:sp>
          <p:nvSpPr>
            <p:cNvPr name="Freeform 102" id="102"/>
            <p:cNvSpPr/>
            <p:nvPr/>
          </p:nvSpPr>
          <p:spPr>
            <a:xfrm flipH="false" flipV="false" rot="0">
              <a:off x="0" y="0"/>
              <a:ext cx="5888736" cy="731520"/>
            </a:xfrm>
            <a:custGeom>
              <a:avLst/>
              <a:gdLst/>
              <a:ahLst/>
              <a:cxnLst/>
              <a:rect r="r" b="b" t="t" l="l"/>
              <a:pathLst>
                <a:path h="731520" w="5888736">
                  <a:moveTo>
                    <a:pt x="0" y="0"/>
                  </a:moveTo>
                  <a:lnTo>
                    <a:pt x="5888736" y="0"/>
                  </a:lnTo>
                  <a:lnTo>
                    <a:pt x="5888736" y="731520"/>
                  </a:lnTo>
                  <a:lnTo>
                    <a:pt x="0" y="731520"/>
                  </a:lnTo>
                  <a:close/>
                </a:path>
              </a:pathLst>
            </a:custGeom>
            <a:blipFill>
              <a:blip r:embed="rId3">
                <a:alphaModFix amt="0"/>
              </a:blip>
              <a:stretch>
                <a:fillRect l="0" t="-106854" r="0" b="-106854"/>
              </a:stretch>
            </a:blipFill>
          </p:spPr>
        </p:sp>
        <p:sp>
          <p:nvSpPr>
            <p:cNvPr name="TextBox 103" id="103"/>
            <p:cNvSpPr txBox="true"/>
            <p:nvPr/>
          </p:nvSpPr>
          <p:spPr>
            <a:xfrm>
              <a:off x="0" y="-57150"/>
              <a:ext cx="5888736" cy="788670"/>
            </a:xfrm>
            <a:prstGeom prst="rect">
              <a:avLst/>
            </a:prstGeom>
          </p:spPr>
          <p:txBody>
            <a:bodyPr anchor="ctr" rtlCol="false" tIns="0" lIns="0" bIns="0" rIns="0"/>
            <a:lstStyle/>
            <a:p>
              <a:pPr algn="l">
                <a:lnSpc>
                  <a:spcPts val="2376"/>
                </a:lnSpc>
              </a:pPr>
              <a:r>
                <a:rPr lang="en-US" sz="1800">
                  <a:solidFill>
                    <a:srgbClr val="1B1F27"/>
                  </a:solidFill>
                  <a:latin typeface="Calibri (MS)"/>
                  <a:ea typeface="Calibri (MS)"/>
                  <a:cs typeface="Calibri (MS)"/>
                  <a:sym typeface="Calibri (MS)"/>
                </a:rPr>
                <a:t>Add Δ to the chosen gene only.</a:t>
              </a:r>
            </a:p>
          </p:txBody>
        </p:sp>
      </p:grpSp>
      <p:grpSp>
        <p:nvGrpSpPr>
          <p:cNvPr name="Group 104" id="104"/>
          <p:cNvGrpSpPr/>
          <p:nvPr/>
        </p:nvGrpSpPr>
        <p:grpSpPr>
          <a:xfrm rot="0">
            <a:off x="12316968" y="6131052"/>
            <a:ext cx="329184" cy="329184"/>
            <a:chOff x="0" y="0"/>
            <a:chExt cx="438912" cy="438912"/>
          </a:xfrm>
        </p:grpSpPr>
        <p:sp>
          <p:nvSpPr>
            <p:cNvPr name="Freeform 105" id="105"/>
            <p:cNvSpPr/>
            <p:nvPr/>
          </p:nvSpPr>
          <p:spPr>
            <a:xfrm flipH="false" flipV="false" rot="0">
              <a:off x="0" y="0"/>
              <a:ext cx="438912" cy="438912"/>
            </a:xfrm>
            <a:custGeom>
              <a:avLst/>
              <a:gdLst/>
              <a:ahLst/>
              <a:cxnLst/>
              <a:rect r="r" b="b" t="t" l="l"/>
              <a:pathLst>
                <a:path h="438912" w="438912">
                  <a:moveTo>
                    <a:pt x="0" y="219456"/>
                  </a:moveTo>
                  <a:cubicBezTo>
                    <a:pt x="0" y="98298"/>
                    <a:pt x="98298" y="0"/>
                    <a:pt x="219456" y="0"/>
                  </a:cubicBezTo>
                  <a:cubicBezTo>
                    <a:pt x="340614" y="0"/>
                    <a:pt x="438912" y="98298"/>
                    <a:pt x="438912" y="219456"/>
                  </a:cubicBezTo>
                  <a:cubicBezTo>
                    <a:pt x="438912" y="340614"/>
                    <a:pt x="340614" y="438912"/>
                    <a:pt x="219456" y="438912"/>
                  </a:cubicBezTo>
                  <a:cubicBezTo>
                    <a:pt x="98298" y="438912"/>
                    <a:pt x="0" y="340614"/>
                    <a:pt x="0" y="219456"/>
                  </a:cubicBezTo>
                  <a:close/>
                </a:path>
              </a:pathLst>
            </a:custGeom>
            <a:solidFill>
              <a:srgbClr val="1C7293"/>
            </a:solidFill>
          </p:spPr>
        </p:sp>
      </p:grpSp>
      <p:grpSp>
        <p:nvGrpSpPr>
          <p:cNvPr name="Group 106" id="106"/>
          <p:cNvGrpSpPr/>
          <p:nvPr/>
        </p:nvGrpSpPr>
        <p:grpSpPr>
          <a:xfrm rot="0">
            <a:off x="12316968" y="6131052"/>
            <a:ext cx="329184" cy="329184"/>
            <a:chOff x="0" y="0"/>
            <a:chExt cx="438912" cy="438912"/>
          </a:xfrm>
        </p:grpSpPr>
        <p:sp>
          <p:nvSpPr>
            <p:cNvPr name="Freeform 107" id="107"/>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close/>
                </a:path>
              </a:pathLst>
            </a:custGeom>
            <a:blipFill>
              <a:blip r:embed="rId3">
                <a:alphaModFix amt="0"/>
              </a:blip>
              <a:stretch>
                <a:fillRect l="-78303" t="0" r="-78303" b="0"/>
              </a:stretch>
            </a:blipFill>
          </p:spPr>
        </p:sp>
        <p:sp>
          <p:nvSpPr>
            <p:cNvPr name="TextBox 108" id="108"/>
            <p:cNvSpPr txBox="true"/>
            <p:nvPr/>
          </p:nvSpPr>
          <p:spPr>
            <a:xfrm>
              <a:off x="0" y="-38100"/>
              <a:ext cx="438912" cy="477012"/>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5</a:t>
              </a:r>
            </a:p>
          </p:txBody>
        </p:sp>
      </p:grpSp>
      <p:grpSp>
        <p:nvGrpSpPr>
          <p:cNvPr name="Group 109" id="109"/>
          <p:cNvGrpSpPr/>
          <p:nvPr/>
        </p:nvGrpSpPr>
        <p:grpSpPr>
          <a:xfrm rot="0">
            <a:off x="12755880" y="6103620"/>
            <a:ext cx="4416552" cy="548640"/>
            <a:chOff x="0" y="0"/>
            <a:chExt cx="5888736" cy="731520"/>
          </a:xfrm>
        </p:grpSpPr>
        <p:sp>
          <p:nvSpPr>
            <p:cNvPr name="Freeform 110" id="110"/>
            <p:cNvSpPr/>
            <p:nvPr/>
          </p:nvSpPr>
          <p:spPr>
            <a:xfrm flipH="false" flipV="false" rot="0">
              <a:off x="0" y="0"/>
              <a:ext cx="5888736" cy="731520"/>
            </a:xfrm>
            <a:custGeom>
              <a:avLst/>
              <a:gdLst/>
              <a:ahLst/>
              <a:cxnLst/>
              <a:rect r="r" b="b" t="t" l="l"/>
              <a:pathLst>
                <a:path h="731520" w="5888736">
                  <a:moveTo>
                    <a:pt x="0" y="0"/>
                  </a:moveTo>
                  <a:lnTo>
                    <a:pt x="5888736" y="0"/>
                  </a:lnTo>
                  <a:lnTo>
                    <a:pt x="5888736" y="731520"/>
                  </a:lnTo>
                  <a:lnTo>
                    <a:pt x="0" y="731520"/>
                  </a:lnTo>
                  <a:close/>
                </a:path>
              </a:pathLst>
            </a:custGeom>
            <a:blipFill>
              <a:blip r:embed="rId3">
                <a:alphaModFix amt="0"/>
              </a:blip>
              <a:stretch>
                <a:fillRect l="0" t="-106854" r="0" b="-106854"/>
              </a:stretch>
            </a:blipFill>
          </p:spPr>
        </p:sp>
        <p:sp>
          <p:nvSpPr>
            <p:cNvPr name="TextBox 111" id="111"/>
            <p:cNvSpPr txBox="true"/>
            <p:nvPr/>
          </p:nvSpPr>
          <p:spPr>
            <a:xfrm>
              <a:off x="0" y="-57150"/>
              <a:ext cx="5888736" cy="788670"/>
            </a:xfrm>
            <a:prstGeom prst="rect">
              <a:avLst/>
            </a:prstGeom>
          </p:spPr>
          <p:txBody>
            <a:bodyPr anchor="ctr" rtlCol="false" tIns="0" lIns="0" bIns="0" rIns="0"/>
            <a:lstStyle/>
            <a:p>
              <a:pPr algn="l">
                <a:lnSpc>
                  <a:spcPts val="2376"/>
                </a:lnSpc>
              </a:pPr>
              <a:r>
                <a:rPr lang="en-US" sz="1800">
                  <a:solidFill>
                    <a:srgbClr val="1B1F27"/>
                  </a:solidFill>
                  <a:latin typeface="Calibri (MS)"/>
                  <a:ea typeface="Calibri (MS)"/>
                  <a:cs typeface="Calibri (MS)"/>
                  <a:sym typeface="Calibri (MS)"/>
                </a:rPr>
                <a:t>Clip the result back into [-5, 5] with np.clip.</a:t>
              </a:r>
            </a:p>
          </p:txBody>
        </p:sp>
      </p:grpSp>
      <p:grpSp>
        <p:nvGrpSpPr>
          <p:cNvPr name="Group 112" id="112"/>
          <p:cNvGrpSpPr/>
          <p:nvPr/>
        </p:nvGrpSpPr>
        <p:grpSpPr>
          <a:xfrm rot="0">
            <a:off x="12316968" y="6858000"/>
            <a:ext cx="4855464" cy="1165860"/>
            <a:chOff x="0" y="0"/>
            <a:chExt cx="6473952" cy="1554480"/>
          </a:xfrm>
        </p:grpSpPr>
        <p:sp>
          <p:nvSpPr>
            <p:cNvPr name="Freeform 113" id="113"/>
            <p:cNvSpPr/>
            <p:nvPr/>
          </p:nvSpPr>
          <p:spPr>
            <a:xfrm flipH="false" flipV="false" rot="0">
              <a:off x="0" y="0"/>
              <a:ext cx="6473952" cy="1554480"/>
            </a:xfrm>
            <a:custGeom>
              <a:avLst/>
              <a:gdLst/>
              <a:ahLst/>
              <a:cxnLst/>
              <a:rect r="r" b="b" t="t" l="l"/>
              <a:pathLst>
                <a:path h="1554480" w="6473952">
                  <a:moveTo>
                    <a:pt x="0" y="91440"/>
                  </a:moveTo>
                  <a:cubicBezTo>
                    <a:pt x="0" y="40894"/>
                    <a:pt x="40894" y="0"/>
                    <a:pt x="91440" y="0"/>
                  </a:cubicBezTo>
                  <a:lnTo>
                    <a:pt x="6382512" y="0"/>
                  </a:lnTo>
                  <a:cubicBezTo>
                    <a:pt x="6433058" y="0"/>
                    <a:pt x="6473952" y="40894"/>
                    <a:pt x="6473952" y="91440"/>
                  </a:cubicBezTo>
                  <a:lnTo>
                    <a:pt x="6473952" y="1463040"/>
                  </a:lnTo>
                  <a:cubicBezTo>
                    <a:pt x="6473952" y="1513586"/>
                    <a:pt x="6433058" y="1554480"/>
                    <a:pt x="6382512" y="1554480"/>
                  </a:cubicBezTo>
                  <a:lnTo>
                    <a:pt x="91440" y="1554480"/>
                  </a:lnTo>
                  <a:cubicBezTo>
                    <a:pt x="40894" y="1554480"/>
                    <a:pt x="0" y="1513586"/>
                    <a:pt x="0" y="1463040"/>
                  </a:cubicBezTo>
                  <a:close/>
                </a:path>
              </a:pathLst>
            </a:custGeom>
            <a:solidFill>
              <a:srgbClr val="081D33"/>
            </a:solidFill>
          </p:spPr>
        </p:sp>
      </p:grpSp>
      <p:grpSp>
        <p:nvGrpSpPr>
          <p:cNvPr name="Group 114" id="114"/>
          <p:cNvGrpSpPr/>
          <p:nvPr/>
        </p:nvGrpSpPr>
        <p:grpSpPr>
          <a:xfrm rot="0">
            <a:off x="12481560" y="6926580"/>
            <a:ext cx="4526280" cy="1028700"/>
            <a:chOff x="0" y="0"/>
            <a:chExt cx="6035040" cy="1371600"/>
          </a:xfrm>
        </p:grpSpPr>
        <p:sp>
          <p:nvSpPr>
            <p:cNvPr name="Freeform 115" id="115"/>
            <p:cNvSpPr/>
            <p:nvPr/>
          </p:nvSpPr>
          <p:spPr>
            <a:xfrm flipH="false" flipV="false" rot="0">
              <a:off x="0" y="0"/>
              <a:ext cx="6035040" cy="1371600"/>
            </a:xfrm>
            <a:custGeom>
              <a:avLst/>
              <a:gdLst/>
              <a:ahLst/>
              <a:cxnLst/>
              <a:rect r="r" b="b" t="t" l="l"/>
              <a:pathLst>
                <a:path h="1371600" w="6035040">
                  <a:moveTo>
                    <a:pt x="0" y="0"/>
                  </a:moveTo>
                  <a:lnTo>
                    <a:pt x="6035040" y="0"/>
                  </a:lnTo>
                  <a:lnTo>
                    <a:pt x="6035040" y="1371600"/>
                  </a:lnTo>
                  <a:lnTo>
                    <a:pt x="0" y="1371600"/>
                  </a:lnTo>
                  <a:close/>
                </a:path>
              </a:pathLst>
            </a:custGeom>
            <a:blipFill>
              <a:blip r:embed="rId3">
                <a:alphaModFix amt="0"/>
              </a:blip>
              <a:stretch>
                <a:fillRect l="0" t="-35734" r="0" b="-35734"/>
              </a:stretch>
            </a:blipFill>
          </p:spPr>
        </p:sp>
        <p:sp>
          <p:nvSpPr>
            <p:cNvPr name="TextBox 116" id="116"/>
            <p:cNvSpPr txBox="true"/>
            <p:nvPr/>
          </p:nvSpPr>
          <p:spPr>
            <a:xfrm>
              <a:off x="0" y="-104775"/>
              <a:ext cx="6035040" cy="1476375"/>
            </a:xfrm>
            <a:prstGeom prst="rect">
              <a:avLst/>
            </a:prstGeom>
          </p:spPr>
          <p:txBody>
            <a:bodyPr anchor="ctr" rtlCol="false" tIns="0" lIns="0" bIns="0" rIns="0"/>
            <a:lstStyle/>
            <a:p>
              <a:pPr algn="l">
                <a:lnSpc>
                  <a:spcPts val="3150"/>
                </a:lnSpc>
              </a:pPr>
              <a:r>
                <a:rPr lang="en-US" sz="2100">
                  <a:solidFill>
                    <a:srgbClr val="FFFFFF"/>
                  </a:solidFill>
                  <a:latin typeface="Consolas"/>
                  <a:ea typeface="Consolas"/>
                  <a:cs typeface="Consolas"/>
                  <a:sym typeface="Consolas"/>
                </a:rPr>
                <a:t>gene x2 = 4.85</a:t>
              </a:r>
            </a:p>
            <a:p>
              <a:pPr algn="l">
                <a:lnSpc>
                  <a:spcPts val="3150"/>
                </a:lnSpc>
              </a:pPr>
              <a:r>
                <a:rPr lang="en-US" sz="2100">
                  <a:solidFill>
                    <a:srgbClr val="FFFFFF"/>
                  </a:solidFill>
                  <a:latin typeface="Consolas"/>
                  <a:ea typeface="Consolas"/>
                  <a:cs typeface="Consolas"/>
                  <a:sym typeface="Consolas"/>
                </a:rPr>
                <a:t>Δ = +0.9  →  5.75  →  clip →  5.0</a:t>
              </a:r>
            </a:p>
          </p:txBody>
        </p:sp>
      </p:grpSp>
      <p:grpSp>
        <p:nvGrpSpPr>
          <p:cNvPr name="Group 117" id="117"/>
          <p:cNvGrpSpPr/>
          <p:nvPr/>
        </p:nvGrpSpPr>
        <p:grpSpPr>
          <a:xfrm rot="0">
            <a:off x="12316968" y="8229600"/>
            <a:ext cx="4855464" cy="1097280"/>
            <a:chOff x="0" y="0"/>
            <a:chExt cx="6473952" cy="1463040"/>
          </a:xfrm>
        </p:grpSpPr>
        <p:sp>
          <p:nvSpPr>
            <p:cNvPr name="Freeform 118" id="118"/>
            <p:cNvSpPr/>
            <p:nvPr/>
          </p:nvSpPr>
          <p:spPr>
            <a:xfrm flipH="false" flipV="false" rot="0">
              <a:off x="0" y="0"/>
              <a:ext cx="6473952" cy="1463040"/>
            </a:xfrm>
            <a:custGeom>
              <a:avLst/>
              <a:gdLst/>
              <a:ahLst/>
              <a:cxnLst/>
              <a:rect r="r" b="b" t="t" l="l"/>
              <a:pathLst>
                <a:path h="1463040" w="6473952">
                  <a:moveTo>
                    <a:pt x="0" y="0"/>
                  </a:moveTo>
                  <a:lnTo>
                    <a:pt x="6473952" y="0"/>
                  </a:lnTo>
                  <a:lnTo>
                    <a:pt x="6473952" y="1463040"/>
                  </a:lnTo>
                  <a:lnTo>
                    <a:pt x="0" y="1463040"/>
                  </a:lnTo>
                  <a:close/>
                </a:path>
              </a:pathLst>
            </a:custGeom>
            <a:blipFill>
              <a:blip r:embed="rId3">
                <a:alphaModFix amt="0"/>
              </a:blip>
              <a:stretch>
                <a:fillRect l="0" t="-36221" r="0" b="-36221"/>
              </a:stretch>
            </a:blipFill>
          </p:spPr>
        </p:sp>
        <p:sp>
          <p:nvSpPr>
            <p:cNvPr name="TextBox 119" id="119"/>
            <p:cNvSpPr txBox="true"/>
            <p:nvPr/>
          </p:nvSpPr>
          <p:spPr>
            <a:xfrm>
              <a:off x="0" y="-95250"/>
              <a:ext cx="6473952" cy="1558290"/>
            </a:xfrm>
            <a:prstGeom prst="rect">
              <a:avLst/>
            </a:prstGeom>
          </p:spPr>
          <p:txBody>
            <a:bodyPr anchor="ctr" rtlCol="false" tIns="0" lIns="0" bIns="0" rIns="0"/>
            <a:lstStyle/>
            <a:p>
              <a:pPr algn="l">
                <a:lnSpc>
                  <a:spcPts val="3024"/>
                </a:lnSpc>
              </a:pPr>
              <a:r>
                <a:rPr lang="en-US" sz="2100">
                  <a:solidFill>
                    <a:srgbClr val="5B6472"/>
                  </a:solidFill>
                  <a:latin typeface="Calibri (MS)"/>
                  <a:ea typeface="Calibri (MS)"/>
                  <a:cs typeface="Calibri (MS)"/>
                  <a:sym typeface="Calibri (MS)"/>
                </a:rPr>
                <a:t>Small, localized nudges maintain diversity and let the population fine-tune around a promising basin without wild jumps.</a:t>
              </a:r>
            </a:p>
          </p:txBody>
        </p:sp>
      </p:grpSp>
      <p:grpSp>
        <p:nvGrpSpPr>
          <p:cNvPr name="Group 120" id="120"/>
          <p:cNvGrpSpPr/>
          <p:nvPr/>
        </p:nvGrpSpPr>
        <p:grpSpPr>
          <a:xfrm rot="0">
            <a:off x="16774668" y="9669780"/>
            <a:ext cx="1097280" cy="411480"/>
            <a:chOff x="0" y="0"/>
            <a:chExt cx="1463040" cy="548640"/>
          </a:xfrm>
        </p:grpSpPr>
        <p:sp>
          <p:nvSpPr>
            <p:cNvPr name="Freeform 121" id="121"/>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122" id="122"/>
            <p:cNvSpPr txBox="true"/>
            <p:nvPr/>
          </p:nvSpPr>
          <p:spPr>
            <a:xfrm>
              <a:off x="0" y="-38100"/>
              <a:ext cx="1463040" cy="586740"/>
            </a:xfrm>
            <a:prstGeom prst="rect">
              <a:avLst/>
            </a:prstGeom>
          </p:spPr>
          <p:txBody>
            <a:bodyPr anchor="ctr" rtlCol="false" tIns="0" lIns="0" bIns="0" rIns="0"/>
            <a:lstStyle/>
            <a:p>
              <a:pPr algn="r">
                <a:lnSpc>
                  <a:spcPts val="1800"/>
                </a:lnSpc>
              </a:pPr>
              <a:r>
                <a:rPr lang="en-US" sz="1500">
                  <a:solidFill>
                    <a:srgbClr val="5B6472"/>
                  </a:solidFill>
                  <a:latin typeface="Calibri (MS)"/>
                  <a:ea typeface="Calibri (MS)"/>
                  <a:cs typeface="Calibri (MS)"/>
                  <a:sym typeface="Calibri (MS)"/>
                </a:rPr>
                <a:t>7 / 13</a:t>
              </a:r>
            </a:p>
          </p:txBody>
        </p:sp>
      </p:grpSp>
      <p:grpSp>
        <p:nvGrpSpPr>
          <p:cNvPr name="Group 123" id="123"/>
          <p:cNvGrpSpPr/>
          <p:nvPr/>
        </p:nvGrpSpPr>
        <p:grpSpPr>
          <a:xfrm rot="0">
            <a:off x="685800" y="9669780"/>
            <a:ext cx="5486400" cy="411480"/>
            <a:chOff x="0" y="0"/>
            <a:chExt cx="7315200" cy="548640"/>
          </a:xfrm>
        </p:grpSpPr>
        <p:sp>
          <p:nvSpPr>
            <p:cNvPr name="Freeform 124" id="124"/>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125" id="125"/>
            <p:cNvSpPr txBox="true"/>
            <p:nvPr/>
          </p:nvSpPr>
          <p:spPr>
            <a:xfrm>
              <a:off x="0" y="-38100"/>
              <a:ext cx="7315200" cy="586740"/>
            </a:xfrm>
            <a:prstGeom prst="rect">
              <a:avLst/>
            </a:prstGeom>
          </p:spPr>
          <p:txBody>
            <a:bodyPr anchor="ctr" rtlCol="false" tIns="0" lIns="0" bIns="0" rIns="0"/>
            <a:lstStyle/>
            <a:p>
              <a:pPr algn="l">
                <a:lnSpc>
                  <a:spcPts val="1800"/>
                </a:lnSpc>
              </a:pPr>
              <a:r>
                <a:rPr lang="en-US" sz="1500">
                  <a:solidFill>
                    <a:srgbClr val="5B6472"/>
                  </a:solidFill>
                  <a:latin typeface="Calibri (MS)"/>
                  <a:ea typeface="Calibri (MS)"/>
                  <a:cs typeface="Calibri (MS)"/>
                  <a:sym typeface="Calibri (MS)"/>
                </a:rPr>
                <a:t>GA · 2D Ackley Function</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47625"/>
              <a:ext cx="14630400" cy="687705"/>
            </a:xfrm>
            <a:prstGeom prst="rect">
              <a:avLst/>
            </a:prstGeom>
          </p:spPr>
          <p:txBody>
            <a:bodyPr anchor="ctr" rtlCol="false" tIns="0" lIns="0" bIns="0" rIns="0"/>
            <a:lstStyle/>
            <a:p>
              <a:pPr algn="l">
                <a:lnSpc>
                  <a:spcPts val="2340"/>
                </a:lnSpc>
              </a:pPr>
              <a:r>
                <a:rPr lang="en-US" b="true" sz="1950" spc="299">
                  <a:solidFill>
                    <a:srgbClr val="1C7293"/>
                  </a:solidFill>
                  <a:latin typeface="Calibri (MS) Bold"/>
                  <a:ea typeface="Calibri (MS) Bold"/>
                  <a:cs typeface="Calibri (MS) Bold"/>
                  <a:sym typeface="Calibri (MS) Bold"/>
                </a:rPr>
                <a:t>METHODOLOGY — DEEP DIVE II</a:t>
              </a:r>
            </a:p>
          </p:txBody>
        </p:sp>
      </p:grpSp>
      <p:grpSp>
        <p:nvGrpSpPr>
          <p:cNvPr name="Group 5" id="5"/>
          <p:cNvGrpSpPr/>
          <p:nvPr/>
        </p:nvGrpSpPr>
        <p:grpSpPr>
          <a:xfrm rot="0">
            <a:off x="822960" y="987552"/>
            <a:ext cx="15910560" cy="960120"/>
            <a:chOff x="0" y="0"/>
            <a:chExt cx="21214080" cy="1280160"/>
          </a:xfrm>
        </p:grpSpPr>
        <p:sp>
          <p:nvSpPr>
            <p:cNvPr name="Freeform 6" id="6"/>
            <p:cNvSpPr/>
            <p:nvPr/>
          </p:nvSpPr>
          <p:spPr>
            <a:xfrm flipH="false" flipV="false" rot="0">
              <a:off x="0" y="0"/>
              <a:ext cx="21214080" cy="1280160"/>
            </a:xfrm>
            <a:custGeom>
              <a:avLst/>
              <a:gdLst/>
              <a:ahLst/>
              <a:cxnLst/>
              <a:rect r="r" b="b" t="t" l="l"/>
              <a:pathLst>
                <a:path h="1280160" w="21214080">
                  <a:moveTo>
                    <a:pt x="0" y="0"/>
                  </a:moveTo>
                  <a:lnTo>
                    <a:pt x="21214080" y="0"/>
                  </a:lnTo>
                  <a:lnTo>
                    <a:pt x="21214080" y="1280160"/>
                  </a:lnTo>
                  <a:lnTo>
                    <a:pt x="0" y="1280160"/>
                  </a:lnTo>
                  <a:close/>
                </a:path>
              </a:pathLst>
            </a:custGeom>
            <a:blipFill>
              <a:blip r:embed="rId3">
                <a:alphaModFix amt="0"/>
              </a:blip>
              <a:stretch>
                <a:fillRect l="0" t="-272894" r="0" b="-272894"/>
              </a:stretch>
            </a:blipFill>
          </p:spPr>
        </p:sp>
        <p:sp>
          <p:nvSpPr>
            <p:cNvPr name="TextBox 7" id="7"/>
            <p:cNvSpPr txBox="true"/>
            <p:nvPr/>
          </p:nvSpPr>
          <p:spPr>
            <a:xfrm>
              <a:off x="0" y="-19050"/>
              <a:ext cx="21214080" cy="1299210"/>
            </a:xfrm>
            <a:prstGeom prst="rect">
              <a:avLst/>
            </a:prstGeom>
          </p:spPr>
          <p:txBody>
            <a:bodyPr anchor="ctr" rtlCol="false" tIns="0" lIns="0" bIns="0" rIns="0"/>
            <a:lstStyle/>
            <a:p>
              <a:pPr algn="l">
                <a:lnSpc>
                  <a:spcPts val="5400"/>
                </a:lnSpc>
              </a:pPr>
              <a:r>
                <a:rPr lang="en-US" sz="4500" b="true">
                  <a:solidFill>
                    <a:srgbClr val="1B1F27"/>
                  </a:solidFill>
                  <a:latin typeface="Cambria Bold"/>
                  <a:ea typeface="Cambria Bold"/>
                  <a:cs typeface="Cambria Bold"/>
                  <a:sym typeface="Cambria Bold"/>
                </a:rPr>
                <a:t>Inside run(): the full generation loop, in order</a:t>
              </a:r>
            </a:p>
          </p:txBody>
        </p:sp>
      </p:grpSp>
      <p:grpSp>
        <p:nvGrpSpPr>
          <p:cNvPr name="Group 8" id="8"/>
          <p:cNvGrpSpPr/>
          <p:nvPr/>
        </p:nvGrpSpPr>
        <p:grpSpPr>
          <a:xfrm rot="0">
            <a:off x="813435" y="2146935"/>
            <a:ext cx="8180070" cy="1006602"/>
            <a:chOff x="0" y="0"/>
            <a:chExt cx="10906760" cy="1342136"/>
          </a:xfrm>
        </p:grpSpPr>
        <p:sp>
          <p:nvSpPr>
            <p:cNvPr name="Freeform 9" id="9"/>
            <p:cNvSpPr/>
            <p:nvPr/>
          </p:nvSpPr>
          <p:spPr>
            <a:xfrm flipH="false" flipV="false" rot="0">
              <a:off x="0" y="0"/>
              <a:ext cx="10906760" cy="1342136"/>
            </a:xfrm>
            <a:custGeom>
              <a:avLst/>
              <a:gdLst/>
              <a:ahLst/>
              <a:cxnLst/>
              <a:rect r="r" b="b" t="t" l="l"/>
              <a:pathLst>
                <a:path h="1342136" w="10906760">
                  <a:moveTo>
                    <a:pt x="0" y="111887"/>
                  </a:moveTo>
                  <a:cubicBezTo>
                    <a:pt x="0" y="50038"/>
                    <a:pt x="50038" y="0"/>
                    <a:pt x="111887" y="0"/>
                  </a:cubicBezTo>
                  <a:lnTo>
                    <a:pt x="10794873" y="0"/>
                  </a:lnTo>
                  <a:cubicBezTo>
                    <a:pt x="10856595" y="0"/>
                    <a:pt x="10906760" y="50038"/>
                    <a:pt x="10906760" y="111887"/>
                  </a:cubicBezTo>
                  <a:lnTo>
                    <a:pt x="10906760" y="1230249"/>
                  </a:lnTo>
                  <a:cubicBezTo>
                    <a:pt x="10906760" y="1291971"/>
                    <a:pt x="10856722" y="1342136"/>
                    <a:pt x="10794873" y="1342136"/>
                  </a:cubicBezTo>
                  <a:lnTo>
                    <a:pt x="111887" y="1342136"/>
                  </a:lnTo>
                  <a:cubicBezTo>
                    <a:pt x="50165" y="1342136"/>
                    <a:pt x="0" y="1292098"/>
                    <a:pt x="0" y="1230249"/>
                  </a:cubicBezTo>
                  <a:close/>
                </a:path>
              </a:pathLst>
            </a:custGeom>
            <a:solidFill>
              <a:srgbClr val="FFFFFF"/>
            </a:solidFill>
            <a:ln w="19050" cap="sq">
              <a:solidFill>
                <a:srgbClr val="E3E9EE"/>
              </a:solidFill>
              <a:prstDash val="solid"/>
              <a:miter/>
            </a:ln>
          </p:spPr>
        </p:sp>
      </p:grpSp>
      <p:grpSp>
        <p:nvGrpSpPr>
          <p:cNvPr name="Group 10" id="10"/>
          <p:cNvGrpSpPr/>
          <p:nvPr/>
        </p:nvGrpSpPr>
        <p:grpSpPr>
          <a:xfrm rot="0">
            <a:off x="1042416" y="2389632"/>
            <a:ext cx="521208" cy="521208"/>
            <a:chOff x="0" y="0"/>
            <a:chExt cx="694944" cy="694944"/>
          </a:xfrm>
        </p:grpSpPr>
        <p:sp>
          <p:nvSpPr>
            <p:cNvPr name="Freeform 11" id="11"/>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0B2A4A"/>
            </a:solidFill>
          </p:spPr>
        </p:sp>
      </p:grpSp>
      <p:grpSp>
        <p:nvGrpSpPr>
          <p:cNvPr name="Group 12" id="12"/>
          <p:cNvGrpSpPr/>
          <p:nvPr/>
        </p:nvGrpSpPr>
        <p:grpSpPr>
          <a:xfrm rot="0">
            <a:off x="1042416" y="2389632"/>
            <a:ext cx="521208" cy="521208"/>
            <a:chOff x="0" y="0"/>
            <a:chExt cx="694944" cy="694944"/>
          </a:xfrm>
        </p:grpSpPr>
        <p:sp>
          <p:nvSpPr>
            <p:cNvPr name="Freeform 13" id="13"/>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close/>
                </a:path>
              </a:pathLst>
            </a:custGeom>
            <a:blipFill>
              <a:blip r:embed="rId3">
                <a:alphaModFix amt="0"/>
              </a:blip>
              <a:stretch>
                <a:fillRect l="-78303" t="0" r="-78303" b="0"/>
              </a:stretch>
            </a:blipFill>
          </p:spPr>
        </p:sp>
        <p:sp>
          <p:nvSpPr>
            <p:cNvPr name="TextBox 14" id="14"/>
            <p:cNvSpPr txBox="true"/>
            <p:nvPr/>
          </p:nvSpPr>
          <p:spPr>
            <a:xfrm>
              <a:off x="0" y="-9525"/>
              <a:ext cx="694944" cy="704469"/>
            </a:xfrm>
            <a:prstGeom prst="rect">
              <a:avLst/>
            </a:prstGeom>
          </p:spPr>
          <p:txBody>
            <a:bodyPr anchor="ctr" rtlCol="false" tIns="0" lIns="0" bIns="0" rIns="0"/>
            <a:lstStyle/>
            <a:p>
              <a:pPr algn="ctr">
                <a:lnSpc>
                  <a:spcPts val="2879"/>
                </a:lnSpc>
              </a:pPr>
              <a:r>
                <a:rPr lang="en-US" sz="2400" b="true">
                  <a:solidFill>
                    <a:srgbClr val="FFFFFF"/>
                  </a:solidFill>
                  <a:latin typeface="Cambria Bold"/>
                  <a:ea typeface="Cambria Bold"/>
                  <a:cs typeface="Cambria Bold"/>
                  <a:sym typeface="Cambria Bold"/>
                </a:rPr>
                <a:t>1</a:t>
              </a:r>
            </a:p>
          </p:txBody>
        </p:sp>
      </p:grpSp>
      <p:grpSp>
        <p:nvGrpSpPr>
          <p:cNvPr name="Group 15" id="15"/>
          <p:cNvGrpSpPr/>
          <p:nvPr/>
        </p:nvGrpSpPr>
        <p:grpSpPr>
          <a:xfrm rot="0">
            <a:off x="1755648" y="2211324"/>
            <a:ext cx="6926580" cy="877824"/>
            <a:chOff x="0" y="0"/>
            <a:chExt cx="9235440" cy="1170432"/>
          </a:xfrm>
        </p:grpSpPr>
        <p:sp>
          <p:nvSpPr>
            <p:cNvPr name="Freeform 16" id="16"/>
            <p:cNvSpPr/>
            <p:nvPr/>
          </p:nvSpPr>
          <p:spPr>
            <a:xfrm flipH="false" flipV="false" rot="0">
              <a:off x="0" y="0"/>
              <a:ext cx="9235440" cy="1170432"/>
            </a:xfrm>
            <a:custGeom>
              <a:avLst/>
              <a:gdLst/>
              <a:ahLst/>
              <a:cxnLst/>
              <a:rect r="r" b="b" t="t" l="l"/>
              <a:pathLst>
                <a:path h="1170432" w="9235440">
                  <a:moveTo>
                    <a:pt x="0" y="0"/>
                  </a:moveTo>
                  <a:lnTo>
                    <a:pt x="9235440" y="0"/>
                  </a:lnTo>
                  <a:lnTo>
                    <a:pt x="9235440" y="1170432"/>
                  </a:lnTo>
                  <a:lnTo>
                    <a:pt x="0" y="1170432"/>
                  </a:lnTo>
                  <a:close/>
                </a:path>
              </a:pathLst>
            </a:custGeom>
            <a:blipFill>
              <a:blip r:embed="rId3">
                <a:alphaModFix amt="0"/>
              </a:blip>
              <a:stretch>
                <a:fillRect l="0" t="-103749" r="0" b="-103749"/>
              </a:stretch>
            </a:blipFill>
          </p:spPr>
        </p:sp>
        <p:sp>
          <p:nvSpPr>
            <p:cNvPr name="TextBox 17" id="17"/>
            <p:cNvSpPr txBox="true"/>
            <p:nvPr/>
          </p:nvSpPr>
          <p:spPr>
            <a:xfrm>
              <a:off x="0" y="-76200"/>
              <a:ext cx="9235440" cy="1246632"/>
            </a:xfrm>
            <a:prstGeom prst="rect">
              <a:avLst/>
            </a:prstGeom>
          </p:spPr>
          <p:txBody>
            <a:bodyPr anchor="ctr" rtlCol="false" tIns="0" lIns="0" bIns="0" rIns="0"/>
            <a:lstStyle/>
            <a:p>
              <a:pPr algn="l">
                <a:lnSpc>
                  <a:spcPts val="2897"/>
                </a:lnSpc>
              </a:pPr>
              <a:r>
                <a:rPr lang="en-US" sz="2100">
                  <a:solidFill>
                    <a:srgbClr val="1B1F27"/>
                  </a:solidFill>
                  <a:latin typeface="Calibri (MS)"/>
                  <a:ea typeface="Calibri (MS)"/>
                  <a:cs typeface="Calibri (MS)"/>
                  <a:sym typeface="Calibri (MS)"/>
                </a:rPr>
                <a:t>np.argsort(fitness) ranks the 50×2 population array ascending.</a:t>
              </a:r>
            </a:p>
          </p:txBody>
        </p:sp>
      </p:grpSp>
      <p:grpSp>
        <p:nvGrpSpPr>
          <p:cNvPr name="Group 18" id="18"/>
          <p:cNvGrpSpPr/>
          <p:nvPr/>
        </p:nvGrpSpPr>
        <p:grpSpPr>
          <a:xfrm rot="0">
            <a:off x="813435" y="3326511"/>
            <a:ext cx="8180070" cy="1006602"/>
            <a:chOff x="0" y="0"/>
            <a:chExt cx="10906760" cy="1342136"/>
          </a:xfrm>
        </p:grpSpPr>
        <p:sp>
          <p:nvSpPr>
            <p:cNvPr name="Freeform 19" id="19"/>
            <p:cNvSpPr/>
            <p:nvPr/>
          </p:nvSpPr>
          <p:spPr>
            <a:xfrm flipH="false" flipV="false" rot="0">
              <a:off x="0" y="0"/>
              <a:ext cx="10906760" cy="1342136"/>
            </a:xfrm>
            <a:custGeom>
              <a:avLst/>
              <a:gdLst/>
              <a:ahLst/>
              <a:cxnLst/>
              <a:rect r="r" b="b" t="t" l="l"/>
              <a:pathLst>
                <a:path h="1342136" w="10906760">
                  <a:moveTo>
                    <a:pt x="0" y="111887"/>
                  </a:moveTo>
                  <a:cubicBezTo>
                    <a:pt x="0" y="50038"/>
                    <a:pt x="50038" y="0"/>
                    <a:pt x="111887" y="0"/>
                  </a:cubicBezTo>
                  <a:lnTo>
                    <a:pt x="10794873" y="0"/>
                  </a:lnTo>
                  <a:cubicBezTo>
                    <a:pt x="10856595" y="0"/>
                    <a:pt x="10906760" y="50038"/>
                    <a:pt x="10906760" y="111887"/>
                  </a:cubicBezTo>
                  <a:lnTo>
                    <a:pt x="10906760" y="1230249"/>
                  </a:lnTo>
                  <a:cubicBezTo>
                    <a:pt x="10906760" y="1291971"/>
                    <a:pt x="10856722" y="1342136"/>
                    <a:pt x="10794873" y="1342136"/>
                  </a:cubicBezTo>
                  <a:lnTo>
                    <a:pt x="111887" y="1342136"/>
                  </a:lnTo>
                  <a:cubicBezTo>
                    <a:pt x="50165" y="1342136"/>
                    <a:pt x="0" y="1292098"/>
                    <a:pt x="0" y="1230249"/>
                  </a:cubicBezTo>
                  <a:close/>
                </a:path>
              </a:pathLst>
            </a:custGeom>
            <a:solidFill>
              <a:srgbClr val="FFFFFF"/>
            </a:solidFill>
            <a:ln w="19050" cap="sq">
              <a:solidFill>
                <a:srgbClr val="E3E9EE"/>
              </a:solidFill>
              <a:prstDash val="solid"/>
              <a:miter/>
            </a:ln>
          </p:spPr>
        </p:sp>
      </p:grpSp>
      <p:grpSp>
        <p:nvGrpSpPr>
          <p:cNvPr name="Group 20" id="20"/>
          <p:cNvGrpSpPr/>
          <p:nvPr/>
        </p:nvGrpSpPr>
        <p:grpSpPr>
          <a:xfrm rot="0">
            <a:off x="1042416" y="3569208"/>
            <a:ext cx="521208" cy="521208"/>
            <a:chOff x="0" y="0"/>
            <a:chExt cx="694944" cy="694944"/>
          </a:xfrm>
        </p:grpSpPr>
        <p:sp>
          <p:nvSpPr>
            <p:cNvPr name="Freeform 21" id="21"/>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0B2A4A"/>
            </a:solidFill>
          </p:spPr>
        </p:sp>
      </p:grpSp>
      <p:grpSp>
        <p:nvGrpSpPr>
          <p:cNvPr name="Group 22" id="22"/>
          <p:cNvGrpSpPr/>
          <p:nvPr/>
        </p:nvGrpSpPr>
        <p:grpSpPr>
          <a:xfrm rot="0">
            <a:off x="1042416" y="3569208"/>
            <a:ext cx="521208" cy="521208"/>
            <a:chOff x="0" y="0"/>
            <a:chExt cx="694944" cy="694944"/>
          </a:xfrm>
        </p:grpSpPr>
        <p:sp>
          <p:nvSpPr>
            <p:cNvPr name="Freeform 23" id="23"/>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close/>
                </a:path>
              </a:pathLst>
            </a:custGeom>
            <a:blipFill>
              <a:blip r:embed="rId3">
                <a:alphaModFix amt="0"/>
              </a:blip>
              <a:stretch>
                <a:fillRect l="-78303" t="0" r="-78303" b="0"/>
              </a:stretch>
            </a:blipFill>
          </p:spPr>
        </p:sp>
        <p:sp>
          <p:nvSpPr>
            <p:cNvPr name="TextBox 24" id="24"/>
            <p:cNvSpPr txBox="true"/>
            <p:nvPr/>
          </p:nvSpPr>
          <p:spPr>
            <a:xfrm>
              <a:off x="0" y="-9525"/>
              <a:ext cx="694944" cy="704469"/>
            </a:xfrm>
            <a:prstGeom prst="rect">
              <a:avLst/>
            </a:prstGeom>
          </p:spPr>
          <p:txBody>
            <a:bodyPr anchor="ctr" rtlCol="false" tIns="0" lIns="0" bIns="0" rIns="0"/>
            <a:lstStyle/>
            <a:p>
              <a:pPr algn="ctr">
                <a:lnSpc>
                  <a:spcPts val="2879"/>
                </a:lnSpc>
              </a:pPr>
              <a:r>
                <a:rPr lang="en-US" sz="2400" b="true">
                  <a:solidFill>
                    <a:srgbClr val="FFFFFF"/>
                  </a:solidFill>
                  <a:latin typeface="Cambria Bold"/>
                  <a:ea typeface="Cambria Bold"/>
                  <a:cs typeface="Cambria Bold"/>
                  <a:sym typeface="Cambria Bold"/>
                </a:rPr>
                <a:t>2</a:t>
              </a:r>
            </a:p>
          </p:txBody>
        </p:sp>
      </p:grpSp>
      <p:grpSp>
        <p:nvGrpSpPr>
          <p:cNvPr name="Group 25" id="25"/>
          <p:cNvGrpSpPr/>
          <p:nvPr/>
        </p:nvGrpSpPr>
        <p:grpSpPr>
          <a:xfrm rot="0">
            <a:off x="1755648" y="3390900"/>
            <a:ext cx="6926580" cy="877824"/>
            <a:chOff x="0" y="0"/>
            <a:chExt cx="9235440" cy="1170432"/>
          </a:xfrm>
        </p:grpSpPr>
        <p:sp>
          <p:nvSpPr>
            <p:cNvPr name="Freeform 26" id="26"/>
            <p:cNvSpPr/>
            <p:nvPr/>
          </p:nvSpPr>
          <p:spPr>
            <a:xfrm flipH="false" flipV="false" rot="0">
              <a:off x="0" y="0"/>
              <a:ext cx="9235440" cy="1170432"/>
            </a:xfrm>
            <a:custGeom>
              <a:avLst/>
              <a:gdLst/>
              <a:ahLst/>
              <a:cxnLst/>
              <a:rect r="r" b="b" t="t" l="l"/>
              <a:pathLst>
                <a:path h="1170432" w="9235440">
                  <a:moveTo>
                    <a:pt x="0" y="0"/>
                  </a:moveTo>
                  <a:lnTo>
                    <a:pt x="9235440" y="0"/>
                  </a:lnTo>
                  <a:lnTo>
                    <a:pt x="9235440" y="1170432"/>
                  </a:lnTo>
                  <a:lnTo>
                    <a:pt x="0" y="1170432"/>
                  </a:lnTo>
                  <a:close/>
                </a:path>
              </a:pathLst>
            </a:custGeom>
            <a:blipFill>
              <a:blip r:embed="rId3">
                <a:alphaModFix amt="0"/>
              </a:blip>
              <a:stretch>
                <a:fillRect l="0" t="-103749" r="0" b="-103749"/>
              </a:stretch>
            </a:blipFill>
          </p:spPr>
        </p:sp>
        <p:sp>
          <p:nvSpPr>
            <p:cNvPr name="TextBox 27" id="27"/>
            <p:cNvSpPr txBox="true"/>
            <p:nvPr/>
          </p:nvSpPr>
          <p:spPr>
            <a:xfrm>
              <a:off x="0" y="-76200"/>
              <a:ext cx="9235440" cy="1246632"/>
            </a:xfrm>
            <a:prstGeom prst="rect">
              <a:avLst/>
            </a:prstGeom>
          </p:spPr>
          <p:txBody>
            <a:bodyPr anchor="ctr" rtlCol="false" tIns="0" lIns="0" bIns="0" rIns="0"/>
            <a:lstStyle/>
            <a:p>
              <a:pPr algn="l">
                <a:lnSpc>
                  <a:spcPts val="2897"/>
                </a:lnSpc>
              </a:pPr>
              <a:r>
                <a:rPr lang="en-US" sz="2100">
                  <a:solidFill>
                    <a:srgbClr val="1B1F27"/>
                  </a:solidFill>
                  <a:latin typeface="Calibri (MS)"/>
                  <a:ea typeface="Calibri (MS)"/>
                  <a:cs typeface="Calibri (MS)"/>
                  <a:sym typeface="Calibri (MS)"/>
                </a:rPr>
                <a:t>population[:elitism] is copied verbatim into next_population.</a:t>
              </a:r>
            </a:p>
          </p:txBody>
        </p:sp>
      </p:grpSp>
      <p:grpSp>
        <p:nvGrpSpPr>
          <p:cNvPr name="Group 28" id="28"/>
          <p:cNvGrpSpPr/>
          <p:nvPr/>
        </p:nvGrpSpPr>
        <p:grpSpPr>
          <a:xfrm rot="0">
            <a:off x="813435" y="4506087"/>
            <a:ext cx="8180070" cy="1006602"/>
            <a:chOff x="0" y="0"/>
            <a:chExt cx="10906760" cy="1342136"/>
          </a:xfrm>
        </p:grpSpPr>
        <p:sp>
          <p:nvSpPr>
            <p:cNvPr name="Freeform 29" id="29"/>
            <p:cNvSpPr/>
            <p:nvPr/>
          </p:nvSpPr>
          <p:spPr>
            <a:xfrm flipH="false" flipV="false" rot="0">
              <a:off x="0" y="0"/>
              <a:ext cx="10906760" cy="1342136"/>
            </a:xfrm>
            <a:custGeom>
              <a:avLst/>
              <a:gdLst/>
              <a:ahLst/>
              <a:cxnLst/>
              <a:rect r="r" b="b" t="t" l="l"/>
              <a:pathLst>
                <a:path h="1342136" w="10906760">
                  <a:moveTo>
                    <a:pt x="0" y="111887"/>
                  </a:moveTo>
                  <a:cubicBezTo>
                    <a:pt x="0" y="50038"/>
                    <a:pt x="50038" y="0"/>
                    <a:pt x="111887" y="0"/>
                  </a:cubicBezTo>
                  <a:lnTo>
                    <a:pt x="10794873" y="0"/>
                  </a:lnTo>
                  <a:cubicBezTo>
                    <a:pt x="10856595" y="0"/>
                    <a:pt x="10906760" y="50038"/>
                    <a:pt x="10906760" y="111887"/>
                  </a:cubicBezTo>
                  <a:lnTo>
                    <a:pt x="10906760" y="1230249"/>
                  </a:lnTo>
                  <a:cubicBezTo>
                    <a:pt x="10906760" y="1291971"/>
                    <a:pt x="10856722" y="1342136"/>
                    <a:pt x="10794873" y="1342136"/>
                  </a:cubicBezTo>
                  <a:lnTo>
                    <a:pt x="111887" y="1342136"/>
                  </a:lnTo>
                  <a:cubicBezTo>
                    <a:pt x="50165" y="1342136"/>
                    <a:pt x="0" y="1292098"/>
                    <a:pt x="0" y="1230249"/>
                  </a:cubicBezTo>
                  <a:close/>
                </a:path>
              </a:pathLst>
            </a:custGeom>
            <a:solidFill>
              <a:srgbClr val="FFFFFF"/>
            </a:solidFill>
            <a:ln w="19050" cap="sq">
              <a:solidFill>
                <a:srgbClr val="E3E9EE"/>
              </a:solidFill>
              <a:prstDash val="solid"/>
              <a:miter/>
            </a:ln>
          </p:spPr>
        </p:sp>
      </p:grpSp>
      <p:grpSp>
        <p:nvGrpSpPr>
          <p:cNvPr name="Group 30" id="30"/>
          <p:cNvGrpSpPr/>
          <p:nvPr/>
        </p:nvGrpSpPr>
        <p:grpSpPr>
          <a:xfrm rot="0">
            <a:off x="1042416" y="4748784"/>
            <a:ext cx="521208" cy="521208"/>
            <a:chOff x="0" y="0"/>
            <a:chExt cx="694944" cy="694944"/>
          </a:xfrm>
        </p:grpSpPr>
        <p:sp>
          <p:nvSpPr>
            <p:cNvPr name="Freeform 31" id="31"/>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0B2A4A"/>
            </a:solidFill>
          </p:spPr>
        </p:sp>
      </p:grpSp>
      <p:grpSp>
        <p:nvGrpSpPr>
          <p:cNvPr name="Group 32" id="32"/>
          <p:cNvGrpSpPr/>
          <p:nvPr/>
        </p:nvGrpSpPr>
        <p:grpSpPr>
          <a:xfrm rot="0">
            <a:off x="1042416" y="4748784"/>
            <a:ext cx="521208" cy="521208"/>
            <a:chOff x="0" y="0"/>
            <a:chExt cx="694944" cy="694944"/>
          </a:xfrm>
        </p:grpSpPr>
        <p:sp>
          <p:nvSpPr>
            <p:cNvPr name="Freeform 33" id="33"/>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close/>
                </a:path>
              </a:pathLst>
            </a:custGeom>
            <a:blipFill>
              <a:blip r:embed="rId3">
                <a:alphaModFix amt="0"/>
              </a:blip>
              <a:stretch>
                <a:fillRect l="-78303" t="0" r="-78303" b="0"/>
              </a:stretch>
            </a:blipFill>
          </p:spPr>
        </p:sp>
        <p:sp>
          <p:nvSpPr>
            <p:cNvPr name="TextBox 34" id="34"/>
            <p:cNvSpPr txBox="true"/>
            <p:nvPr/>
          </p:nvSpPr>
          <p:spPr>
            <a:xfrm>
              <a:off x="0" y="-9525"/>
              <a:ext cx="694944" cy="704469"/>
            </a:xfrm>
            <a:prstGeom prst="rect">
              <a:avLst/>
            </a:prstGeom>
          </p:spPr>
          <p:txBody>
            <a:bodyPr anchor="ctr" rtlCol="false" tIns="0" lIns="0" bIns="0" rIns="0"/>
            <a:lstStyle/>
            <a:p>
              <a:pPr algn="ctr">
                <a:lnSpc>
                  <a:spcPts val="2879"/>
                </a:lnSpc>
              </a:pPr>
              <a:r>
                <a:rPr lang="en-US" sz="2400" b="true">
                  <a:solidFill>
                    <a:srgbClr val="FFFFFF"/>
                  </a:solidFill>
                  <a:latin typeface="Cambria Bold"/>
                  <a:ea typeface="Cambria Bold"/>
                  <a:cs typeface="Cambria Bold"/>
                  <a:sym typeface="Cambria Bold"/>
                </a:rPr>
                <a:t>3</a:t>
              </a:r>
            </a:p>
          </p:txBody>
        </p:sp>
      </p:grpSp>
      <p:grpSp>
        <p:nvGrpSpPr>
          <p:cNvPr name="Group 35" id="35"/>
          <p:cNvGrpSpPr/>
          <p:nvPr/>
        </p:nvGrpSpPr>
        <p:grpSpPr>
          <a:xfrm rot="0">
            <a:off x="1755648" y="4570476"/>
            <a:ext cx="6926580" cy="877824"/>
            <a:chOff x="0" y="0"/>
            <a:chExt cx="9235440" cy="1170432"/>
          </a:xfrm>
        </p:grpSpPr>
        <p:sp>
          <p:nvSpPr>
            <p:cNvPr name="Freeform 36" id="36"/>
            <p:cNvSpPr/>
            <p:nvPr/>
          </p:nvSpPr>
          <p:spPr>
            <a:xfrm flipH="false" flipV="false" rot="0">
              <a:off x="0" y="0"/>
              <a:ext cx="9235440" cy="1170432"/>
            </a:xfrm>
            <a:custGeom>
              <a:avLst/>
              <a:gdLst/>
              <a:ahLst/>
              <a:cxnLst/>
              <a:rect r="r" b="b" t="t" l="l"/>
              <a:pathLst>
                <a:path h="1170432" w="9235440">
                  <a:moveTo>
                    <a:pt x="0" y="0"/>
                  </a:moveTo>
                  <a:lnTo>
                    <a:pt x="9235440" y="0"/>
                  </a:lnTo>
                  <a:lnTo>
                    <a:pt x="9235440" y="1170432"/>
                  </a:lnTo>
                  <a:lnTo>
                    <a:pt x="0" y="1170432"/>
                  </a:lnTo>
                  <a:close/>
                </a:path>
              </a:pathLst>
            </a:custGeom>
            <a:blipFill>
              <a:blip r:embed="rId3">
                <a:alphaModFix amt="0"/>
              </a:blip>
              <a:stretch>
                <a:fillRect l="0" t="-103749" r="0" b="-103749"/>
              </a:stretch>
            </a:blipFill>
          </p:spPr>
        </p:sp>
        <p:sp>
          <p:nvSpPr>
            <p:cNvPr name="TextBox 37" id="37"/>
            <p:cNvSpPr txBox="true"/>
            <p:nvPr/>
          </p:nvSpPr>
          <p:spPr>
            <a:xfrm>
              <a:off x="0" y="-76200"/>
              <a:ext cx="9235440" cy="1246632"/>
            </a:xfrm>
            <a:prstGeom prst="rect">
              <a:avLst/>
            </a:prstGeom>
          </p:spPr>
          <p:txBody>
            <a:bodyPr anchor="ctr" rtlCol="false" tIns="0" lIns="0" bIns="0" rIns="0"/>
            <a:lstStyle/>
            <a:p>
              <a:pPr algn="l">
                <a:lnSpc>
                  <a:spcPts val="2897"/>
                </a:lnSpc>
              </a:pPr>
              <a:r>
                <a:rPr lang="en-US" sz="2100">
                  <a:solidFill>
                    <a:srgbClr val="1B1F27"/>
                  </a:solidFill>
                  <a:latin typeface="Calibri (MS)"/>
                  <a:ea typeface="Calibri (MS)"/>
                  <a:cs typeface="Calibri (MS)"/>
                  <a:sym typeface="Calibri (MS)"/>
                </a:rPr>
                <a:t>Repeat: draw a parent pair via roulette → crossover (Pc) → mutate each child (Pm).</a:t>
              </a:r>
            </a:p>
          </p:txBody>
        </p:sp>
      </p:grpSp>
      <p:grpSp>
        <p:nvGrpSpPr>
          <p:cNvPr name="Group 38" id="38"/>
          <p:cNvGrpSpPr/>
          <p:nvPr/>
        </p:nvGrpSpPr>
        <p:grpSpPr>
          <a:xfrm rot="0">
            <a:off x="813435" y="5685663"/>
            <a:ext cx="8180070" cy="1006602"/>
            <a:chOff x="0" y="0"/>
            <a:chExt cx="10906760" cy="1342136"/>
          </a:xfrm>
        </p:grpSpPr>
        <p:sp>
          <p:nvSpPr>
            <p:cNvPr name="Freeform 39" id="39"/>
            <p:cNvSpPr/>
            <p:nvPr/>
          </p:nvSpPr>
          <p:spPr>
            <a:xfrm flipH="false" flipV="false" rot="0">
              <a:off x="0" y="0"/>
              <a:ext cx="10906760" cy="1342136"/>
            </a:xfrm>
            <a:custGeom>
              <a:avLst/>
              <a:gdLst/>
              <a:ahLst/>
              <a:cxnLst/>
              <a:rect r="r" b="b" t="t" l="l"/>
              <a:pathLst>
                <a:path h="1342136" w="10906760">
                  <a:moveTo>
                    <a:pt x="0" y="111887"/>
                  </a:moveTo>
                  <a:cubicBezTo>
                    <a:pt x="0" y="50038"/>
                    <a:pt x="50038" y="0"/>
                    <a:pt x="111887" y="0"/>
                  </a:cubicBezTo>
                  <a:lnTo>
                    <a:pt x="10794873" y="0"/>
                  </a:lnTo>
                  <a:cubicBezTo>
                    <a:pt x="10856595" y="0"/>
                    <a:pt x="10906760" y="50038"/>
                    <a:pt x="10906760" y="111887"/>
                  </a:cubicBezTo>
                  <a:lnTo>
                    <a:pt x="10906760" y="1230249"/>
                  </a:lnTo>
                  <a:cubicBezTo>
                    <a:pt x="10906760" y="1291971"/>
                    <a:pt x="10856722" y="1342136"/>
                    <a:pt x="10794873" y="1342136"/>
                  </a:cubicBezTo>
                  <a:lnTo>
                    <a:pt x="111887" y="1342136"/>
                  </a:lnTo>
                  <a:cubicBezTo>
                    <a:pt x="50165" y="1342136"/>
                    <a:pt x="0" y="1292098"/>
                    <a:pt x="0" y="1230249"/>
                  </a:cubicBezTo>
                  <a:close/>
                </a:path>
              </a:pathLst>
            </a:custGeom>
            <a:solidFill>
              <a:srgbClr val="FFFFFF"/>
            </a:solidFill>
            <a:ln w="19050" cap="sq">
              <a:solidFill>
                <a:srgbClr val="E3E9EE"/>
              </a:solidFill>
              <a:prstDash val="solid"/>
              <a:miter/>
            </a:ln>
          </p:spPr>
        </p:sp>
      </p:grpSp>
      <p:grpSp>
        <p:nvGrpSpPr>
          <p:cNvPr name="Group 40" id="40"/>
          <p:cNvGrpSpPr/>
          <p:nvPr/>
        </p:nvGrpSpPr>
        <p:grpSpPr>
          <a:xfrm rot="0">
            <a:off x="1042416" y="5928360"/>
            <a:ext cx="521208" cy="521208"/>
            <a:chOff x="0" y="0"/>
            <a:chExt cx="694944" cy="694944"/>
          </a:xfrm>
        </p:grpSpPr>
        <p:sp>
          <p:nvSpPr>
            <p:cNvPr name="Freeform 41" id="41"/>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0B2A4A"/>
            </a:solidFill>
          </p:spPr>
        </p:sp>
      </p:grpSp>
      <p:grpSp>
        <p:nvGrpSpPr>
          <p:cNvPr name="Group 42" id="42"/>
          <p:cNvGrpSpPr/>
          <p:nvPr/>
        </p:nvGrpSpPr>
        <p:grpSpPr>
          <a:xfrm rot="0">
            <a:off x="1042416" y="5928360"/>
            <a:ext cx="521208" cy="521208"/>
            <a:chOff x="0" y="0"/>
            <a:chExt cx="694944" cy="694944"/>
          </a:xfrm>
        </p:grpSpPr>
        <p:sp>
          <p:nvSpPr>
            <p:cNvPr name="Freeform 43" id="43"/>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close/>
                </a:path>
              </a:pathLst>
            </a:custGeom>
            <a:blipFill>
              <a:blip r:embed="rId3">
                <a:alphaModFix amt="0"/>
              </a:blip>
              <a:stretch>
                <a:fillRect l="-78303" t="0" r="-78303" b="0"/>
              </a:stretch>
            </a:blipFill>
          </p:spPr>
        </p:sp>
        <p:sp>
          <p:nvSpPr>
            <p:cNvPr name="TextBox 44" id="44"/>
            <p:cNvSpPr txBox="true"/>
            <p:nvPr/>
          </p:nvSpPr>
          <p:spPr>
            <a:xfrm>
              <a:off x="0" y="-9525"/>
              <a:ext cx="694944" cy="704469"/>
            </a:xfrm>
            <a:prstGeom prst="rect">
              <a:avLst/>
            </a:prstGeom>
          </p:spPr>
          <p:txBody>
            <a:bodyPr anchor="ctr" rtlCol="false" tIns="0" lIns="0" bIns="0" rIns="0"/>
            <a:lstStyle/>
            <a:p>
              <a:pPr algn="ctr">
                <a:lnSpc>
                  <a:spcPts val="2879"/>
                </a:lnSpc>
              </a:pPr>
              <a:r>
                <a:rPr lang="en-US" sz="2400" b="true">
                  <a:solidFill>
                    <a:srgbClr val="FFFFFF"/>
                  </a:solidFill>
                  <a:latin typeface="Cambria Bold"/>
                  <a:ea typeface="Cambria Bold"/>
                  <a:cs typeface="Cambria Bold"/>
                  <a:sym typeface="Cambria Bold"/>
                </a:rPr>
                <a:t>4</a:t>
              </a:r>
            </a:p>
          </p:txBody>
        </p:sp>
      </p:grpSp>
      <p:grpSp>
        <p:nvGrpSpPr>
          <p:cNvPr name="Group 45" id="45"/>
          <p:cNvGrpSpPr/>
          <p:nvPr/>
        </p:nvGrpSpPr>
        <p:grpSpPr>
          <a:xfrm rot="0">
            <a:off x="1755648" y="5750052"/>
            <a:ext cx="6926580" cy="877824"/>
            <a:chOff x="0" y="0"/>
            <a:chExt cx="9235440" cy="1170432"/>
          </a:xfrm>
        </p:grpSpPr>
        <p:sp>
          <p:nvSpPr>
            <p:cNvPr name="Freeform 46" id="46"/>
            <p:cNvSpPr/>
            <p:nvPr/>
          </p:nvSpPr>
          <p:spPr>
            <a:xfrm flipH="false" flipV="false" rot="0">
              <a:off x="0" y="0"/>
              <a:ext cx="9235440" cy="1170432"/>
            </a:xfrm>
            <a:custGeom>
              <a:avLst/>
              <a:gdLst/>
              <a:ahLst/>
              <a:cxnLst/>
              <a:rect r="r" b="b" t="t" l="l"/>
              <a:pathLst>
                <a:path h="1170432" w="9235440">
                  <a:moveTo>
                    <a:pt x="0" y="0"/>
                  </a:moveTo>
                  <a:lnTo>
                    <a:pt x="9235440" y="0"/>
                  </a:lnTo>
                  <a:lnTo>
                    <a:pt x="9235440" y="1170432"/>
                  </a:lnTo>
                  <a:lnTo>
                    <a:pt x="0" y="1170432"/>
                  </a:lnTo>
                  <a:close/>
                </a:path>
              </a:pathLst>
            </a:custGeom>
            <a:blipFill>
              <a:blip r:embed="rId3">
                <a:alphaModFix amt="0"/>
              </a:blip>
              <a:stretch>
                <a:fillRect l="0" t="-103749" r="0" b="-103749"/>
              </a:stretch>
            </a:blipFill>
          </p:spPr>
        </p:sp>
        <p:sp>
          <p:nvSpPr>
            <p:cNvPr name="TextBox 47" id="47"/>
            <p:cNvSpPr txBox="true"/>
            <p:nvPr/>
          </p:nvSpPr>
          <p:spPr>
            <a:xfrm>
              <a:off x="0" y="-76200"/>
              <a:ext cx="9235440" cy="1246632"/>
            </a:xfrm>
            <a:prstGeom prst="rect">
              <a:avLst/>
            </a:prstGeom>
          </p:spPr>
          <p:txBody>
            <a:bodyPr anchor="ctr" rtlCol="false" tIns="0" lIns="0" bIns="0" rIns="0"/>
            <a:lstStyle/>
            <a:p>
              <a:pPr algn="l">
                <a:lnSpc>
                  <a:spcPts val="2897"/>
                </a:lnSpc>
              </a:pPr>
              <a:r>
                <a:rPr lang="en-US" sz="2100">
                  <a:solidFill>
                    <a:srgbClr val="1B1F27"/>
                  </a:solidFill>
                  <a:latin typeface="Calibri (MS)"/>
                  <a:ea typeface="Calibri (MS)"/>
                  <a:cs typeface="Calibri (MS)"/>
                  <a:sym typeface="Calibri (MS)"/>
                </a:rPr>
                <a:t>Keep appending children until next_population reaches size 50.</a:t>
              </a:r>
            </a:p>
          </p:txBody>
        </p:sp>
      </p:grpSp>
      <p:grpSp>
        <p:nvGrpSpPr>
          <p:cNvPr name="Group 48" id="48"/>
          <p:cNvGrpSpPr/>
          <p:nvPr/>
        </p:nvGrpSpPr>
        <p:grpSpPr>
          <a:xfrm rot="0">
            <a:off x="813435" y="6865239"/>
            <a:ext cx="8180070" cy="1006602"/>
            <a:chOff x="0" y="0"/>
            <a:chExt cx="10906760" cy="1342136"/>
          </a:xfrm>
        </p:grpSpPr>
        <p:sp>
          <p:nvSpPr>
            <p:cNvPr name="Freeform 49" id="49"/>
            <p:cNvSpPr/>
            <p:nvPr/>
          </p:nvSpPr>
          <p:spPr>
            <a:xfrm flipH="false" flipV="false" rot="0">
              <a:off x="0" y="0"/>
              <a:ext cx="10906760" cy="1342136"/>
            </a:xfrm>
            <a:custGeom>
              <a:avLst/>
              <a:gdLst/>
              <a:ahLst/>
              <a:cxnLst/>
              <a:rect r="r" b="b" t="t" l="l"/>
              <a:pathLst>
                <a:path h="1342136" w="10906760">
                  <a:moveTo>
                    <a:pt x="0" y="111887"/>
                  </a:moveTo>
                  <a:cubicBezTo>
                    <a:pt x="0" y="50038"/>
                    <a:pt x="50038" y="0"/>
                    <a:pt x="111887" y="0"/>
                  </a:cubicBezTo>
                  <a:lnTo>
                    <a:pt x="10794873" y="0"/>
                  </a:lnTo>
                  <a:cubicBezTo>
                    <a:pt x="10856595" y="0"/>
                    <a:pt x="10906760" y="50038"/>
                    <a:pt x="10906760" y="111887"/>
                  </a:cubicBezTo>
                  <a:lnTo>
                    <a:pt x="10906760" y="1230249"/>
                  </a:lnTo>
                  <a:cubicBezTo>
                    <a:pt x="10906760" y="1291971"/>
                    <a:pt x="10856722" y="1342136"/>
                    <a:pt x="10794873" y="1342136"/>
                  </a:cubicBezTo>
                  <a:lnTo>
                    <a:pt x="111887" y="1342136"/>
                  </a:lnTo>
                  <a:cubicBezTo>
                    <a:pt x="50165" y="1342136"/>
                    <a:pt x="0" y="1292098"/>
                    <a:pt x="0" y="1230249"/>
                  </a:cubicBezTo>
                  <a:close/>
                </a:path>
              </a:pathLst>
            </a:custGeom>
            <a:solidFill>
              <a:srgbClr val="FFFFFF"/>
            </a:solidFill>
            <a:ln w="19050" cap="sq">
              <a:solidFill>
                <a:srgbClr val="E3E9EE"/>
              </a:solidFill>
              <a:prstDash val="solid"/>
              <a:miter/>
            </a:ln>
          </p:spPr>
        </p:sp>
      </p:grpSp>
      <p:grpSp>
        <p:nvGrpSpPr>
          <p:cNvPr name="Group 50" id="50"/>
          <p:cNvGrpSpPr/>
          <p:nvPr/>
        </p:nvGrpSpPr>
        <p:grpSpPr>
          <a:xfrm rot="0">
            <a:off x="1042416" y="7107936"/>
            <a:ext cx="521208" cy="521208"/>
            <a:chOff x="0" y="0"/>
            <a:chExt cx="694944" cy="694944"/>
          </a:xfrm>
        </p:grpSpPr>
        <p:sp>
          <p:nvSpPr>
            <p:cNvPr name="Freeform 51" id="51"/>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0B2A4A"/>
            </a:solidFill>
          </p:spPr>
        </p:sp>
      </p:grpSp>
      <p:grpSp>
        <p:nvGrpSpPr>
          <p:cNvPr name="Group 52" id="52"/>
          <p:cNvGrpSpPr/>
          <p:nvPr/>
        </p:nvGrpSpPr>
        <p:grpSpPr>
          <a:xfrm rot="0">
            <a:off x="1042416" y="7107936"/>
            <a:ext cx="521208" cy="521208"/>
            <a:chOff x="0" y="0"/>
            <a:chExt cx="694944" cy="694944"/>
          </a:xfrm>
        </p:grpSpPr>
        <p:sp>
          <p:nvSpPr>
            <p:cNvPr name="Freeform 53" id="53"/>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close/>
                </a:path>
              </a:pathLst>
            </a:custGeom>
            <a:blipFill>
              <a:blip r:embed="rId3">
                <a:alphaModFix amt="0"/>
              </a:blip>
              <a:stretch>
                <a:fillRect l="-78303" t="0" r="-78303" b="0"/>
              </a:stretch>
            </a:blipFill>
          </p:spPr>
        </p:sp>
        <p:sp>
          <p:nvSpPr>
            <p:cNvPr name="TextBox 54" id="54"/>
            <p:cNvSpPr txBox="true"/>
            <p:nvPr/>
          </p:nvSpPr>
          <p:spPr>
            <a:xfrm>
              <a:off x="0" y="-9525"/>
              <a:ext cx="694944" cy="704469"/>
            </a:xfrm>
            <a:prstGeom prst="rect">
              <a:avLst/>
            </a:prstGeom>
          </p:spPr>
          <p:txBody>
            <a:bodyPr anchor="ctr" rtlCol="false" tIns="0" lIns="0" bIns="0" rIns="0"/>
            <a:lstStyle/>
            <a:p>
              <a:pPr algn="ctr">
                <a:lnSpc>
                  <a:spcPts val="2879"/>
                </a:lnSpc>
              </a:pPr>
              <a:r>
                <a:rPr lang="en-US" sz="2400" b="true">
                  <a:solidFill>
                    <a:srgbClr val="FFFFFF"/>
                  </a:solidFill>
                  <a:latin typeface="Cambria Bold"/>
                  <a:ea typeface="Cambria Bold"/>
                  <a:cs typeface="Cambria Bold"/>
                  <a:sym typeface="Cambria Bold"/>
                </a:rPr>
                <a:t>5</a:t>
              </a:r>
            </a:p>
          </p:txBody>
        </p:sp>
      </p:grpSp>
      <p:grpSp>
        <p:nvGrpSpPr>
          <p:cNvPr name="Group 55" id="55"/>
          <p:cNvGrpSpPr/>
          <p:nvPr/>
        </p:nvGrpSpPr>
        <p:grpSpPr>
          <a:xfrm rot="0">
            <a:off x="1755648" y="6929628"/>
            <a:ext cx="6926580" cy="877824"/>
            <a:chOff x="0" y="0"/>
            <a:chExt cx="9235440" cy="1170432"/>
          </a:xfrm>
        </p:grpSpPr>
        <p:sp>
          <p:nvSpPr>
            <p:cNvPr name="Freeform 56" id="56"/>
            <p:cNvSpPr/>
            <p:nvPr/>
          </p:nvSpPr>
          <p:spPr>
            <a:xfrm flipH="false" flipV="false" rot="0">
              <a:off x="0" y="0"/>
              <a:ext cx="9235440" cy="1170432"/>
            </a:xfrm>
            <a:custGeom>
              <a:avLst/>
              <a:gdLst/>
              <a:ahLst/>
              <a:cxnLst/>
              <a:rect r="r" b="b" t="t" l="l"/>
              <a:pathLst>
                <a:path h="1170432" w="9235440">
                  <a:moveTo>
                    <a:pt x="0" y="0"/>
                  </a:moveTo>
                  <a:lnTo>
                    <a:pt x="9235440" y="0"/>
                  </a:lnTo>
                  <a:lnTo>
                    <a:pt x="9235440" y="1170432"/>
                  </a:lnTo>
                  <a:lnTo>
                    <a:pt x="0" y="1170432"/>
                  </a:lnTo>
                  <a:close/>
                </a:path>
              </a:pathLst>
            </a:custGeom>
            <a:blipFill>
              <a:blip r:embed="rId3">
                <a:alphaModFix amt="0"/>
              </a:blip>
              <a:stretch>
                <a:fillRect l="0" t="-103749" r="0" b="-103749"/>
              </a:stretch>
            </a:blipFill>
          </p:spPr>
        </p:sp>
        <p:sp>
          <p:nvSpPr>
            <p:cNvPr name="TextBox 57" id="57"/>
            <p:cNvSpPr txBox="true"/>
            <p:nvPr/>
          </p:nvSpPr>
          <p:spPr>
            <a:xfrm>
              <a:off x="0" y="-76200"/>
              <a:ext cx="9235440" cy="1246632"/>
            </a:xfrm>
            <a:prstGeom prst="rect">
              <a:avLst/>
            </a:prstGeom>
          </p:spPr>
          <p:txBody>
            <a:bodyPr anchor="ctr" rtlCol="false" tIns="0" lIns="0" bIns="0" rIns="0"/>
            <a:lstStyle/>
            <a:p>
              <a:pPr algn="l">
                <a:lnSpc>
                  <a:spcPts val="2897"/>
                </a:lnSpc>
              </a:pPr>
              <a:r>
                <a:rPr lang="en-US" sz="2100">
                  <a:solidFill>
                    <a:srgbClr val="1B1F27"/>
                  </a:solidFill>
                  <a:latin typeface="Calibri (MS)"/>
                  <a:ea typeface="Calibri (MS)"/>
                  <a:cs typeface="Calibri (MS)"/>
                  <a:sym typeface="Calibri (MS)"/>
                </a:rPr>
                <a:t>next_population = elite + offspring, replacing the current population.</a:t>
              </a:r>
            </a:p>
          </p:txBody>
        </p:sp>
      </p:grpSp>
      <p:grpSp>
        <p:nvGrpSpPr>
          <p:cNvPr name="Group 58" id="58"/>
          <p:cNvGrpSpPr/>
          <p:nvPr/>
        </p:nvGrpSpPr>
        <p:grpSpPr>
          <a:xfrm rot="0">
            <a:off x="9385935" y="2146935"/>
            <a:ext cx="8180070" cy="1006602"/>
            <a:chOff x="0" y="0"/>
            <a:chExt cx="10906760" cy="1342136"/>
          </a:xfrm>
        </p:grpSpPr>
        <p:sp>
          <p:nvSpPr>
            <p:cNvPr name="Freeform 59" id="59"/>
            <p:cNvSpPr/>
            <p:nvPr/>
          </p:nvSpPr>
          <p:spPr>
            <a:xfrm flipH="false" flipV="false" rot="0">
              <a:off x="0" y="0"/>
              <a:ext cx="10906760" cy="1342136"/>
            </a:xfrm>
            <a:custGeom>
              <a:avLst/>
              <a:gdLst/>
              <a:ahLst/>
              <a:cxnLst/>
              <a:rect r="r" b="b" t="t" l="l"/>
              <a:pathLst>
                <a:path h="1342136" w="10906760">
                  <a:moveTo>
                    <a:pt x="0" y="111887"/>
                  </a:moveTo>
                  <a:cubicBezTo>
                    <a:pt x="0" y="50038"/>
                    <a:pt x="50038" y="0"/>
                    <a:pt x="111887" y="0"/>
                  </a:cubicBezTo>
                  <a:lnTo>
                    <a:pt x="10794873" y="0"/>
                  </a:lnTo>
                  <a:cubicBezTo>
                    <a:pt x="10856595" y="0"/>
                    <a:pt x="10906760" y="50038"/>
                    <a:pt x="10906760" y="111887"/>
                  </a:cubicBezTo>
                  <a:lnTo>
                    <a:pt x="10906760" y="1230249"/>
                  </a:lnTo>
                  <a:cubicBezTo>
                    <a:pt x="10906760" y="1291971"/>
                    <a:pt x="10856722" y="1342136"/>
                    <a:pt x="10794873" y="1342136"/>
                  </a:cubicBezTo>
                  <a:lnTo>
                    <a:pt x="111887" y="1342136"/>
                  </a:lnTo>
                  <a:cubicBezTo>
                    <a:pt x="50165" y="1342136"/>
                    <a:pt x="0" y="1292098"/>
                    <a:pt x="0" y="1230249"/>
                  </a:cubicBezTo>
                  <a:close/>
                </a:path>
              </a:pathLst>
            </a:custGeom>
            <a:solidFill>
              <a:srgbClr val="FFFFFF"/>
            </a:solidFill>
            <a:ln w="19050" cap="sq">
              <a:solidFill>
                <a:srgbClr val="E3E9EE"/>
              </a:solidFill>
              <a:prstDash val="solid"/>
              <a:miter/>
            </a:ln>
          </p:spPr>
        </p:sp>
      </p:grpSp>
      <p:grpSp>
        <p:nvGrpSpPr>
          <p:cNvPr name="Group 60" id="60"/>
          <p:cNvGrpSpPr/>
          <p:nvPr/>
        </p:nvGrpSpPr>
        <p:grpSpPr>
          <a:xfrm rot="0">
            <a:off x="9614916" y="2389632"/>
            <a:ext cx="521208" cy="521208"/>
            <a:chOff x="0" y="0"/>
            <a:chExt cx="694944" cy="694944"/>
          </a:xfrm>
        </p:grpSpPr>
        <p:sp>
          <p:nvSpPr>
            <p:cNvPr name="Freeform 61" id="61"/>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0B2A4A"/>
            </a:solidFill>
          </p:spPr>
        </p:sp>
      </p:grpSp>
      <p:grpSp>
        <p:nvGrpSpPr>
          <p:cNvPr name="Group 62" id="62"/>
          <p:cNvGrpSpPr/>
          <p:nvPr/>
        </p:nvGrpSpPr>
        <p:grpSpPr>
          <a:xfrm rot="0">
            <a:off x="9614916" y="2389632"/>
            <a:ext cx="521208" cy="521208"/>
            <a:chOff x="0" y="0"/>
            <a:chExt cx="694944" cy="694944"/>
          </a:xfrm>
        </p:grpSpPr>
        <p:sp>
          <p:nvSpPr>
            <p:cNvPr name="Freeform 63" id="63"/>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close/>
                </a:path>
              </a:pathLst>
            </a:custGeom>
            <a:blipFill>
              <a:blip r:embed="rId3">
                <a:alphaModFix amt="0"/>
              </a:blip>
              <a:stretch>
                <a:fillRect l="-78303" t="0" r="-78303" b="0"/>
              </a:stretch>
            </a:blipFill>
          </p:spPr>
        </p:sp>
        <p:sp>
          <p:nvSpPr>
            <p:cNvPr name="TextBox 64" id="64"/>
            <p:cNvSpPr txBox="true"/>
            <p:nvPr/>
          </p:nvSpPr>
          <p:spPr>
            <a:xfrm>
              <a:off x="0" y="-9525"/>
              <a:ext cx="694944" cy="704469"/>
            </a:xfrm>
            <a:prstGeom prst="rect">
              <a:avLst/>
            </a:prstGeom>
          </p:spPr>
          <p:txBody>
            <a:bodyPr anchor="ctr" rtlCol="false" tIns="0" lIns="0" bIns="0" rIns="0"/>
            <a:lstStyle/>
            <a:p>
              <a:pPr algn="ctr">
                <a:lnSpc>
                  <a:spcPts val="2879"/>
                </a:lnSpc>
              </a:pPr>
              <a:r>
                <a:rPr lang="en-US" sz="2400" b="true">
                  <a:solidFill>
                    <a:srgbClr val="FFFFFF"/>
                  </a:solidFill>
                  <a:latin typeface="Cambria Bold"/>
                  <a:ea typeface="Cambria Bold"/>
                  <a:cs typeface="Cambria Bold"/>
                  <a:sym typeface="Cambria Bold"/>
                </a:rPr>
                <a:t>6</a:t>
              </a:r>
            </a:p>
          </p:txBody>
        </p:sp>
      </p:grpSp>
      <p:grpSp>
        <p:nvGrpSpPr>
          <p:cNvPr name="Group 65" id="65"/>
          <p:cNvGrpSpPr/>
          <p:nvPr/>
        </p:nvGrpSpPr>
        <p:grpSpPr>
          <a:xfrm rot="0">
            <a:off x="10328148" y="2211324"/>
            <a:ext cx="6926580" cy="877824"/>
            <a:chOff x="0" y="0"/>
            <a:chExt cx="9235440" cy="1170432"/>
          </a:xfrm>
        </p:grpSpPr>
        <p:sp>
          <p:nvSpPr>
            <p:cNvPr name="Freeform 66" id="66"/>
            <p:cNvSpPr/>
            <p:nvPr/>
          </p:nvSpPr>
          <p:spPr>
            <a:xfrm flipH="false" flipV="false" rot="0">
              <a:off x="0" y="0"/>
              <a:ext cx="9235440" cy="1170432"/>
            </a:xfrm>
            <a:custGeom>
              <a:avLst/>
              <a:gdLst/>
              <a:ahLst/>
              <a:cxnLst/>
              <a:rect r="r" b="b" t="t" l="l"/>
              <a:pathLst>
                <a:path h="1170432" w="9235440">
                  <a:moveTo>
                    <a:pt x="0" y="0"/>
                  </a:moveTo>
                  <a:lnTo>
                    <a:pt x="9235440" y="0"/>
                  </a:lnTo>
                  <a:lnTo>
                    <a:pt x="9235440" y="1170432"/>
                  </a:lnTo>
                  <a:lnTo>
                    <a:pt x="0" y="1170432"/>
                  </a:lnTo>
                  <a:close/>
                </a:path>
              </a:pathLst>
            </a:custGeom>
            <a:blipFill>
              <a:blip r:embed="rId3">
                <a:alphaModFix amt="0"/>
              </a:blip>
              <a:stretch>
                <a:fillRect l="0" t="-103749" r="0" b="-103749"/>
              </a:stretch>
            </a:blipFill>
          </p:spPr>
        </p:sp>
        <p:sp>
          <p:nvSpPr>
            <p:cNvPr name="TextBox 67" id="67"/>
            <p:cNvSpPr txBox="true"/>
            <p:nvPr/>
          </p:nvSpPr>
          <p:spPr>
            <a:xfrm>
              <a:off x="0" y="-76200"/>
              <a:ext cx="9235440" cy="1246632"/>
            </a:xfrm>
            <a:prstGeom prst="rect">
              <a:avLst/>
            </a:prstGeom>
          </p:spPr>
          <p:txBody>
            <a:bodyPr anchor="ctr" rtlCol="false" tIns="0" lIns="0" bIns="0" rIns="0"/>
            <a:lstStyle/>
            <a:p>
              <a:pPr algn="l">
                <a:lnSpc>
                  <a:spcPts val="2897"/>
                </a:lnSpc>
              </a:pPr>
              <a:r>
                <a:rPr lang="en-US" sz="2100">
                  <a:solidFill>
                    <a:srgbClr val="1B1F27"/>
                  </a:solidFill>
                  <a:latin typeface="Calibri (MS)"/>
                  <a:ea typeface="Calibri (MS)"/>
                  <a:cs typeface="Calibri (MS)"/>
                  <a:sym typeface="Calibri (MS)"/>
                </a:rPr>
                <a:t>ackley_vec(next_population) re-evaluates all 50 fitness values at once.</a:t>
              </a:r>
            </a:p>
          </p:txBody>
        </p:sp>
      </p:grpSp>
      <p:grpSp>
        <p:nvGrpSpPr>
          <p:cNvPr name="Group 68" id="68"/>
          <p:cNvGrpSpPr/>
          <p:nvPr/>
        </p:nvGrpSpPr>
        <p:grpSpPr>
          <a:xfrm rot="0">
            <a:off x="9385935" y="3326511"/>
            <a:ext cx="8180070" cy="1006602"/>
            <a:chOff x="0" y="0"/>
            <a:chExt cx="10906760" cy="1342136"/>
          </a:xfrm>
        </p:grpSpPr>
        <p:sp>
          <p:nvSpPr>
            <p:cNvPr name="Freeform 69" id="69"/>
            <p:cNvSpPr/>
            <p:nvPr/>
          </p:nvSpPr>
          <p:spPr>
            <a:xfrm flipH="false" flipV="false" rot="0">
              <a:off x="0" y="0"/>
              <a:ext cx="10906760" cy="1342136"/>
            </a:xfrm>
            <a:custGeom>
              <a:avLst/>
              <a:gdLst/>
              <a:ahLst/>
              <a:cxnLst/>
              <a:rect r="r" b="b" t="t" l="l"/>
              <a:pathLst>
                <a:path h="1342136" w="10906760">
                  <a:moveTo>
                    <a:pt x="0" y="111887"/>
                  </a:moveTo>
                  <a:cubicBezTo>
                    <a:pt x="0" y="50038"/>
                    <a:pt x="50038" y="0"/>
                    <a:pt x="111887" y="0"/>
                  </a:cubicBezTo>
                  <a:lnTo>
                    <a:pt x="10794873" y="0"/>
                  </a:lnTo>
                  <a:cubicBezTo>
                    <a:pt x="10856595" y="0"/>
                    <a:pt x="10906760" y="50038"/>
                    <a:pt x="10906760" y="111887"/>
                  </a:cubicBezTo>
                  <a:lnTo>
                    <a:pt x="10906760" y="1230249"/>
                  </a:lnTo>
                  <a:cubicBezTo>
                    <a:pt x="10906760" y="1291971"/>
                    <a:pt x="10856722" y="1342136"/>
                    <a:pt x="10794873" y="1342136"/>
                  </a:cubicBezTo>
                  <a:lnTo>
                    <a:pt x="111887" y="1342136"/>
                  </a:lnTo>
                  <a:cubicBezTo>
                    <a:pt x="50165" y="1342136"/>
                    <a:pt x="0" y="1292098"/>
                    <a:pt x="0" y="1230249"/>
                  </a:cubicBezTo>
                  <a:close/>
                </a:path>
              </a:pathLst>
            </a:custGeom>
            <a:solidFill>
              <a:srgbClr val="FFFFFF"/>
            </a:solidFill>
            <a:ln w="19050" cap="sq">
              <a:solidFill>
                <a:srgbClr val="E3E9EE"/>
              </a:solidFill>
              <a:prstDash val="solid"/>
              <a:miter/>
            </a:ln>
          </p:spPr>
        </p:sp>
      </p:grpSp>
      <p:grpSp>
        <p:nvGrpSpPr>
          <p:cNvPr name="Group 70" id="70"/>
          <p:cNvGrpSpPr/>
          <p:nvPr/>
        </p:nvGrpSpPr>
        <p:grpSpPr>
          <a:xfrm rot="0">
            <a:off x="9614916" y="3569208"/>
            <a:ext cx="521208" cy="521208"/>
            <a:chOff x="0" y="0"/>
            <a:chExt cx="694944" cy="694944"/>
          </a:xfrm>
        </p:grpSpPr>
        <p:sp>
          <p:nvSpPr>
            <p:cNvPr name="Freeform 71" id="71"/>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0B2A4A"/>
            </a:solidFill>
          </p:spPr>
        </p:sp>
      </p:grpSp>
      <p:grpSp>
        <p:nvGrpSpPr>
          <p:cNvPr name="Group 72" id="72"/>
          <p:cNvGrpSpPr/>
          <p:nvPr/>
        </p:nvGrpSpPr>
        <p:grpSpPr>
          <a:xfrm rot="0">
            <a:off x="9614916" y="3569208"/>
            <a:ext cx="521208" cy="521208"/>
            <a:chOff x="0" y="0"/>
            <a:chExt cx="694944" cy="694944"/>
          </a:xfrm>
        </p:grpSpPr>
        <p:sp>
          <p:nvSpPr>
            <p:cNvPr name="Freeform 73" id="73"/>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close/>
                </a:path>
              </a:pathLst>
            </a:custGeom>
            <a:blipFill>
              <a:blip r:embed="rId3">
                <a:alphaModFix amt="0"/>
              </a:blip>
              <a:stretch>
                <a:fillRect l="-78303" t="0" r="-78303" b="0"/>
              </a:stretch>
            </a:blipFill>
          </p:spPr>
        </p:sp>
        <p:sp>
          <p:nvSpPr>
            <p:cNvPr name="TextBox 74" id="74"/>
            <p:cNvSpPr txBox="true"/>
            <p:nvPr/>
          </p:nvSpPr>
          <p:spPr>
            <a:xfrm>
              <a:off x="0" y="-9525"/>
              <a:ext cx="694944" cy="704469"/>
            </a:xfrm>
            <a:prstGeom prst="rect">
              <a:avLst/>
            </a:prstGeom>
          </p:spPr>
          <p:txBody>
            <a:bodyPr anchor="ctr" rtlCol="false" tIns="0" lIns="0" bIns="0" rIns="0"/>
            <a:lstStyle/>
            <a:p>
              <a:pPr algn="ctr">
                <a:lnSpc>
                  <a:spcPts val="2879"/>
                </a:lnSpc>
              </a:pPr>
              <a:r>
                <a:rPr lang="en-US" sz="2400" b="true">
                  <a:solidFill>
                    <a:srgbClr val="FFFFFF"/>
                  </a:solidFill>
                  <a:latin typeface="Cambria Bold"/>
                  <a:ea typeface="Cambria Bold"/>
                  <a:cs typeface="Cambria Bold"/>
                  <a:sym typeface="Cambria Bold"/>
                </a:rPr>
                <a:t>7</a:t>
              </a:r>
            </a:p>
          </p:txBody>
        </p:sp>
      </p:grpSp>
      <p:grpSp>
        <p:nvGrpSpPr>
          <p:cNvPr name="Group 75" id="75"/>
          <p:cNvGrpSpPr/>
          <p:nvPr/>
        </p:nvGrpSpPr>
        <p:grpSpPr>
          <a:xfrm rot="0">
            <a:off x="10328148" y="3390900"/>
            <a:ext cx="6926580" cy="877824"/>
            <a:chOff x="0" y="0"/>
            <a:chExt cx="9235440" cy="1170432"/>
          </a:xfrm>
        </p:grpSpPr>
        <p:sp>
          <p:nvSpPr>
            <p:cNvPr name="Freeform 76" id="76"/>
            <p:cNvSpPr/>
            <p:nvPr/>
          </p:nvSpPr>
          <p:spPr>
            <a:xfrm flipH="false" flipV="false" rot="0">
              <a:off x="0" y="0"/>
              <a:ext cx="9235440" cy="1170432"/>
            </a:xfrm>
            <a:custGeom>
              <a:avLst/>
              <a:gdLst/>
              <a:ahLst/>
              <a:cxnLst/>
              <a:rect r="r" b="b" t="t" l="l"/>
              <a:pathLst>
                <a:path h="1170432" w="9235440">
                  <a:moveTo>
                    <a:pt x="0" y="0"/>
                  </a:moveTo>
                  <a:lnTo>
                    <a:pt x="9235440" y="0"/>
                  </a:lnTo>
                  <a:lnTo>
                    <a:pt x="9235440" y="1170432"/>
                  </a:lnTo>
                  <a:lnTo>
                    <a:pt x="0" y="1170432"/>
                  </a:lnTo>
                  <a:close/>
                </a:path>
              </a:pathLst>
            </a:custGeom>
            <a:blipFill>
              <a:blip r:embed="rId3">
                <a:alphaModFix amt="0"/>
              </a:blip>
              <a:stretch>
                <a:fillRect l="0" t="-103749" r="0" b="-103749"/>
              </a:stretch>
            </a:blipFill>
          </p:spPr>
        </p:sp>
        <p:sp>
          <p:nvSpPr>
            <p:cNvPr name="TextBox 77" id="77"/>
            <p:cNvSpPr txBox="true"/>
            <p:nvPr/>
          </p:nvSpPr>
          <p:spPr>
            <a:xfrm>
              <a:off x="0" y="-76200"/>
              <a:ext cx="9235440" cy="1246632"/>
            </a:xfrm>
            <a:prstGeom prst="rect">
              <a:avLst/>
            </a:prstGeom>
          </p:spPr>
          <p:txBody>
            <a:bodyPr anchor="ctr" rtlCol="false" tIns="0" lIns="0" bIns="0" rIns="0"/>
            <a:lstStyle/>
            <a:p>
              <a:pPr algn="l">
                <a:lnSpc>
                  <a:spcPts val="2897"/>
                </a:lnSpc>
              </a:pPr>
              <a:r>
                <a:rPr lang="en-US" sz="2100">
                  <a:solidFill>
                    <a:srgbClr val="1B1F27"/>
                  </a:solidFill>
                  <a:latin typeface="Calibri (MS)"/>
                  <a:ea typeface="Calibri (MS)"/>
                  <a:cs typeface="Calibri (MS)"/>
                  <a:sym typeface="Calibri (MS)"/>
                </a:rPr>
                <a:t>best_fitness / best_chromosome update only if the new best is lower.</a:t>
              </a:r>
            </a:p>
          </p:txBody>
        </p:sp>
      </p:grpSp>
      <p:grpSp>
        <p:nvGrpSpPr>
          <p:cNvPr name="Group 78" id="78"/>
          <p:cNvGrpSpPr/>
          <p:nvPr/>
        </p:nvGrpSpPr>
        <p:grpSpPr>
          <a:xfrm rot="0">
            <a:off x="9385935" y="4506087"/>
            <a:ext cx="8180070" cy="1006602"/>
            <a:chOff x="0" y="0"/>
            <a:chExt cx="10906760" cy="1342136"/>
          </a:xfrm>
        </p:grpSpPr>
        <p:sp>
          <p:nvSpPr>
            <p:cNvPr name="Freeform 79" id="79"/>
            <p:cNvSpPr/>
            <p:nvPr/>
          </p:nvSpPr>
          <p:spPr>
            <a:xfrm flipH="false" flipV="false" rot="0">
              <a:off x="0" y="0"/>
              <a:ext cx="10906760" cy="1342136"/>
            </a:xfrm>
            <a:custGeom>
              <a:avLst/>
              <a:gdLst/>
              <a:ahLst/>
              <a:cxnLst/>
              <a:rect r="r" b="b" t="t" l="l"/>
              <a:pathLst>
                <a:path h="1342136" w="10906760">
                  <a:moveTo>
                    <a:pt x="0" y="111887"/>
                  </a:moveTo>
                  <a:cubicBezTo>
                    <a:pt x="0" y="50038"/>
                    <a:pt x="50038" y="0"/>
                    <a:pt x="111887" y="0"/>
                  </a:cubicBezTo>
                  <a:lnTo>
                    <a:pt x="10794873" y="0"/>
                  </a:lnTo>
                  <a:cubicBezTo>
                    <a:pt x="10856595" y="0"/>
                    <a:pt x="10906760" y="50038"/>
                    <a:pt x="10906760" y="111887"/>
                  </a:cubicBezTo>
                  <a:lnTo>
                    <a:pt x="10906760" y="1230249"/>
                  </a:lnTo>
                  <a:cubicBezTo>
                    <a:pt x="10906760" y="1291971"/>
                    <a:pt x="10856722" y="1342136"/>
                    <a:pt x="10794873" y="1342136"/>
                  </a:cubicBezTo>
                  <a:lnTo>
                    <a:pt x="111887" y="1342136"/>
                  </a:lnTo>
                  <a:cubicBezTo>
                    <a:pt x="50165" y="1342136"/>
                    <a:pt x="0" y="1292098"/>
                    <a:pt x="0" y="1230249"/>
                  </a:cubicBezTo>
                  <a:close/>
                </a:path>
              </a:pathLst>
            </a:custGeom>
            <a:solidFill>
              <a:srgbClr val="FFFFFF"/>
            </a:solidFill>
            <a:ln w="19050" cap="sq">
              <a:solidFill>
                <a:srgbClr val="E3E9EE"/>
              </a:solidFill>
              <a:prstDash val="solid"/>
              <a:miter/>
            </a:ln>
          </p:spPr>
        </p:sp>
      </p:grpSp>
      <p:grpSp>
        <p:nvGrpSpPr>
          <p:cNvPr name="Group 80" id="80"/>
          <p:cNvGrpSpPr/>
          <p:nvPr/>
        </p:nvGrpSpPr>
        <p:grpSpPr>
          <a:xfrm rot="0">
            <a:off x="9614916" y="4748784"/>
            <a:ext cx="521208" cy="521208"/>
            <a:chOff x="0" y="0"/>
            <a:chExt cx="694944" cy="694944"/>
          </a:xfrm>
        </p:grpSpPr>
        <p:sp>
          <p:nvSpPr>
            <p:cNvPr name="Freeform 81" id="81"/>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0B2A4A"/>
            </a:solidFill>
          </p:spPr>
        </p:sp>
      </p:grpSp>
      <p:grpSp>
        <p:nvGrpSpPr>
          <p:cNvPr name="Group 82" id="82"/>
          <p:cNvGrpSpPr/>
          <p:nvPr/>
        </p:nvGrpSpPr>
        <p:grpSpPr>
          <a:xfrm rot="0">
            <a:off x="9614916" y="4748784"/>
            <a:ext cx="521208" cy="521208"/>
            <a:chOff x="0" y="0"/>
            <a:chExt cx="694944" cy="694944"/>
          </a:xfrm>
        </p:grpSpPr>
        <p:sp>
          <p:nvSpPr>
            <p:cNvPr name="Freeform 83" id="83"/>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close/>
                </a:path>
              </a:pathLst>
            </a:custGeom>
            <a:blipFill>
              <a:blip r:embed="rId3">
                <a:alphaModFix amt="0"/>
              </a:blip>
              <a:stretch>
                <a:fillRect l="-78303" t="0" r="-78303" b="0"/>
              </a:stretch>
            </a:blipFill>
          </p:spPr>
        </p:sp>
        <p:sp>
          <p:nvSpPr>
            <p:cNvPr name="TextBox 84" id="84"/>
            <p:cNvSpPr txBox="true"/>
            <p:nvPr/>
          </p:nvSpPr>
          <p:spPr>
            <a:xfrm>
              <a:off x="0" y="-9525"/>
              <a:ext cx="694944" cy="704469"/>
            </a:xfrm>
            <a:prstGeom prst="rect">
              <a:avLst/>
            </a:prstGeom>
          </p:spPr>
          <p:txBody>
            <a:bodyPr anchor="ctr" rtlCol="false" tIns="0" lIns="0" bIns="0" rIns="0"/>
            <a:lstStyle/>
            <a:p>
              <a:pPr algn="ctr">
                <a:lnSpc>
                  <a:spcPts val="2879"/>
                </a:lnSpc>
              </a:pPr>
              <a:r>
                <a:rPr lang="en-US" sz="2400" b="true">
                  <a:solidFill>
                    <a:srgbClr val="FFFFFF"/>
                  </a:solidFill>
                  <a:latin typeface="Cambria Bold"/>
                  <a:ea typeface="Cambria Bold"/>
                  <a:cs typeface="Cambria Bold"/>
                  <a:sym typeface="Cambria Bold"/>
                </a:rPr>
                <a:t>8</a:t>
              </a:r>
            </a:p>
          </p:txBody>
        </p:sp>
      </p:grpSp>
      <p:grpSp>
        <p:nvGrpSpPr>
          <p:cNvPr name="Group 85" id="85"/>
          <p:cNvGrpSpPr/>
          <p:nvPr/>
        </p:nvGrpSpPr>
        <p:grpSpPr>
          <a:xfrm rot="0">
            <a:off x="10328148" y="4570476"/>
            <a:ext cx="6926580" cy="877824"/>
            <a:chOff x="0" y="0"/>
            <a:chExt cx="9235440" cy="1170432"/>
          </a:xfrm>
        </p:grpSpPr>
        <p:sp>
          <p:nvSpPr>
            <p:cNvPr name="Freeform 86" id="86"/>
            <p:cNvSpPr/>
            <p:nvPr/>
          </p:nvSpPr>
          <p:spPr>
            <a:xfrm flipH="false" flipV="false" rot="0">
              <a:off x="0" y="0"/>
              <a:ext cx="9235440" cy="1170432"/>
            </a:xfrm>
            <a:custGeom>
              <a:avLst/>
              <a:gdLst/>
              <a:ahLst/>
              <a:cxnLst/>
              <a:rect r="r" b="b" t="t" l="l"/>
              <a:pathLst>
                <a:path h="1170432" w="9235440">
                  <a:moveTo>
                    <a:pt x="0" y="0"/>
                  </a:moveTo>
                  <a:lnTo>
                    <a:pt x="9235440" y="0"/>
                  </a:lnTo>
                  <a:lnTo>
                    <a:pt x="9235440" y="1170432"/>
                  </a:lnTo>
                  <a:lnTo>
                    <a:pt x="0" y="1170432"/>
                  </a:lnTo>
                  <a:close/>
                </a:path>
              </a:pathLst>
            </a:custGeom>
            <a:blipFill>
              <a:blip r:embed="rId3">
                <a:alphaModFix amt="0"/>
              </a:blip>
              <a:stretch>
                <a:fillRect l="0" t="-103749" r="0" b="-103749"/>
              </a:stretch>
            </a:blipFill>
          </p:spPr>
        </p:sp>
        <p:sp>
          <p:nvSpPr>
            <p:cNvPr name="TextBox 87" id="87"/>
            <p:cNvSpPr txBox="true"/>
            <p:nvPr/>
          </p:nvSpPr>
          <p:spPr>
            <a:xfrm>
              <a:off x="0" y="-76200"/>
              <a:ext cx="9235440" cy="1246632"/>
            </a:xfrm>
            <a:prstGeom prst="rect">
              <a:avLst/>
            </a:prstGeom>
          </p:spPr>
          <p:txBody>
            <a:bodyPr anchor="ctr" rtlCol="false" tIns="0" lIns="0" bIns="0" rIns="0"/>
            <a:lstStyle/>
            <a:p>
              <a:pPr algn="l">
                <a:lnSpc>
                  <a:spcPts val="2897"/>
                </a:lnSpc>
              </a:pPr>
              <a:r>
                <a:rPr lang="en-US" sz="2100">
                  <a:solidFill>
                    <a:srgbClr val="1B1F27"/>
                  </a:solidFill>
                  <a:latin typeface="Calibri (MS)"/>
                  <a:ea typeface="Calibri (MS)"/>
                  <a:cs typeface="Calibri (MS)"/>
                  <a:sym typeface="Calibri (MS)"/>
                </a:rPr>
                <a:t>history_best and history_mean each get one new value appended.</a:t>
              </a:r>
            </a:p>
          </p:txBody>
        </p:sp>
      </p:grpSp>
      <p:grpSp>
        <p:nvGrpSpPr>
          <p:cNvPr name="Group 88" id="88"/>
          <p:cNvGrpSpPr/>
          <p:nvPr/>
        </p:nvGrpSpPr>
        <p:grpSpPr>
          <a:xfrm rot="0">
            <a:off x="9385935" y="5685663"/>
            <a:ext cx="8180070" cy="1006602"/>
            <a:chOff x="0" y="0"/>
            <a:chExt cx="10906760" cy="1342136"/>
          </a:xfrm>
        </p:grpSpPr>
        <p:sp>
          <p:nvSpPr>
            <p:cNvPr name="Freeform 89" id="89"/>
            <p:cNvSpPr/>
            <p:nvPr/>
          </p:nvSpPr>
          <p:spPr>
            <a:xfrm flipH="false" flipV="false" rot="0">
              <a:off x="0" y="0"/>
              <a:ext cx="10906760" cy="1342136"/>
            </a:xfrm>
            <a:custGeom>
              <a:avLst/>
              <a:gdLst/>
              <a:ahLst/>
              <a:cxnLst/>
              <a:rect r="r" b="b" t="t" l="l"/>
              <a:pathLst>
                <a:path h="1342136" w="10906760">
                  <a:moveTo>
                    <a:pt x="0" y="111887"/>
                  </a:moveTo>
                  <a:cubicBezTo>
                    <a:pt x="0" y="50038"/>
                    <a:pt x="50038" y="0"/>
                    <a:pt x="111887" y="0"/>
                  </a:cubicBezTo>
                  <a:lnTo>
                    <a:pt x="10794873" y="0"/>
                  </a:lnTo>
                  <a:cubicBezTo>
                    <a:pt x="10856595" y="0"/>
                    <a:pt x="10906760" y="50038"/>
                    <a:pt x="10906760" y="111887"/>
                  </a:cubicBezTo>
                  <a:lnTo>
                    <a:pt x="10906760" y="1230249"/>
                  </a:lnTo>
                  <a:cubicBezTo>
                    <a:pt x="10906760" y="1291971"/>
                    <a:pt x="10856722" y="1342136"/>
                    <a:pt x="10794873" y="1342136"/>
                  </a:cubicBezTo>
                  <a:lnTo>
                    <a:pt x="111887" y="1342136"/>
                  </a:lnTo>
                  <a:cubicBezTo>
                    <a:pt x="50165" y="1342136"/>
                    <a:pt x="0" y="1292098"/>
                    <a:pt x="0" y="1230249"/>
                  </a:cubicBezTo>
                  <a:close/>
                </a:path>
              </a:pathLst>
            </a:custGeom>
            <a:solidFill>
              <a:srgbClr val="FFFFFF"/>
            </a:solidFill>
            <a:ln w="19050" cap="sq">
              <a:solidFill>
                <a:srgbClr val="E3E9EE"/>
              </a:solidFill>
              <a:prstDash val="solid"/>
              <a:miter/>
            </a:ln>
          </p:spPr>
        </p:sp>
      </p:grpSp>
      <p:grpSp>
        <p:nvGrpSpPr>
          <p:cNvPr name="Group 90" id="90"/>
          <p:cNvGrpSpPr/>
          <p:nvPr/>
        </p:nvGrpSpPr>
        <p:grpSpPr>
          <a:xfrm rot="0">
            <a:off x="9614916" y="5928360"/>
            <a:ext cx="521208" cy="521208"/>
            <a:chOff x="0" y="0"/>
            <a:chExt cx="694944" cy="694944"/>
          </a:xfrm>
        </p:grpSpPr>
        <p:sp>
          <p:nvSpPr>
            <p:cNvPr name="Freeform 91" id="91"/>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0B2A4A"/>
            </a:solidFill>
          </p:spPr>
        </p:sp>
      </p:grpSp>
      <p:grpSp>
        <p:nvGrpSpPr>
          <p:cNvPr name="Group 92" id="92"/>
          <p:cNvGrpSpPr/>
          <p:nvPr/>
        </p:nvGrpSpPr>
        <p:grpSpPr>
          <a:xfrm rot="0">
            <a:off x="9614916" y="5928360"/>
            <a:ext cx="521208" cy="521208"/>
            <a:chOff x="0" y="0"/>
            <a:chExt cx="694944" cy="694944"/>
          </a:xfrm>
        </p:grpSpPr>
        <p:sp>
          <p:nvSpPr>
            <p:cNvPr name="Freeform 93" id="93"/>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close/>
                </a:path>
              </a:pathLst>
            </a:custGeom>
            <a:blipFill>
              <a:blip r:embed="rId3">
                <a:alphaModFix amt="0"/>
              </a:blip>
              <a:stretch>
                <a:fillRect l="-78303" t="0" r="-78303" b="0"/>
              </a:stretch>
            </a:blipFill>
          </p:spPr>
        </p:sp>
        <p:sp>
          <p:nvSpPr>
            <p:cNvPr name="TextBox 94" id="94"/>
            <p:cNvSpPr txBox="true"/>
            <p:nvPr/>
          </p:nvSpPr>
          <p:spPr>
            <a:xfrm>
              <a:off x="0" y="-9525"/>
              <a:ext cx="694944" cy="704469"/>
            </a:xfrm>
            <a:prstGeom prst="rect">
              <a:avLst/>
            </a:prstGeom>
          </p:spPr>
          <p:txBody>
            <a:bodyPr anchor="ctr" rtlCol="false" tIns="0" lIns="0" bIns="0" rIns="0"/>
            <a:lstStyle/>
            <a:p>
              <a:pPr algn="ctr">
                <a:lnSpc>
                  <a:spcPts val="2879"/>
                </a:lnSpc>
              </a:pPr>
              <a:r>
                <a:rPr lang="en-US" sz="2400" b="true">
                  <a:solidFill>
                    <a:srgbClr val="FFFFFF"/>
                  </a:solidFill>
                  <a:latin typeface="Cambria Bold"/>
                  <a:ea typeface="Cambria Bold"/>
                  <a:cs typeface="Cambria Bold"/>
                  <a:sym typeface="Cambria Bold"/>
                </a:rPr>
                <a:t>9</a:t>
              </a:r>
            </a:p>
          </p:txBody>
        </p:sp>
      </p:grpSp>
      <p:grpSp>
        <p:nvGrpSpPr>
          <p:cNvPr name="Group 95" id="95"/>
          <p:cNvGrpSpPr/>
          <p:nvPr/>
        </p:nvGrpSpPr>
        <p:grpSpPr>
          <a:xfrm rot="0">
            <a:off x="10328148" y="5750052"/>
            <a:ext cx="6926580" cy="877824"/>
            <a:chOff x="0" y="0"/>
            <a:chExt cx="9235440" cy="1170432"/>
          </a:xfrm>
        </p:grpSpPr>
        <p:sp>
          <p:nvSpPr>
            <p:cNvPr name="Freeform 96" id="96"/>
            <p:cNvSpPr/>
            <p:nvPr/>
          </p:nvSpPr>
          <p:spPr>
            <a:xfrm flipH="false" flipV="false" rot="0">
              <a:off x="0" y="0"/>
              <a:ext cx="9235440" cy="1170432"/>
            </a:xfrm>
            <a:custGeom>
              <a:avLst/>
              <a:gdLst/>
              <a:ahLst/>
              <a:cxnLst/>
              <a:rect r="r" b="b" t="t" l="l"/>
              <a:pathLst>
                <a:path h="1170432" w="9235440">
                  <a:moveTo>
                    <a:pt x="0" y="0"/>
                  </a:moveTo>
                  <a:lnTo>
                    <a:pt x="9235440" y="0"/>
                  </a:lnTo>
                  <a:lnTo>
                    <a:pt x="9235440" y="1170432"/>
                  </a:lnTo>
                  <a:lnTo>
                    <a:pt x="0" y="1170432"/>
                  </a:lnTo>
                  <a:close/>
                </a:path>
              </a:pathLst>
            </a:custGeom>
            <a:blipFill>
              <a:blip r:embed="rId3">
                <a:alphaModFix amt="0"/>
              </a:blip>
              <a:stretch>
                <a:fillRect l="0" t="-103749" r="0" b="-103749"/>
              </a:stretch>
            </a:blipFill>
          </p:spPr>
        </p:sp>
        <p:sp>
          <p:nvSpPr>
            <p:cNvPr name="TextBox 97" id="97"/>
            <p:cNvSpPr txBox="true"/>
            <p:nvPr/>
          </p:nvSpPr>
          <p:spPr>
            <a:xfrm>
              <a:off x="0" y="-76200"/>
              <a:ext cx="9235440" cy="1246632"/>
            </a:xfrm>
            <a:prstGeom prst="rect">
              <a:avLst/>
            </a:prstGeom>
          </p:spPr>
          <p:txBody>
            <a:bodyPr anchor="ctr" rtlCol="false" tIns="0" lIns="0" bIns="0" rIns="0"/>
            <a:lstStyle/>
            <a:p>
              <a:pPr algn="l">
                <a:lnSpc>
                  <a:spcPts val="2897"/>
                </a:lnSpc>
              </a:pPr>
              <a:r>
                <a:rPr lang="en-US" sz="2100">
                  <a:solidFill>
                    <a:srgbClr val="1B1F27"/>
                  </a:solidFill>
                  <a:latin typeface="Calibri (MS)"/>
                  <a:ea typeface="Calibri (MS)"/>
                  <a:cs typeface="Calibri (MS)"/>
                  <a:sym typeface="Calibri (MS)"/>
                </a:rPr>
                <a:t>If verbose, print progress at generation 1 and every 10th generation.</a:t>
              </a:r>
            </a:p>
          </p:txBody>
        </p:sp>
      </p:grpSp>
      <p:grpSp>
        <p:nvGrpSpPr>
          <p:cNvPr name="Group 98" id="98"/>
          <p:cNvGrpSpPr/>
          <p:nvPr/>
        </p:nvGrpSpPr>
        <p:grpSpPr>
          <a:xfrm rot="0">
            <a:off x="9385935" y="6865239"/>
            <a:ext cx="8180070" cy="1006602"/>
            <a:chOff x="0" y="0"/>
            <a:chExt cx="10906760" cy="1342136"/>
          </a:xfrm>
        </p:grpSpPr>
        <p:sp>
          <p:nvSpPr>
            <p:cNvPr name="Freeform 99" id="99"/>
            <p:cNvSpPr/>
            <p:nvPr/>
          </p:nvSpPr>
          <p:spPr>
            <a:xfrm flipH="false" flipV="false" rot="0">
              <a:off x="0" y="0"/>
              <a:ext cx="10906760" cy="1342136"/>
            </a:xfrm>
            <a:custGeom>
              <a:avLst/>
              <a:gdLst/>
              <a:ahLst/>
              <a:cxnLst/>
              <a:rect r="r" b="b" t="t" l="l"/>
              <a:pathLst>
                <a:path h="1342136" w="10906760">
                  <a:moveTo>
                    <a:pt x="0" y="111887"/>
                  </a:moveTo>
                  <a:cubicBezTo>
                    <a:pt x="0" y="50038"/>
                    <a:pt x="50038" y="0"/>
                    <a:pt x="111887" y="0"/>
                  </a:cubicBezTo>
                  <a:lnTo>
                    <a:pt x="10794873" y="0"/>
                  </a:lnTo>
                  <a:cubicBezTo>
                    <a:pt x="10856595" y="0"/>
                    <a:pt x="10906760" y="50038"/>
                    <a:pt x="10906760" y="111887"/>
                  </a:cubicBezTo>
                  <a:lnTo>
                    <a:pt x="10906760" y="1230249"/>
                  </a:lnTo>
                  <a:cubicBezTo>
                    <a:pt x="10906760" y="1291971"/>
                    <a:pt x="10856722" y="1342136"/>
                    <a:pt x="10794873" y="1342136"/>
                  </a:cubicBezTo>
                  <a:lnTo>
                    <a:pt x="111887" y="1342136"/>
                  </a:lnTo>
                  <a:cubicBezTo>
                    <a:pt x="50165" y="1342136"/>
                    <a:pt x="0" y="1292098"/>
                    <a:pt x="0" y="1230249"/>
                  </a:cubicBezTo>
                  <a:close/>
                </a:path>
              </a:pathLst>
            </a:custGeom>
            <a:solidFill>
              <a:srgbClr val="FFFFFF"/>
            </a:solidFill>
            <a:ln w="19050" cap="sq">
              <a:solidFill>
                <a:srgbClr val="E3E9EE"/>
              </a:solidFill>
              <a:prstDash val="solid"/>
              <a:miter/>
            </a:ln>
          </p:spPr>
        </p:sp>
      </p:grpSp>
      <p:grpSp>
        <p:nvGrpSpPr>
          <p:cNvPr name="Group 100" id="100"/>
          <p:cNvGrpSpPr/>
          <p:nvPr/>
        </p:nvGrpSpPr>
        <p:grpSpPr>
          <a:xfrm rot="0">
            <a:off x="9614916" y="7107936"/>
            <a:ext cx="521208" cy="521208"/>
            <a:chOff x="0" y="0"/>
            <a:chExt cx="694944" cy="694944"/>
          </a:xfrm>
        </p:grpSpPr>
        <p:sp>
          <p:nvSpPr>
            <p:cNvPr name="Freeform 101" id="101"/>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0B2A4A"/>
            </a:solidFill>
          </p:spPr>
        </p:sp>
      </p:grpSp>
      <p:grpSp>
        <p:nvGrpSpPr>
          <p:cNvPr name="Group 102" id="102"/>
          <p:cNvGrpSpPr/>
          <p:nvPr/>
        </p:nvGrpSpPr>
        <p:grpSpPr>
          <a:xfrm rot="0">
            <a:off x="9614916" y="7107936"/>
            <a:ext cx="521208" cy="521208"/>
            <a:chOff x="0" y="0"/>
            <a:chExt cx="694944" cy="694944"/>
          </a:xfrm>
        </p:grpSpPr>
        <p:sp>
          <p:nvSpPr>
            <p:cNvPr name="Freeform 103" id="103"/>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close/>
                </a:path>
              </a:pathLst>
            </a:custGeom>
            <a:blipFill>
              <a:blip r:embed="rId3">
                <a:alphaModFix amt="0"/>
              </a:blip>
              <a:stretch>
                <a:fillRect l="-78303" t="0" r="-78303" b="0"/>
              </a:stretch>
            </a:blipFill>
          </p:spPr>
        </p:sp>
        <p:sp>
          <p:nvSpPr>
            <p:cNvPr name="TextBox 104" id="104"/>
            <p:cNvSpPr txBox="true"/>
            <p:nvPr/>
          </p:nvSpPr>
          <p:spPr>
            <a:xfrm>
              <a:off x="0" y="-9525"/>
              <a:ext cx="694944" cy="704469"/>
            </a:xfrm>
            <a:prstGeom prst="rect">
              <a:avLst/>
            </a:prstGeom>
          </p:spPr>
          <p:txBody>
            <a:bodyPr anchor="ctr" rtlCol="false" tIns="0" lIns="0" bIns="0" rIns="0"/>
            <a:lstStyle/>
            <a:p>
              <a:pPr algn="ctr">
                <a:lnSpc>
                  <a:spcPts val="2879"/>
                </a:lnSpc>
              </a:pPr>
              <a:r>
                <a:rPr lang="en-US" sz="2400" b="true">
                  <a:solidFill>
                    <a:srgbClr val="FFFFFF"/>
                  </a:solidFill>
                  <a:latin typeface="Cambria Bold"/>
                  <a:ea typeface="Cambria Bold"/>
                  <a:cs typeface="Cambria Bold"/>
                  <a:sym typeface="Cambria Bold"/>
                </a:rPr>
                <a:t>10</a:t>
              </a:r>
            </a:p>
          </p:txBody>
        </p:sp>
      </p:grpSp>
      <p:grpSp>
        <p:nvGrpSpPr>
          <p:cNvPr name="Group 105" id="105"/>
          <p:cNvGrpSpPr/>
          <p:nvPr/>
        </p:nvGrpSpPr>
        <p:grpSpPr>
          <a:xfrm rot="0">
            <a:off x="10328148" y="6929628"/>
            <a:ext cx="6926580" cy="877824"/>
            <a:chOff x="0" y="0"/>
            <a:chExt cx="9235440" cy="1170432"/>
          </a:xfrm>
        </p:grpSpPr>
        <p:sp>
          <p:nvSpPr>
            <p:cNvPr name="Freeform 106" id="106"/>
            <p:cNvSpPr/>
            <p:nvPr/>
          </p:nvSpPr>
          <p:spPr>
            <a:xfrm flipH="false" flipV="false" rot="0">
              <a:off x="0" y="0"/>
              <a:ext cx="9235440" cy="1170432"/>
            </a:xfrm>
            <a:custGeom>
              <a:avLst/>
              <a:gdLst/>
              <a:ahLst/>
              <a:cxnLst/>
              <a:rect r="r" b="b" t="t" l="l"/>
              <a:pathLst>
                <a:path h="1170432" w="9235440">
                  <a:moveTo>
                    <a:pt x="0" y="0"/>
                  </a:moveTo>
                  <a:lnTo>
                    <a:pt x="9235440" y="0"/>
                  </a:lnTo>
                  <a:lnTo>
                    <a:pt x="9235440" y="1170432"/>
                  </a:lnTo>
                  <a:lnTo>
                    <a:pt x="0" y="1170432"/>
                  </a:lnTo>
                  <a:close/>
                </a:path>
              </a:pathLst>
            </a:custGeom>
            <a:blipFill>
              <a:blip r:embed="rId3">
                <a:alphaModFix amt="0"/>
              </a:blip>
              <a:stretch>
                <a:fillRect l="0" t="-103749" r="0" b="-103749"/>
              </a:stretch>
            </a:blipFill>
          </p:spPr>
        </p:sp>
        <p:sp>
          <p:nvSpPr>
            <p:cNvPr name="TextBox 107" id="107"/>
            <p:cNvSpPr txBox="true"/>
            <p:nvPr/>
          </p:nvSpPr>
          <p:spPr>
            <a:xfrm>
              <a:off x="0" y="-76200"/>
              <a:ext cx="9235440" cy="1246632"/>
            </a:xfrm>
            <a:prstGeom prst="rect">
              <a:avLst/>
            </a:prstGeom>
          </p:spPr>
          <p:txBody>
            <a:bodyPr anchor="ctr" rtlCol="false" tIns="0" lIns="0" bIns="0" rIns="0"/>
            <a:lstStyle/>
            <a:p>
              <a:pPr algn="l">
                <a:lnSpc>
                  <a:spcPts val="2897"/>
                </a:lnSpc>
              </a:pPr>
              <a:r>
                <a:rPr lang="en-US" sz="2100">
                  <a:solidFill>
                    <a:srgbClr val="1B1F27"/>
                  </a:solidFill>
                  <a:latin typeface="Calibri (MS)"/>
                  <a:ea typeface="Calibri (MS)"/>
                  <a:cs typeface="Calibri (MS)"/>
                  <a:sym typeface="Calibri (MS)"/>
                </a:rPr>
                <a:t>Stop if best_fitness ≤ convergence_tol (1e-6) or generations = 100.</a:t>
              </a:r>
            </a:p>
          </p:txBody>
        </p:sp>
      </p:grpSp>
      <p:grpSp>
        <p:nvGrpSpPr>
          <p:cNvPr name="Group 108" id="108"/>
          <p:cNvGrpSpPr/>
          <p:nvPr/>
        </p:nvGrpSpPr>
        <p:grpSpPr>
          <a:xfrm rot="0">
            <a:off x="822960" y="8243316"/>
            <a:ext cx="16596360" cy="960120"/>
            <a:chOff x="0" y="0"/>
            <a:chExt cx="22128480" cy="1280160"/>
          </a:xfrm>
        </p:grpSpPr>
        <p:sp>
          <p:nvSpPr>
            <p:cNvPr name="Freeform 109" id="109"/>
            <p:cNvSpPr/>
            <p:nvPr/>
          </p:nvSpPr>
          <p:spPr>
            <a:xfrm flipH="false" flipV="false" rot="0">
              <a:off x="0" y="0"/>
              <a:ext cx="22128479" cy="1280160"/>
            </a:xfrm>
            <a:custGeom>
              <a:avLst/>
              <a:gdLst/>
              <a:ahLst/>
              <a:cxnLst/>
              <a:rect r="r" b="b" t="t" l="l"/>
              <a:pathLst>
                <a:path h="1280160" w="22128479">
                  <a:moveTo>
                    <a:pt x="0" y="128016"/>
                  </a:moveTo>
                  <a:cubicBezTo>
                    <a:pt x="0" y="57277"/>
                    <a:pt x="57277" y="0"/>
                    <a:pt x="128016" y="0"/>
                  </a:cubicBezTo>
                  <a:lnTo>
                    <a:pt x="22000463" y="0"/>
                  </a:lnTo>
                  <a:cubicBezTo>
                    <a:pt x="22071202" y="0"/>
                    <a:pt x="22128479" y="57277"/>
                    <a:pt x="22128479" y="128016"/>
                  </a:cubicBezTo>
                  <a:lnTo>
                    <a:pt x="22128479" y="1152144"/>
                  </a:lnTo>
                  <a:cubicBezTo>
                    <a:pt x="22128479" y="1222883"/>
                    <a:pt x="22071202" y="1280160"/>
                    <a:pt x="22000463" y="1280160"/>
                  </a:cubicBezTo>
                  <a:lnTo>
                    <a:pt x="128016" y="1280160"/>
                  </a:lnTo>
                  <a:cubicBezTo>
                    <a:pt x="57277" y="1280160"/>
                    <a:pt x="0" y="1222883"/>
                    <a:pt x="0" y="1152144"/>
                  </a:cubicBezTo>
                  <a:close/>
                </a:path>
              </a:pathLst>
            </a:custGeom>
            <a:solidFill>
              <a:srgbClr val="0B2A4A"/>
            </a:solidFill>
          </p:spPr>
        </p:sp>
      </p:grpSp>
      <p:grpSp>
        <p:nvGrpSpPr>
          <p:cNvPr name="Group 110" id="110"/>
          <p:cNvGrpSpPr/>
          <p:nvPr/>
        </p:nvGrpSpPr>
        <p:grpSpPr>
          <a:xfrm rot="0">
            <a:off x="1165860" y="8243316"/>
            <a:ext cx="15910560" cy="960120"/>
            <a:chOff x="0" y="0"/>
            <a:chExt cx="21214080" cy="1280160"/>
          </a:xfrm>
        </p:grpSpPr>
        <p:sp>
          <p:nvSpPr>
            <p:cNvPr name="Freeform 111" id="111"/>
            <p:cNvSpPr/>
            <p:nvPr/>
          </p:nvSpPr>
          <p:spPr>
            <a:xfrm flipH="false" flipV="false" rot="0">
              <a:off x="0" y="0"/>
              <a:ext cx="21214080" cy="1280160"/>
            </a:xfrm>
            <a:custGeom>
              <a:avLst/>
              <a:gdLst/>
              <a:ahLst/>
              <a:cxnLst/>
              <a:rect r="r" b="b" t="t" l="l"/>
              <a:pathLst>
                <a:path h="1280160" w="21214080">
                  <a:moveTo>
                    <a:pt x="0" y="0"/>
                  </a:moveTo>
                  <a:lnTo>
                    <a:pt x="21214080" y="0"/>
                  </a:lnTo>
                  <a:lnTo>
                    <a:pt x="21214080" y="1280160"/>
                  </a:lnTo>
                  <a:lnTo>
                    <a:pt x="0" y="1280160"/>
                  </a:lnTo>
                  <a:close/>
                </a:path>
              </a:pathLst>
            </a:custGeom>
            <a:blipFill>
              <a:blip r:embed="rId3">
                <a:alphaModFix amt="0"/>
              </a:blip>
              <a:stretch>
                <a:fillRect l="0" t="-272894" r="0" b="-272894"/>
              </a:stretch>
            </a:blipFill>
          </p:spPr>
        </p:sp>
        <p:sp>
          <p:nvSpPr>
            <p:cNvPr name="TextBox 112" id="112"/>
            <p:cNvSpPr txBox="true"/>
            <p:nvPr/>
          </p:nvSpPr>
          <p:spPr>
            <a:xfrm>
              <a:off x="0" y="-47625"/>
              <a:ext cx="21214080" cy="1327785"/>
            </a:xfrm>
            <a:prstGeom prst="rect">
              <a:avLst/>
            </a:prstGeom>
          </p:spPr>
          <p:txBody>
            <a:bodyPr anchor="ctr" rtlCol="false" tIns="0" lIns="0" bIns="0" rIns="0"/>
            <a:lstStyle/>
            <a:p>
              <a:pPr algn="l">
                <a:lnSpc>
                  <a:spcPts val="2520"/>
                </a:lnSpc>
              </a:pPr>
              <a:r>
                <a:rPr lang="en-US" sz="2100" i="true">
                  <a:solidFill>
                    <a:srgbClr val="E7EEF3"/>
                  </a:solidFill>
                  <a:latin typeface="Calibri (MS) Italics"/>
                  <a:ea typeface="Calibri (MS) Italics"/>
                  <a:cs typeface="Calibri (MS) Italics"/>
                  <a:sym typeface="Calibri (MS) Italics"/>
                </a:rPr>
                <a:t>Elitism means step 7's best-so-far value is mathematically non-increasing generation over generation — the recorded curve can only flatten or drop.</a:t>
              </a:r>
            </a:p>
          </p:txBody>
        </p:sp>
      </p:grpSp>
      <p:grpSp>
        <p:nvGrpSpPr>
          <p:cNvPr name="Group 113" id="113"/>
          <p:cNvGrpSpPr/>
          <p:nvPr/>
        </p:nvGrpSpPr>
        <p:grpSpPr>
          <a:xfrm rot="0">
            <a:off x="16774668" y="9669780"/>
            <a:ext cx="1097280" cy="411480"/>
            <a:chOff x="0" y="0"/>
            <a:chExt cx="1463040" cy="548640"/>
          </a:xfrm>
        </p:grpSpPr>
        <p:sp>
          <p:nvSpPr>
            <p:cNvPr name="Freeform 114" id="114"/>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115" id="115"/>
            <p:cNvSpPr txBox="true"/>
            <p:nvPr/>
          </p:nvSpPr>
          <p:spPr>
            <a:xfrm>
              <a:off x="0" y="-38100"/>
              <a:ext cx="1463040" cy="586740"/>
            </a:xfrm>
            <a:prstGeom prst="rect">
              <a:avLst/>
            </a:prstGeom>
          </p:spPr>
          <p:txBody>
            <a:bodyPr anchor="ctr" rtlCol="false" tIns="0" lIns="0" bIns="0" rIns="0"/>
            <a:lstStyle/>
            <a:p>
              <a:pPr algn="r">
                <a:lnSpc>
                  <a:spcPts val="1800"/>
                </a:lnSpc>
              </a:pPr>
              <a:r>
                <a:rPr lang="en-US" sz="1500">
                  <a:solidFill>
                    <a:srgbClr val="5B6472"/>
                  </a:solidFill>
                  <a:latin typeface="Calibri (MS)"/>
                  <a:ea typeface="Calibri (MS)"/>
                  <a:cs typeface="Calibri (MS)"/>
                  <a:sym typeface="Calibri (MS)"/>
                </a:rPr>
                <a:t>8 / 13</a:t>
              </a:r>
            </a:p>
          </p:txBody>
        </p:sp>
      </p:grpSp>
      <p:grpSp>
        <p:nvGrpSpPr>
          <p:cNvPr name="Group 116" id="116"/>
          <p:cNvGrpSpPr/>
          <p:nvPr/>
        </p:nvGrpSpPr>
        <p:grpSpPr>
          <a:xfrm rot="0">
            <a:off x="685800" y="9669780"/>
            <a:ext cx="5486400" cy="411480"/>
            <a:chOff x="0" y="0"/>
            <a:chExt cx="7315200" cy="548640"/>
          </a:xfrm>
        </p:grpSpPr>
        <p:sp>
          <p:nvSpPr>
            <p:cNvPr name="Freeform 117" id="117"/>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118" id="118"/>
            <p:cNvSpPr txBox="true"/>
            <p:nvPr/>
          </p:nvSpPr>
          <p:spPr>
            <a:xfrm>
              <a:off x="0" y="-38100"/>
              <a:ext cx="7315200" cy="586740"/>
            </a:xfrm>
            <a:prstGeom prst="rect">
              <a:avLst/>
            </a:prstGeom>
          </p:spPr>
          <p:txBody>
            <a:bodyPr anchor="ctr" rtlCol="false" tIns="0" lIns="0" bIns="0" rIns="0"/>
            <a:lstStyle/>
            <a:p>
              <a:pPr algn="l">
                <a:lnSpc>
                  <a:spcPts val="1800"/>
                </a:lnSpc>
              </a:pPr>
              <a:r>
                <a:rPr lang="en-US" sz="1500">
                  <a:solidFill>
                    <a:srgbClr val="5B6472"/>
                  </a:solidFill>
                  <a:latin typeface="Calibri (MS)"/>
                  <a:ea typeface="Calibri (MS)"/>
                  <a:cs typeface="Calibri (MS)"/>
                  <a:sym typeface="Calibri (MS)"/>
                </a:rPr>
                <a:t>GA · 2D Ackley Function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47625"/>
              <a:ext cx="14630400" cy="687705"/>
            </a:xfrm>
            <a:prstGeom prst="rect">
              <a:avLst/>
            </a:prstGeom>
          </p:spPr>
          <p:txBody>
            <a:bodyPr anchor="ctr" rtlCol="false" tIns="0" lIns="0" bIns="0" rIns="0"/>
            <a:lstStyle/>
            <a:p>
              <a:pPr algn="l">
                <a:lnSpc>
                  <a:spcPts val="2340"/>
                </a:lnSpc>
              </a:pPr>
              <a:r>
                <a:rPr lang="en-US" b="true" sz="1950" spc="299">
                  <a:solidFill>
                    <a:srgbClr val="1C7293"/>
                  </a:solidFill>
                  <a:latin typeface="Calibri (MS) Bold"/>
                  <a:ea typeface="Calibri (MS) Bold"/>
                  <a:cs typeface="Calibri (MS) Bold"/>
                  <a:sym typeface="Calibri (MS) Bold"/>
                </a:rPr>
                <a:t>CORE TOOLS &amp; CODE</a:t>
              </a:r>
            </a:p>
          </p:txBody>
        </p:sp>
      </p:grpSp>
      <p:grpSp>
        <p:nvGrpSpPr>
          <p:cNvPr name="Group 5" id="5"/>
          <p:cNvGrpSpPr/>
          <p:nvPr/>
        </p:nvGrpSpPr>
        <p:grpSpPr>
          <a:xfrm rot="0">
            <a:off x="822960" y="987552"/>
            <a:ext cx="15910560" cy="960120"/>
            <a:chOff x="0" y="0"/>
            <a:chExt cx="21214080" cy="1280160"/>
          </a:xfrm>
        </p:grpSpPr>
        <p:sp>
          <p:nvSpPr>
            <p:cNvPr name="Freeform 6" id="6"/>
            <p:cNvSpPr/>
            <p:nvPr/>
          </p:nvSpPr>
          <p:spPr>
            <a:xfrm flipH="false" flipV="false" rot="0">
              <a:off x="0" y="0"/>
              <a:ext cx="21214080" cy="1280160"/>
            </a:xfrm>
            <a:custGeom>
              <a:avLst/>
              <a:gdLst/>
              <a:ahLst/>
              <a:cxnLst/>
              <a:rect r="r" b="b" t="t" l="l"/>
              <a:pathLst>
                <a:path h="1280160" w="21214080">
                  <a:moveTo>
                    <a:pt x="0" y="0"/>
                  </a:moveTo>
                  <a:lnTo>
                    <a:pt x="21214080" y="0"/>
                  </a:lnTo>
                  <a:lnTo>
                    <a:pt x="21214080" y="1280160"/>
                  </a:lnTo>
                  <a:lnTo>
                    <a:pt x="0" y="1280160"/>
                  </a:lnTo>
                  <a:close/>
                </a:path>
              </a:pathLst>
            </a:custGeom>
            <a:blipFill>
              <a:blip r:embed="rId3">
                <a:alphaModFix amt="0"/>
              </a:blip>
              <a:stretch>
                <a:fillRect l="0" t="-272894" r="0" b="-272894"/>
              </a:stretch>
            </a:blipFill>
          </p:spPr>
        </p:sp>
        <p:sp>
          <p:nvSpPr>
            <p:cNvPr name="TextBox 7" id="7"/>
            <p:cNvSpPr txBox="true"/>
            <p:nvPr/>
          </p:nvSpPr>
          <p:spPr>
            <a:xfrm>
              <a:off x="0" y="-19050"/>
              <a:ext cx="21214080" cy="1299210"/>
            </a:xfrm>
            <a:prstGeom prst="rect">
              <a:avLst/>
            </a:prstGeom>
          </p:spPr>
          <p:txBody>
            <a:bodyPr anchor="ctr" rtlCol="false" tIns="0" lIns="0" bIns="0" rIns="0"/>
            <a:lstStyle/>
            <a:p>
              <a:pPr algn="l">
                <a:lnSpc>
                  <a:spcPts val="5400"/>
                </a:lnSpc>
              </a:pPr>
              <a:r>
                <a:rPr lang="en-US" sz="4500" b="true">
                  <a:solidFill>
                    <a:srgbClr val="1B1F27"/>
                  </a:solidFill>
                  <a:latin typeface="Cambria Bold"/>
                  <a:ea typeface="Cambria Bold"/>
                  <a:cs typeface="Cambria Bold"/>
                  <a:sym typeface="Cambria Bold"/>
                </a:rPr>
                <a:t>Four Python modules, four libraries</a:t>
              </a:r>
            </a:p>
          </p:txBody>
        </p:sp>
      </p:grpSp>
      <p:grpSp>
        <p:nvGrpSpPr>
          <p:cNvPr name="Group 8" id="8"/>
          <p:cNvGrpSpPr/>
          <p:nvPr/>
        </p:nvGrpSpPr>
        <p:grpSpPr>
          <a:xfrm rot="0">
            <a:off x="632460" y="2468880"/>
            <a:ext cx="3909060" cy="3017520"/>
            <a:chOff x="0" y="0"/>
            <a:chExt cx="5212080" cy="4023360"/>
          </a:xfrm>
        </p:grpSpPr>
        <p:sp>
          <p:nvSpPr>
            <p:cNvPr name="Freeform 9" id="9"/>
            <p:cNvSpPr/>
            <p:nvPr/>
          </p:nvSpPr>
          <p:spPr>
            <a:xfrm flipH="false" flipV="false" rot="0">
              <a:off x="0" y="0"/>
              <a:ext cx="5212080" cy="4023360"/>
            </a:xfrm>
            <a:custGeom>
              <a:avLst/>
              <a:gdLst/>
              <a:ahLst/>
              <a:cxnLst/>
              <a:rect r="r" b="b" t="t" l="l"/>
              <a:pathLst>
                <a:path h="4023360" w="5212080">
                  <a:moveTo>
                    <a:pt x="0" y="146304"/>
                  </a:moveTo>
                  <a:cubicBezTo>
                    <a:pt x="0" y="65532"/>
                    <a:pt x="65532" y="0"/>
                    <a:pt x="146304" y="0"/>
                  </a:cubicBezTo>
                  <a:lnTo>
                    <a:pt x="5065776" y="0"/>
                  </a:lnTo>
                  <a:cubicBezTo>
                    <a:pt x="5146548" y="0"/>
                    <a:pt x="5212080" y="65532"/>
                    <a:pt x="5212080" y="146304"/>
                  </a:cubicBezTo>
                  <a:lnTo>
                    <a:pt x="5212080" y="3877056"/>
                  </a:lnTo>
                  <a:cubicBezTo>
                    <a:pt x="5212080" y="3957828"/>
                    <a:pt x="5146548" y="4023360"/>
                    <a:pt x="5065776" y="4023360"/>
                  </a:cubicBezTo>
                  <a:lnTo>
                    <a:pt x="146304" y="4023360"/>
                  </a:lnTo>
                  <a:cubicBezTo>
                    <a:pt x="65532" y="4023360"/>
                    <a:pt x="0" y="3957828"/>
                    <a:pt x="0" y="3877056"/>
                  </a:cubicBezTo>
                  <a:close/>
                </a:path>
              </a:pathLst>
            </a:custGeom>
            <a:solidFill>
              <a:srgbClr val="0B2A4A"/>
            </a:solidFill>
          </p:spPr>
        </p:sp>
      </p:grpSp>
      <p:grpSp>
        <p:nvGrpSpPr>
          <p:cNvPr name="Group 10" id="10"/>
          <p:cNvGrpSpPr/>
          <p:nvPr/>
        </p:nvGrpSpPr>
        <p:grpSpPr>
          <a:xfrm rot="0">
            <a:off x="632460" y="2468880"/>
            <a:ext cx="3909060" cy="685800"/>
            <a:chOff x="0" y="0"/>
            <a:chExt cx="5212080" cy="914400"/>
          </a:xfrm>
        </p:grpSpPr>
        <p:sp>
          <p:nvSpPr>
            <p:cNvPr name="Freeform 11" id="11"/>
            <p:cNvSpPr/>
            <p:nvPr/>
          </p:nvSpPr>
          <p:spPr>
            <a:xfrm flipH="false" flipV="false" rot="0">
              <a:off x="0" y="0"/>
              <a:ext cx="5212080" cy="914400"/>
            </a:xfrm>
            <a:custGeom>
              <a:avLst/>
              <a:gdLst/>
              <a:ahLst/>
              <a:cxnLst/>
              <a:rect r="r" b="b" t="t" l="l"/>
              <a:pathLst>
                <a:path h="914400" w="5212080">
                  <a:moveTo>
                    <a:pt x="0" y="0"/>
                  </a:moveTo>
                  <a:lnTo>
                    <a:pt x="5212080" y="0"/>
                  </a:lnTo>
                  <a:lnTo>
                    <a:pt x="5212080" y="914400"/>
                  </a:lnTo>
                  <a:lnTo>
                    <a:pt x="0" y="914400"/>
                  </a:lnTo>
                  <a:close/>
                </a:path>
              </a:pathLst>
            </a:custGeom>
            <a:solidFill>
              <a:srgbClr val="1C7293"/>
            </a:solidFill>
          </p:spPr>
        </p:sp>
      </p:grpSp>
      <p:grpSp>
        <p:nvGrpSpPr>
          <p:cNvPr name="Group 12" id="12"/>
          <p:cNvGrpSpPr/>
          <p:nvPr/>
        </p:nvGrpSpPr>
        <p:grpSpPr>
          <a:xfrm rot="0">
            <a:off x="838200" y="2468880"/>
            <a:ext cx="3497580" cy="685800"/>
            <a:chOff x="0" y="0"/>
            <a:chExt cx="4663440" cy="914400"/>
          </a:xfrm>
        </p:grpSpPr>
        <p:sp>
          <p:nvSpPr>
            <p:cNvPr name="Freeform 13" id="13"/>
            <p:cNvSpPr/>
            <p:nvPr/>
          </p:nvSpPr>
          <p:spPr>
            <a:xfrm flipH="false" flipV="false" rot="0">
              <a:off x="0" y="0"/>
              <a:ext cx="4663440" cy="914400"/>
            </a:xfrm>
            <a:custGeom>
              <a:avLst/>
              <a:gdLst/>
              <a:ahLst/>
              <a:cxnLst/>
              <a:rect r="r" b="b" t="t" l="l"/>
              <a:pathLst>
                <a:path h="914400" w="4663440">
                  <a:moveTo>
                    <a:pt x="0" y="0"/>
                  </a:moveTo>
                  <a:lnTo>
                    <a:pt x="4663440" y="0"/>
                  </a:lnTo>
                  <a:lnTo>
                    <a:pt x="4663440" y="914400"/>
                  </a:lnTo>
                  <a:lnTo>
                    <a:pt x="0" y="914400"/>
                  </a:lnTo>
                  <a:close/>
                </a:path>
              </a:pathLst>
            </a:custGeom>
            <a:blipFill>
              <a:blip r:embed="rId3">
                <a:alphaModFix amt="0"/>
              </a:blip>
              <a:stretch>
                <a:fillRect l="0" t="-49373" r="0" b="-49373"/>
              </a:stretch>
            </a:blipFill>
          </p:spPr>
        </p:sp>
        <p:sp>
          <p:nvSpPr>
            <p:cNvPr name="TextBox 14" id="14"/>
            <p:cNvSpPr txBox="true"/>
            <p:nvPr/>
          </p:nvSpPr>
          <p:spPr>
            <a:xfrm>
              <a:off x="0" y="-57150"/>
              <a:ext cx="4663440" cy="971550"/>
            </a:xfrm>
            <a:prstGeom prst="rect">
              <a:avLst/>
            </a:prstGeom>
          </p:spPr>
          <p:txBody>
            <a:bodyPr anchor="ctr" rtlCol="false" tIns="0" lIns="0" bIns="0" rIns="0"/>
            <a:lstStyle/>
            <a:p>
              <a:pPr algn="l">
                <a:lnSpc>
                  <a:spcPts val="3240"/>
                </a:lnSpc>
              </a:pPr>
              <a:r>
                <a:rPr lang="en-US" sz="2700" b="true">
                  <a:solidFill>
                    <a:srgbClr val="FFFFFF"/>
                  </a:solidFill>
                  <a:latin typeface="Consolas Bold"/>
                  <a:ea typeface="Consolas Bold"/>
                  <a:cs typeface="Consolas Bold"/>
                  <a:sym typeface="Consolas Bold"/>
                </a:rPr>
                <a:t>ackley.py</a:t>
              </a:r>
            </a:p>
          </p:txBody>
        </p:sp>
      </p:grpSp>
      <p:grpSp>
        <p:nvGrpSpPr>
          <p:cNvPr name="Group 15" id="15"/>
          <p:cNvGrpSpPr/>
          <p:nvPr/>
        </p:nvGrpSpPr>
        <p:grpSpPr>
          <a:xfrm rot="0">
            <a:off x="879348" y="3360420"/>
            <a:ext cx="3415284" cy="1920240"/>
            <a:chOff x="0" y="0"/>
            <a:chExt cx="4553712" cy="2560320"/>
          </a:xfrm>
        </p:grpSpPr>
        <p:sp>
          <p:nvSpPr>
            <p:cNvPr name="Freeform 16" id="16"/>
            <p:cNvSpPr/>
            <p:nvPr/>
          </p:nvSpPr>
          <p:spPr>
            <a:xfrm flipH="false" flipV="false" rot="0">
              <a:off x="0" y="0"/>
              <a:ext cx="4553712" cy="2560320"/>
            </a:xfrm>
            <a:custGeom>
              <a:avLst/>
              <a:gdLst/>
              <a:ahLst/>
              <a:cxnLst/>
              <a:rect r="r" b="b" t="t" l="l"/>
              <a:pathLst>
                <a:path h="2560320" w="4553712">
                  <a:moveTo>
                    <a:pt x="0" y="0"/>
                  </a:moveTo>
                  <a:lnTo>
                    <a:pt x="4553712" y="0"/>
                  </a:lnTo>
                  <a:lnTo>
                    <a:pt x="4553712" y="2560320"/>
                  </a:lnTo>
                  <a:lnTo>
                    <a:pt x="0" y="2560320"/>
                  </a:lnTo>
                  <a:close/>
                </a:path>
              </a:pathLst>
            </a:custGeom>
            <a:blipFill>
              <a:blip r:embed="rId3">
                <a:alphaModFix amt="0"/>
              </a:blip>
              <a:stretch>
                <a:fillRect l="-22138" t="0" r="-22138" b="0"/>
              </a:stretch>
            </a:blipFill>
          </p:spPr>
        </p:sp>
        <p:sp>
          <p:nvSpPr>
            <p:cNvPr name="TextBox 17" id="17"/>
            <p:cNvSpPr txBox="true"/>
            <p:nvPr/>
          </p:nvSpPr>
          <p:spPr>
            <a:xfrm>
              <a:off x="0" y="-95250"/>
              <a:ext cx="4553712" cy="2655570"/>
            </a:xfrm>
            <a:prstGeom prst="rect">
              <a:avLst/>
            </a:prstGeom>
          </p:spPr>
          <p:txBody>
            <a:bodyPr anchor="ctr" rtlCol="false" tIns="0" lIns="0" bIns="0" rIns="0"/>
            <a:lstStyle/>
            <a:p>
              <a:pPr algn="l">
                <a:lnSpc>
                  <a:spcPts val="3024"/>
                </a:lnSpc>
              </a:pPr>
              <a:r>
                <a:rPr lang="en-US" sz="2100">
                  <a:solidFill>
                    <a:srgbClr val="D6E3EC"/>
                  </a:solidFill>
                  <a:latin typeface="Calibri (MS)"/>
                  <a:ea typeface="Calibri (MS)"/>
                  <a:cs typeface="Calibri (MS)"/>
                  <a:sym typeface="Calibri (MS)"/>
                </a:rPr>
                <a:t>Defines scalar ackley() and vectorized ackley_vec() — the objective function and its constants.</a:t>
              </a:r>
            </a:p>
          </p:txBody>
        </p:sp>
      </p:grpSp>
      <p:grpSp>
        <p:nvGrpSpPr>
          <p:cNvPr name="Group 18" id="18"/>
          <p:cNvGrpSpPr/>
          <p:nvPr/>
        </p:nvGrpSpPr>
        <p:grpSpPr>
          <a:xfrm rot="0">
            <a:off x="4550283" y="3617439"/>
            <a:ext cx="457200" cy="720403"/>
            <a:chOff x="0" y="0"/>
            <a:chExt cx="609600" cy="960537"/>
          </a:xfrm>
        </p:grpSpPr>
        <p:sp>
          <p:nvSpPr>
            <p:cNvPr name="Freeform 19" id="19"/>
            <p:cNvSpPr/>
            <p:nvPr/>
          </p:nvSpPr>
          <p:spPr>
            <a:xfrm flipH="false" flipV="false" rot="0">
              <a:off x="0" y="0"/>
              <a:ext cx="609600" cy="960537"/>
            </a:xfrm>
            <a:custGeom>
              <a:avLst/>
              <a:gdLst/>
              <a:ahLst/>
              <a:cxnLst/>
              <a:rect r="r" b="b" t="t" l="l"/>
              <a:pathLst>
                <a:path h="960537" w="609600">
                  <a:moveTo>
                    <a:pt x="0" y="0"/>
                  </a:moveTo>
                  <a:lnTo>
                    <a:pt x="609600" y="0"/>
                  </a:lnTo>
                  <a:lnTo>
                    <a:pt x="609600" y="960537"/>
                  </a:lnTo>
                  <a:lnTo>
                    <a:pt x="0" y="960537"/>
                  </a:lnTo>
                  <a:close/>
                </a:path>
              </a:pathLst>
            </a:custGeom>
            <a:blipFill>
              <a:blip r:embed="rId3">
                <a:alphaModFix amt="0"/>
              </a:blip>
              <a:stretch>
                <a:fillRect l="-165455" t="0" r="-119455" b="4803"/>
              </a:stretch>
            </a:blipFill>
          </p:spPr>
        </p:sp>
        <p:sp>
          <p:nvSpPr>
            <p:cNvPr name="TextBox 20" id="20"/>
            <p:cNvSpPr txBox="true"/>
            <p:nvPr/>
          </p:nvSpPr>
          <p:spPr>
            <a:xfrm>
              <a:off x="0" y="-66675"/>
              <a:ext cx="609600" cy="1027212"/>
            </a:xfrm>
            <a:prstGeom prst="rect">
              <a:avLst/>
            </a:prstGeom>
          </p:spPr>
          <p:txBody>
            <a:bodyPr anchor="ctr" rtlCol="false" tIns="0" lIns="0" bIns="0" rIns="0"/>
            <a:lstStyle/>
            <a:p>
              <a:pPr algn="ctr">
                <a:lnSpc>
                  <a:spcPts val="4320"/>
                </a:lnSpc>
              </a:pPr>
              <a:r>
                <a:rPr lang="en-US" sz="3600" b="true">
                  <a:solidFill>
                    <a:srgbClr val="1C7293"/>
                  </a:solidFill>
                  <a:latin typeface="Calibri (MS) Bold"/>
                  <a:ea typeface="Calibri (MS) Bold"/>
                  <a:cs typeface="Calibri (MS) Bold"/>
                  <a:sym typeface="Calibri (MS) Bold"/>
                </a:rPr>
                <a:t>→</a:t>
              </a:r>
            </a:p>
          </p:txBody>
        </p:sp>
      </p:grpSp>
      <p:grpSp>
        <p:nvGrpSpPr>
          <p:cNvPr name="Group 21" id="21"/>
          <p:cNvGrpSpPr/>
          <p:nvPr/>
        </p:nvGrpSpPr>
        <p:grpSpPr>
          <a:xfrm rot="0">
            <a:off x="4989195" y="2468880"/>
            <a:ext cx="3909060" cy="3017520"/>
            <a:chOff x="0" y="0"/>
            <a:chExt cx="5212080" cy="4023360"/>
          </a:xfrm>
        </p:grpSpPr>
        <p:sp>
          <p:nvSpPr>
            <p:cNvPr name="Freeform 22" id="22"/>
            <p:cNvSpPr/>
            <p:nvPr/>
          </p:nvSpPr>
          <p:spPr>
            <a:xfrm flipH="false" flipV="false" rot="0">
              <a:off x="0" y="0"/>
              <a:ext cx="5212080" cy="4023360"/>
            </a:xfrm>
            <a:custGeom>
              <a:avLst/>
              <a:gdLst/>
              <a:ahLst/>
              <a:cxnLst/>
              <a:rect r="r" b="b" t="t" l="l"/>
              <a:pathLst>
                <a:path h="4023360" w="5212080">
                  <a:moveTo>
                    <a:pt x="0" y="146304"/>
                  </a:moveTo>
                  <a:cubicBezTo>
                    <a:pt x="0" y="65532"/>
                    <a:pt x="65532" y="0"/>
                    <a:pt x="146304" y="0"/>
                  </a:cubicBezTo>
                  <a:lnTo>
                    <a:pt x="5065776" y="0"/>
                  </a:lnTo>
                  <a:cubicBezTo>
                    <a:pt x="5146548" y="0"/>
                    <a:pt x="5212080" y="65532"/>
                    <a:pt x="5212080" y="146304"/>
                  </a:cubicBezTo>
                  <a:lnTo>
                    <a:pt x="5212080" y="3877056"/>
                  </a:lnTo>
                  <a:cubicBezTo>
                    <a:pt x="5212080" y="3957828"/>
                    <a:pt x="5146548" y="4023360"/>
                    <a:pt x="5065776" y="4023360"/>
                  </a:cubicBezTo>
                  <a:lnTo>
                    <a:pt x="146304" y="4023360"/>
                  </a:lnTo>
                  <a:cubicBezTo>
                    <a:pt x="65532" y="4023360"/>
                    <a:pt x="0" y="3957828"/>
                    <a:pt x="0" y="3877056"/>
                  </a:cubicBezTo>
                  <a:close/>
                </a:path>
              </a:pathLst>
            </a:custGeom>
            <a:solidFill>
              <a:srgbClr val="0B2A4A"/>
            </a:solidFill>
          </p:spPr>
        </p:sp>
      </p:grpSp>
      <p:grpSp>
        <p:nvGrpSpPr>
          <p:cNvPr name="Group 23" id="23"/>
          <p:cNvGrpSpPr/>
          <p:nvPr/>
        </p:nvGrpSpPr>
        <p:grpSpPr>
          <a:xfrm rot="0">
            <a:off x="4989195" y="2468880"/>
            <a:ext cx="3909060" cy="685800"/>
            <a:chOff x="0" y="0"/>
            <a:chExt cx="5212080" cy="914400"/>
          </a:xfrm>
        </p:grpSpPr>
        <p:sp>
          <p:nvSpPr>
            <p:cNvPr name="Freeform 24" id="24"/>
            <p:cNvSpPr/>
            <p:nvPr/>
          </p:nvSpPr>
          <p:spPr>
            <a:xfrm flipH="false" flipV="false" rot="0">
              <a:off x="0" y="0"/>
              <a:ext cx="5212080" cy="914400"/>
            </a:xfrm>
            <a:custGeom>
              <a:avLst/>
              <a:gdLst/>
              <a:ahLst/>
              <a:cxnLst/>
              <a:rect r="r" b="b" t="t" l="l"/>
              <a:pathLst>
                <a:path h="914400" w="5212080">
                  <a:moveTo>
                    <a:pt x="0" y="0"/>
                  </a:moveTo>
                  <a:lnTo>
                    <a:pt x="5212080" y="0"/>
                  </a:lnTo>
                  <a:lnTo>
                    <a:pt x="5212080" y="914400"/>
                  </a:lnTo>
                  <a:lnTo>
                    <a:pt x="0" y="914400"/>
                  </a:lnTo>
                  <a:close/>
                </a:path>
              </a:pathLst>
            </a:custGeom>
            <a:solidFill>
              <a:srgbClr val="1C7293"/>
            </a:solidFill>
          </p:spPr>
        </p:sp>
      </p:grpSp>
      <p:grpSp>
        <p:nvGrpSpPr>
          <p:cNvPr name="Group 25" id="25"/>
          <p:cNvGrpSpPr/>
          <p:nvPr/>
        </p:nvGrpSpPr>
        <p:grpSpPr>
          <a:xfrm rot="0">
            <a:off x="5056632" y="2468880"/>
            <a:ext cx="3908298" cy="685800"/>
            <a:chOff x="0" y="0"/>
            <a:chExt cx="5211064" cy="914400"/>
          </a:xfrm>
        </p:grpSpPr>
        <p:sp>
          <p:nvSpPr>
            <p:cNvPr name="Freeform 26" id="26"/>
            <p:cNvSpPr/>
            <p:nvPr/>
          </p:nvSpPr>
          <p:spPr>
            <a:xfrm flipH="false" flipV="false" rot="0">
              <a:off x="0" y="0"/>
              <a:ext cx="5211064" cy="914400"/>
            </a:xfrm>
            <a:custGeom>
              <a:avLst/>
              <a:gdLst/>
              <a:ahLst/>
              <a:cxnLst/>
              <a:rect r="r" b="b" t="t" l="l"/>
              <a:pathLst>
                <a:path h="914400" w="5211064">
                  <a:moveTo>
                    <a:pt x="0" y="0"/>
                  </a:moveTo>
                  <a:lnTo>
                    <a:pt x="5211064" y="0"/>
                  </a:lnTo>
                  <a:lnTo>
                    <a:pt x="5211064" y="914400"/>
                  </a:lnTo>
                  <a:lnTo>
                    <a:pt x="0" y="914400"/>
                  </a:lnTo>
                  <a:close/>
                </a:path>
              </a:pathLst>
            </a:custGeom>
            <a:blipFill>
              <a:blip r:embed="rId3">
                <a:alphaModFix amt="0"/>
              </a:blip>
              <a:stretch>
                <a:fillRect l="0" t="-49373" r="10508" b="-49373"/>
              </a:stretch>
            </a:blipFill>
          </p:spPr>
        </p:sp>
        <p:sp>
          <p:nvSpPr>
            <p:cNvPr name="TextBox 27" id="27"/>
            <p:cNvSpPr txBox="true"/>
            <p:nvPr/>
          </p:nvSpPr>
          <p:spPr>
            <a:xfrm>
              <a:off x="0" y="-57150"/>
              <a:ext cx="5211064" cy="971550"/>
            </a:xfrm>
            <a:prstGeom prst="rect">
              <a:avLst/>
            </a:prstGeom>
          </p:spPr>
          <p:txBody>
            <a:bodyPr anchor="ctr" rtlCol="false" tIns="0" lIns="0" bIns="0" rIns="0"/>
            <a:lstStyle/>
            <a:p>
              <a:pPr algn="l">
                <a:lnSpc>
                  <a:spcPts val="3240"/>
                </a:lnSpc>
              </a:pPr>
              <a:r>
                <a:rPr lang="en-US" sz="2700" b="true">
                  <a:solidFill>
                    <a:srgbClr val="FFFFFF"/>
                  </a:solidFill>
                  <a:latin typeface="Consolas Bold"/>
                  <a:ea typeface="Consolas Bold"/>
                  <a:cs typeface="Consolas Bold"/>
                  <a:sym typeface="Consolas Bold"/>
                </a:rPr>
                <a:t>genetic_algorithm.py</a:t>
              </a:r>
            </a:p>
          </p:txBody>
        </p:sp>
      </p:grpSp>
      <p:grpSp>
        <p:nvGrpSpPr>
          <p:cNvPr name="Group 28" id="28"/>
          <p:cNvGrpSpPr/>
          <p:nvPr/>
        </p:nvGrpSpPr>
        <p:grpSpPr>
          <a:xfrm rot="0">
            <a:off x="5236083" y="3360420"/>
            <a:ext cx="3415284" cy="1920240"/>
            <a:chOff x="0" y="0"/>
            <a:chExt cx="4553712" cy="2560320"/>
          </a:xfrm>
        </p:grpSpPr>
        <p:sp>
          <p:nvSpPr>
            <p:cNvPr name="Freeform 29" id="29"/>
            <p:cNvSpPr/>
            <p:nvPr/>
          </p:nvSpPr>
          <p:spPr>
            <a:xfrm flipH="false" flipV="false" rot="0">
              <a:off x="0" y="0"/>
              <a:ext cx="4553712" cy="2560320"/>
            </a:xfrm>
            <a:custGeom>
              <a:avLst/>
              <a:gdLst/>
              <a:ahLst/>
              <a:cxnLst/>
              <a:rect r="r" b="b" t="t" l="l"/>
              <a:pathLst>
                <a:path h="2560320" w="4553712">
                  <a:moveTo>
                    <a:pt x="0" y="0"/>
                  </a:moveTo>
                  <a:lnTo>
                    <a:pt x="4553712" y="0"/>
                  </a:lnTo>
                  <a:lnTo>
                    <a:pt x="4553712" y="2560320"/>
                  </a:lnTo>
                  <a:lnTo>
                    <a:pt x="0" y="2560320"/>
                  </a:lnTo>
                  <a:close/>
                </a:path>
              </a:pathLst>
            </a:custGeom>
            <a:blipFill>
              <a:blip r:embed="rId3">
                <a:alphaModFix amt="0"/>
              </a:blip>
              <a:stretch>
                <a:fillRect l="-22138" t="0" r="-22138" b="0"/>
              </a:stretch>
            </a:blipFill>
          </p:spPr>
        </p:sp>
        <p:sp>
          <p:nvSpPr>
            <p:cNvPr name="TextBox 30" id="30"/>
            <p:cNvSpPr txBox="true"/>
            <p:nvPr/>
          </p:nvSpPr>
          <p:spPr>
            <a:xfrm>
              <a:off x="0" y="-95250"/>
              <a:ext cx="4553712" cy="2655570"/>
            </a:xfrm>
            <a:prstGeom prst="rect">
              <a:avLst/>
            </a:prstGeom>
          </p:spPr>
          <p:txBody>
            <a:bodyPr anchor="ctr" rtlCol="false" tIns="0" lIns="0" bIns="0" rIns="0"/>
            <a:lstStyle/>
            <a:p>
              <a:pPr algn="l">
                <a:lnSpc>
                  <a:spcPts val="3024"/>
                </a:lnSpc>
              </a:pPr>
              <a:r>
                <a:rPr lang="en-US" sz="2100">
                  <a:solidFill>
                    <a:srgbClr val="D6E3EC"/>
                  </a:solidFill>
                  <a:latin typeface="Calibri (MS)"/>
                  <a:ea typeface="Calibri (MS)"/>
                  <a:cs typeface="Calibri (MS)"/>
                  <a:sym typeface="Calibri (MS)"/>
                </a:rPr>
                <a:t>GAConfig / GAResult dataclasses plus the GeneticAlgorithm engine: selection, crossover, mutation, run loop.</a:t>
              </a:r>
            </a:p>
          </p:txBody>
        </p:sp>
      </p:grpSp>
      <p:grpSp>
        <p:nvGrpSpPr>
          <p:cNvPr name="Group 31" id="31"/>
          <p:cNvGrpSpPr/>
          <p:nvPr/>
        </p:nvGrpSpPr>
        <p:grpSpPr>
          <a:xfrm rot="0">
            <a:off x="8870442" y="3617439"/>
            <a:ext cx="532638" cy="720403"/>
            <a:chOff x="0" y="0"/>
            <a:chExt cx="710184" cy="960537"/>
          </a:xfrm>
        </p:grpSpPr>
        <p:sp>
          <p:nvSpPr>
            <p:cNvPr name="Freeform 32" id="32"/>
            <p:cNvSpPr/>
            <p:nvPr/>
          </p:nvSpPr>
          <p:spPr>
            <a:xfrm flipH="false" flipV="false" rot="0">
              <a:off x="0" y="0"/>
              <a:ext cx="710184" cy="960537"/>
            </a:xfrm>
            <a:custGeom>
              <a:avLst/>
              <a:gdLst/>
              <a:ahLst/>
              <a:cxnLst/>
              <a:rect r="r" b="b" t="t" l="l"/>
              <a:pathLst>
                <a:path h="960537" w="710184">
                  <a:moveTo>
                    <a:pt x="0" y="0"/>
                  </a:moveTo>
                  <a:lnTo>
                    <a:pt x="710184" y="0"/>
                  </a:lnTo>
                  <a:lnTo>
                    <a:pt x="710184" y="960537"/>
                  </a:lnTo>
                  <a:lnTo>
                    <a:pt x="0" y="960537"/>
                  </a:lnTo>
                  <a:close/>
                </a:path>
              </a:pathLst>
            </a:custGeom>
            <a:blipFill>
              <a:blip r:embed="rId3">
                <a:alphaModFix amt="0"/>
              </a:blip>
              <a:stretch>
                <a:fillRect l="-142021" t="0" r="-88373" b="4803"/>
              </a:stretch>
            </a:blipFill>
          </p:spPr>
        </p:sp>
        <p:sp>
          <p:nvSpPr>
            <p:cNvPr name="TextBox 33" id="33"/>
            <p:cNvSpPr txBox="true"/>
            <p:nvPr/>
          </p:nvSpPr>
          <p:spPr>
            <a:xfrm>
              <a:off x="0" y="-66675"/>
              <a:ext cx="710184" cy="1027212"/>
            </a:xfrm>
            <a:prstGeom prst="rect">
              <a:avLst/>
            </a:prstGeom>
          </p:spPr>
          <p:txBody>
            <a:bodyPr anchor="ctr" rtlCol="false" tIns="0" lIns="0" bIns="0" rIns="0"/>
            <a:lstStyle/>
            <a:p>
              <a:pPr algn="ctr">
                <a:lnSpc>
                  <a:spcPts val="4320"/>
                </a:lnSpc>
              </a:pPr>
              <a:r>
                <a:rPr lang="en-US" sz="3600" b="true">
                  <a:solidFill>
                    <a:srgbClr val="1C7293"/>
                  </a:solidFill>
                  <a:latin typeface="Calibri (MS) Bold"/>
                  <a:ea typeface="Calibri (MS) Bold"/>
                  <a:cs typeface="Calibri (MS) Bold"/>
                  <a:sym typeface="Calibri (MS) Bold"/>
                </a:rPr>
                <a:t>→</a:t>
              </a:r>
            </a:p>
          </p:txBody>
        </p:sp>
      </p:grpSp>
      <p:grpSp>
        <p:nvGrpSpPr>
          <p:cNvPr name="Group 34" id="34"/>
          <p:cNvGrpSpPr/>
          <p:nvPr/>
        </p:nvGrpSpPr>
        <p:grpSpPr>
          <a:xfrm rot="0">
            <a:off x="9384030" y="2468880"/>
            <a:ext cx="3909060" cy="3017520"/>
            <a:chOff x="0" y="0"/>
            <a:chExt cx="5212080" cy="4023360"/>
          </a:xfrm>
        </p:grpSpPr>
        <p:sp>
          <p:nvSpPr>
            <p:cNvPr name="Freeform 35" id="35"/>
            <p:cNvSpPr/>
            <p:nvPr/>
          </p:nvSpPr>
          <p:spPr>
            <a:xfrm flipH="false" flipV="false" rot="0">
              <a:off x="0" y="0"/>
              <a:ext cx="5212080" cy="4023360"/>
            </a:xfrm>
            <a:custGeom>
              <a:avLst/>
              <a:gdLst/>
              <a:ahLst/>
              <a:cxnLst/>
              <a:rect r="r" b="b" t="t" l="l"/>
              <a:pathLst>
                <a:path h="4023360" w="5212080">
                  <a:moveTo>
                    <a:pt x="0" y="146304"/>
                  </a:moveTo>
                  <a:cubicBezTo>
                    <a:pt x="0" y="65532"/>
                    <a:pt x="65532" y="0"/>
                    <a:pt x="146304" y="0"/>
                  </a:cubicBezTo>
                  <a:lnTo>
                    <a:pt x="5065776" y="0"/>
                  </a:lnTo>
                  <a:cubicBezTo>
                    <a:pt x="5146548" y="0"/>
                    <a:pt x="5212080" y="65532"/>
                    <a:pt x="5212080" y="146304"/>
                  </a:cubicBezTo>
                  <a:lnTo>
                    <a:pt x="5212080" y="3877056"/>
                  </a:lnTo>
                  <a:cubicBezTo>
                    <a:pt x="5212080" y="3957828"/>
                    <a:pt x="5146548" y="4023360"/>
                    <a:pt x="5065776" y="4023360"/>
                  </a:cubicBezTo>
                  <a:lnTo>
                    <a:pt x="146304" y="4023360"/>
                  </a:lnTo>
                  <a:cubicBezTo>
                    <a:pt x="65532" y="4023360"/>
                    <a:pt x="0" y="3957828"/>
                    <a:pt x="0" y="3877056"/>
                  </a:cubicBezTo>
                  <a:close/>
                </a:path>
              </a:pathLst>
            </a:custGeom>
            <a:solidFill>
              <a:srgbClr val="0B2A4A"/>
            </a:solidFill>
          </p:spPr>
        </p:sp>
      </p:grpSp>
      <p:grpSp>
        <p:nvGrpSpPr>
          <p:cNvPr name="Group 36" id="36"/>
          <p:cNvGrpSpPr/>
          <p:nvPr/>
        </p:nvGrpSpPr>
        <p:grpSpPr>
          <a:xfrm rot="0">
            <a:off x="9384030" y="2468880"/>
            <a:ext cx="3909060" cy="685800"/>
            <a:chOff x="0" y="0"/>
            <a:chExt cx="5212080" cy="914400"/>
          </a:xfrm>
        </p:grpSpPr>
        <p:sp>
          <p:nvSpPr>
            <p:cNvPr name="Freeform 37" id="37"/>
            <p:cNvSpPr/>
            <p:nvPr/>
          </p:nvSpPr>
          <p:spPr>
            <a:xfrm flipH="false" flipV="false" rot="0">
              <a:off x="0" y="0"/>
              <a:ext cx="5212080" cy="914400"/>
            </a:xfrm>
            <a:custGeom>
              <a:avLst/>
              <a:gdLst/>
              <a:ahLst/>
              <a:cxnLst/>
              <a:rect r="r" b="b" t="t" l="l"/>
              <a:pathLst>
                <a:path h="914400" w="5212080">
                  <a:moveTo>
                    <a:pt x="0" y="0"/>
                  </a:moveTo>
                  <a:lnTo>
                    <a:pt x="5212080" y="0"/>
                  </a:lnTo>
                  <a:lnTo>
                    <a:pt x="5212080" y="914400"/>
                  </a:lnTo>
                  <a:lnTo>
                    <a:pt x="0" y="914400"/>
                  </a:lnTo>
                  <a:close/>
                </a:path>
              </a:pathLst>
            </a:custGeom>
            <a:solidFill>
              <a:srgbClr val="1C7293"/>
            </a:solidFill>
          </p:spPr>
        </p:sp>
      </p:grpSp>
      <p:grpSp>
        <p:nvGrpSpPr>
          <p:cNvPr name="Group 38" id="38"/>
          <p:cNvGrpSpPr/>
          <p:nvPr/>
        </p:nvGrpSpPr>
        <p:grpSpPr>
          <a:xfrm rot="0">
            <a:off x="9597771" y="2468880"/>
            <a:ext cx="3497580" cy="685800"/>
            <a:chOff x="0" y="0"/>
            <a:chExt cx="4663440" cy="914400"/>
          </a:xfrm>
        </p:grpSpPr>
        <p:sp>
          <p:nvSpPr>
            <p:cNvPr name="Freeform 39" id="39"/>
            <p:cNvSpPr/>
            <p:nvPr/>
          </p:nvSpPr>
          <p:spPr>
            <a:xfrm flipH="false" flipV="false" rot="0">
              <a:off x="0" y="0"/>
              <a:ext cx="4663440" cy="914400"/>
            </a:xfrm>
            <a:custGeom>
              <a:avLst/>
              <a:gdLst/>
              <a:ahLst/>
              <a:cxnLst/>
              <a:rect r="r" b="b" t="t" l="l"/>
              <a:pathLst>
                <a:path h="914400" w="4663440">
                  <a:moveTo>
                    <a:pt x="0" y="0"/>
                  </a:moveTo>
                  <a:lnTo>
                    <a:pt x="4663440" y="0"/>
                  </a:lnTo>
                  <a:lnTo>
                    <a:pt x="4663440" y="914400"/>
                  </a:lnTo>
                  <a:lnTo>
                    <a:pt x="0" y="914400"/>
                  </a:lnTo>
                  <a:close/>
                </a:path>
              </a:pathLst>
            </a:custGeom>
            <a:blipFill>
              <a:blip r:embed="rId3">
                <a:alphaModFix amt="0"/>
              </a:blip>
              <a:stretch>
                <a:fillRect l="0" t="-49373" r="0" b="-49373"/>
              </a:stretch>
            </a:blipFill>
          </p:spPr>
        </p:sp>
        <p:sp>
          <p:nvSpPr>
            <p:cNvPr name="TextBox 40" id="40"/>
            <p:cNvSpPr txBox="true"/>
            <p:nvPr/>
          </p:nvSpPr>
          <p:spPr>
            <a:xfrm>
              <a:off x="0" y="-57150"/>
              <a:ext cx="4663440" cy="971550"/>
            </a:xfrm>
            <a:prstGeom prst="rect">
              <a:avLst/>
            </a:prstGeom>
          </p:spPr>
          <p:txBody>
            <a:bodyPr anchor="ctr" rtlCol="false" tIns="0" lIns="0" bIns="0" rIns="0"/>
            <a:lstStyle/>
            <a:p>
              <a:pPr algn="l">
                <a:lnSpc>
                  <a:spcPts val="3240"/>
                </a:lnSpc>
              </a:pPr>
              <a:r>
                <a:rPr lang="en-US" sz="2700" b="true">
                  <a:solidFill>
                    <a:srgbClr val="FFFFFF"/>
                  </a:solidFill>
                  <a:latin typeface="Consolas Bold"/>
                  <a:ea typeface="Consolas Bold"/>
                  <a:cs typeface="Consolas Bold"/>
                  <a:sym typeface="Consolas Bold"/>
                </a:rPr>
                <a:t>main.py</a:t>
              </a:r>
            </a:p>
          </p:txBody>
        </p:sp>
      </p:grpSp>
      <p:grpSp>
        <p:nvGrpSpPr>
          <p:cNvPr name="Group 41" id="41"/>
          <p:cNvGrpSpPr/>
          <p:nvPr/>
        </p:nvGrpSpPr>
        <p:grpSpPr>
          <a:xfrm rot="0">
            <a:off x="9638919" y="3360420"/>
            <a:ext cx="3415284" cy="1920240"/>
            <a:chOff x="0" y="0"/>
            <a:chExt cx="4553712" cy="2560320"/>
          </a:xfrm>
        </p:grpSpPr>
        <p:sp>
          <p:nvSpPr>
            <p:cNvPr name="Freeform 42" id="42"/>
            <p:cNvSpPr/>
            <p:nvPr/>
          </p:nvSpPr>
          <p:spPr>
            <a:xfrm flipH="false" flipV="false" rot="0">
              <a:off x="0" y="0"/>
              <a:ext cx="4553712" cy="2560320"/>
            </a:xfrm>
            <a:custGeom>
              <a:avLst/>
              <a:gdLst/>
              <a:ahLst/>
              <a:cxnLst/>
              <a:rect r="r" b="b" t="t" l="l"/>
              <a:pathLst>
                <a:path h="2560320" w="4553712">
                  <a:moveTo>
                    <a:pt x="0" y="0"/>
                  </a:moveTo>
                  <a:lnTo>
                    <a:pt x="4553712" y="0"/>
                  </a:lnTo>
                  <a:lnTo>
                    <a:pt x="4553712" y="2560320"/>
                  </a:lnTo>
                  <a:lnTo>
                    <a:pt x="0" y="2560320"/>
                  </a:lnTo>
                  <a:close/>
                </a:path>
              </a:pathLst>
            </a:custGeom>
            <a:blipFill>
              <a:blip r:embed="rId3">
                <a:alphaModFix amt="0"/>
              </a:blip>
              <a:stretch>
                <a:fillRect l="-22138" t="0" r="-22138" b="0"/>
              </a:stretch>
            </a:blipFill>
          </p:spPr>
        </p:sp>
        <p:sp>
          <p:nvSpPr>
            <p:cNvPr name="TextBox 43" id="43"/>
            <p:cNvSpPr txBox="true"/>
            <p:nvPr/>
          </p:nvSpPr>
          <p:spPr>
            <a:xfrm>
              <a:off x="0" y="-95250"/>
              <a:ext cx="4553712" cy="2655570"/>
            </a:xfrm>
            <a:prstGeom prst="rect">
              <a:avLst/>
            </a:prstGeom>
          </p:spPr>
          <p:txBody>
            <a:bodyPr anchor="ctr" rtlCol="false" tIns="0" lIns="0" bIns="0" rIns="0"/>
            <a:lstStyle/>
            <a:p>
              <a:pPr algn="l">
                <a:lnSpc>
                  <a:spcPts val="3024"/>
                </a:lnSpc>
              </a:pPr>
              <a:r>
                <a:rPr lang="en-US" sz="2100">
                  <a:solidFill>
                    <a:srgbClr val="D6E3EC"/>
                  </a:solidFill>
                  <a:latin typeface="Calibri (MS)"/>
                  <a:ea typeface="Calibri (MS)"/>
                  <a:cs typeface="Calibri (MS)"/>
                  <a:sym typeface="Calibri (MS)"/>
                </a:rPr>
                <a:t>Runs experiments, saves the two plots, runs the Nelder-Mead comparison, writes run_summary.json.</a:t>
              </a:r>
            </a:p>
          </p:txBody>
        </p:sp>
      </p:grpSp>
      <p:grpSp>
        <p:nvGrpSpPr>
          <p:cNvPr name="Group 44" id="44"/>
          <p:cNvGrpSpPr/>
          <p:nvPr/>
        </p:nvGrpSpPr>
        <p:grpSpPr>
          <a:xfrm rot="0">
            <a:off x="13264515" y="3617439"/>
            <a:ext cx="532638" cy="720403"/>
            <a:chOff x="0" y="0"/>
            <a:chExt cx="710184" cy="960537"/>
          </a:xfrm>
        </p:grpSpPr>
        <p:sp>
          <p:nvSpPr>
            <p:cNvPr name="Freeform 45" id="45"/>
            <p:cNvSpPr/>
            <p:nvPr/>
          </p:nvSpPr>
          <p:spPr>
            <a:xfrm flipH="false" flipV="false" rot="0">
              <a:off x="0" y="0"/>
              <a:ext cx="710184" cy="960537"/>
            </a:xfrm>
            <a:custGeom>
              <a:avLst/>
              <a:gdLst/>
              <a:ahLst/>
              <a:cxnLst/>
              <a:rect r="r" b="b" t="t" l="l"/>
              <a:pathLst>
                <a:path h="960537" w="710184">
                  <a:moveTo>
                    <a:pt x="0" y="0"/>
                  </a:moveTo>
                  <a:lnTo>
                    <a:pt x="710184" y="0"/>
                  </a:lnTo>
                  <a:lnTo>
                    <a:pt x="710184" y="960537"/>
                  </a:lnTo>
                  <a:lnTo>
                    <a:pt x="0" y="960537"/>
                  </a:lnTo>
                  <a:close/>
                </a:path>
              </a:pathLst>
            </a:custGeom>
            <a:blipFill>
              <a:blip r:embed="rId3">
                <a:alphaModFix amt="0"/>
              </a:blip>
              <a:stretch>
                <a:fillRect l="-142021" t="0" r="-88373" b="4803"/>
              </a:stretch>
            </a:blipFill>
          </p:spPr>
        </p:sp>
        <p:sp>
          <p:nvSpPr>
            <p:cNvPr name="TextBox 46" id="46"/>
            <p:cNvSpPr txBox="true"/>
            <p:nvPr/>
          </p:nvSpPr>
          <p:spPr>
            <a:xfrm>
              <a:off x="0" y="-66675"/>
              <a:ext cx="710184" cy="1027212"/>
            </a:xfrm>
            <a:prstGeom prst="rect">
              <a:avLst/>
            </a:prstGeom>
          </p:spPr>
          <p:txBody>
            <a:bodyPr anchor="ctr" rtlCol="false" tIns="0" lIns="0" bIns="0" rIns="0"/>
            <a:lstStyle/>
            <a:p>
              <a:pPr algn="ctr">
                <a:lnSpc>
                  <a:spcPts val="4320"/>
                </a:lnSpc>
              </a:pPr>
              <a:r>
                <a:rPr lang="en-US" sz="3600" b="true">
                  <a:solidFill>
                    <a:srgbClr val="1C7293"/>
                  </a:solidFill>
                  <a:latin typeface="Calibri (MS) Bold"/>
                  <a:ea typeface="Calibri (MS) Bold"/>
                  <a:cs typeface="Calibri (MS) Bold"/>
                  <a:sym typeface="Calibri (MS) Bold"/>
                </a:rPr>
                <a:t>→</a:t>
              </a:r>
            </a:p>
          </p:txBody>
        </p:sp>
      </p:grpSp>
      <p:grpSp>
        <p:nvGrpSpPr>
          <p:cNvPr name="Group 47" id="47"/>
          <p:cNvGrpSpPr/>
          <p:nvPr/>
        </p:nvGrpSpPr>
        <p:grpSpPr>
          <a:xfrm rot="0">
            <a:off x="13778103" y="2468880"/>
            <a:ext cx="3909060" cy="3017520"/>
            <a:chOff x="0" y="0"/>
            <a:chExt cx="5212080" cy="4023360"/>
          </a:xfrm>
        </p:grpSpPr>
        <p:sp>
          <p:nvSpPr>
            <p:cNvPr name="Freeform 48" id="48"/>
            <p:cNvSpPr/>
            <p:nvPr/>
          </p:nvSpPr>
          <p:spPr>
            <a:xfrm flipH="false" flipV="false" rot="0">
              <a:off x="0" y="0"/>
              <a:ext cx="5212080" cy="4023360"/>
            </a:xfrm>
            <a:custGeom>
              <a:avLst/>
              <a:gdLst/>
              <a:ahLst/>
              <a:cxnLst/>
              <a:rect r="r" b="b" t="t" l="l"/>
              <a:pathLst>
                <a:path h="4023360" w="5212080">
                  <a:moveTo>
                    <a:pt x="0" y="146304"/>
                  </a:moveTo>
                  <a:cubicBezTo>
                    <a:pt x="0" y="65532"/>
                    <a:pt x="65532" y="0"/>
                    <a:pt x="146304" y="0"/>
                  </a:cubicBezTo>
                  <a:lnTo>
                    <a:pt x="5065776" y="0"/>
                  </a:lnTo>
                  <a:cubicBezTo>
                    <a:pt x="5146548" y="0"/>
                    <a:pt x="5212080" y="65532"/>
                    <a:pt x="5212080" y="146304"/>
                  </a:cubicBezTo>
                  <a:lnTo>
                    <a:pt x="5212080" y="3877056"/>
                  </a:lnTo>
                  <a:cubicBezTo>
                    <a:pt x="5212080" y="3957828"/>
                    <a:pt x="5146548" y="4023360"/>
                    <a:pt x="5065776" y="4023360"/>
                  </a:cubicBezTo>
                  <a:lnTo>
                    <a:pt x="146304" y="4023360"/>
                  </a:lnTo>
                  <a:cubicBezTo>
                    <a:pt x="65532" y="4023360"/>
                    <a:pt x="0" y="3957828"/>
                    <a:pt x="0" y="3877056"/>
                  </a:cubicBezTo>
                  <a:close/>
                </a:path>
              </a:pathLst>
            </a:custGeom>
            <a:solidFill>
              <a:srgbClr val="0B2A4A"/>
            </a:solidFill>
          </p:spPr>
        </p:sp>
      </p:grpSp>
      <p:grpSp>
        <p:nvGrpSpPr>
          <p:cNvPr name="Group 49" id="49"/>
          <p:cNvGrpSpPr/>
          <p:nvPr/>
        </p:nvGrpSpPr>
        <p:grpSpPr>
          <a:xfrm rot="0">
            <a:off x="13778103" y="2468880"/>
            <a:ext cx="3909060" cy="685800"/>
            <a:chOff x="0" y="0"/>
            <a:chExt cx="5212080" cy="914400"/>
          </a:xfrm>
        </p:grpSpPr>
        <p:sp>
          <p:nvSpPr>
            <p:cNvPr name="Freeform 50" id="50"/>
            <p:cNvSpPr/>
            <p:nvPr/>
          </p:nvSpPr>
          <p:spPr>
            <a:xfrm flipH="false" flipV="false" rot="0">
              <a:off x="0" y="0"/>
              <a:ext cx="5212080" cy="914400"/>
            </a:xfrm>
            <a:custGeom>
              <a:avLst/>
              <a:gdLst/>
              <a:ahLst/>
              <a:cxnLst/>
              <a:rect r="r" b="b" t="t" l="l"/>
              <a:pathLst>
                <a:path h="914400" w="5212080">
                  <a:moveTo>
                    <a:pt x="0" y="0"/>
                  </a:moveTo>
                  <a:lnTo>
                    <a:pt x="5212080" y="0"/>
                  </a:lnTo>
                  <a:lnTo>
                    <a:pt x="5212080" y="914400"/>
                  </a:lnTo>
                  <a:lnTo>
                    <a:pt x="0" y="914400"/>
                  </a:lnTo>
                  <a:close/>
                </a:path>
              </a:pathLst>
            </a:custGeom>
            <a:solidFill>
              <a:srgbClr val="1C7293"/>
            </a:solidFill>
          </p:spPr>
        </p:sp>
      </p:grpSp>
      <p:grpSp>
        <p:nvGrpSpPr>
          <p:cNvPr name="Group 51" id="51"/>
          <p:cNvGrpSpPr/>
          <p:nvPr/>
        </p:nvGrpSpPr>
        <p:grpSpPr>
          <a:xfrm rot="0">
            <a:off x="13983843" y="2468880"/>
            <a:ext cx="3497580" cy="685800"/>
            <a:chOff x="0" y="0"/>
            <a:chExt cx="4663440" cy="914400"/>
          </a:xfrm>
        </p:grpSpPr>
        <p:sp>
          <p:nvSpPr>
            <p:cNvPr name="Freeform 52" id="52"/>
            <p:cNvSpPr/>
            <p:nvPr/>
          </p:nvSpPr>
          <p:spPr>
            <a:xfrm flipH="false" flipV="false" rot="0">
              <a:off x="0" y="0"/>
              <a:ext cx="4663440" cy="914400"/>
            </a:xfrm>
            <a:custGeom>
              <a:avLst/>
              <a:gdLst/>
              <a:ahLst/>
              <a:cxnLst/>
              <a:rect r="r" b="b" t="t" l="l"/>
              <a:pathLst>
                <a:path h="914400" w="4663440">
                  <a:moveTo>
                    <a:pt x="0" y="0"/>
                  </a:moveTo>
                  <a:lnTo>
                    <a:pt x="4663440" y="0"/>
                  </a:lnTo>
                  <a:lnTo>
                    <a:pt x="4663440" y="914400"/>
                  </a:lnTo>
                  <a:lnTo>
                    <a:pt x="0" y="914400"/>
                  </a:lnTo>
                  <a:close/>
                </a:path>
              </a:pathLst>
            </a:custGeom>
            <a:blipFill>
              <a:blip r:embed="rId3">
                <a:alphaModFix amt="0"/>
              </a:blip>
              <a:stretch>
                <a:fillRect l="0" t="-49373" r="0" b="-49373"/>
              </a:stretch>
            </a:blipFill>
          </p:spPr>
        </p:sp>
        <p:sp>
          <p:nvSpPr>
            <p:cNvPr name="TextBox 53" id="53"/>
            <p:cNvSpPr txBox="true"/>
            <p:nvPr/>
          </p:nvSpPr>
          <p:spPr>
            <a:xfrm>
              <a:off x="0" y="-57150"/>
              <a:ext cx="4663440" cy="971550"/>
            </a:xfrm>
            <a:prstGeom prst="rect">
              <a:avLst/>
            </a:prstGeom>
          </p:spPr>
          <p:txBody>
            <a:bodyPr anchor="ctr" rtlCol="false" tIns="0" lIns="0" bIns="0" rIns="0"/>
            <a:lstStyle/>
            <a:p>
              <a:pPr algn="l">
                <a:lnSpc>
                  <a:spcPts val="3240"/>
                </a:lnSpc>
              </a:pPr>
              <a:r>
                <a:rPr lang="en-US" sz="2700" b="true">
                  <a:solidFill>
                    <a:srgbClr val="FFFFFF"/>
                  </a:solidFill>
                  <a:latin typeface="Consolas Bold"/>
                  <a:ea typeface="Consolas Bold"/>
                  <a:cs typeface="Consolas Bold"/>
                  <a:sym typeface="Consolas Bold"/>
                </a:rPr>
                <a:t>test_ga.py</a:t>
              </a:r>
            </a:p>
          </p:txBody>
        </p:sp>
      </p:grpSp>
      <p:grpSp>
        <p:nvGrpSpPr>
          <p:cNvPr name="Group 54" id="54"/>
          <p:cNvGrpSpPr/>
          <p:nvPr/>
        </p:nvGrpSpPr>
        <p:grpSpPr>
          <a:xfrm rot="0">
            <a:off x="14024991" y="3360420"/>
            <a:ext cx="3415284" cy="1920240"/>
            <a:chOff x="0" y="0"/>
            <a:chExt cx="4553712" cy="2560320"/>
          </a:xfrm>
        </p:grpSpPr>
        <p:sp>
          <p:nvSpPr>
            <p:cNvPr name="Freeform 55" id="55"/>
            <p:cNvSpPr/>
            <p:nvPr/>
          </p:nvSpPr>
          <p:spPr>
            <a:xfrm flipH="false" flipV="false" rot="0">
              <a:off x="0" y="0"/>
              <a:ext cx="4553712" cy="2560320"/>
            </a:xfrm>
            <a:custGeom>
              <a:avLst/>
              <a:gdLst/>
              <a:ahLst/>
              <a:cxnLst/>
              <a:rect r="r" b="b" t="t" l="l"/>
              <a:pathLst>
                <a:path h="2560320" w="4553712">
                  <a:moveTo>
                    <a:pt x="0" y="0"/>
                  </a:moveTo>
                  <a:lnTo>
                    <a:pt x="4553712" y="0"/>
                  </a:lnTo>
                  <a:lnTo>
                    <a:pt x="4553712" y="2560320"/>
                  </a:lnTo>
                  <a:lnTo>
                    <a:pt x="0" y="2560320"/>
                  </a:lnTo>
                  <a:close/>
                </a:path>
              </a:pathLst>
            </a:custGeom>
            <a:blipFill>
              <a:blip r:embed="rId3">
                <a:alphaModFix amt="0"/>
              </a:blip>
              <a:stretch>
                <a:fillRect l="-22138" t="0" r="-22138" b="0"/>
              </a:stretch>
            </a:blipFill>
          </p:spPr>
        </p:sp>
        <p:sp>
          <p:nvSpPr>
            <p:cNvPr name="TextBox 56" id="56"/>
            <p:cNvSpPr txBox="true"/>
            <p:nvPr/>
          </p:nvSpPr>
          <p:spPr>
            <a:xfrm>
              <a:off x="0" y="-95250"/>
              <a:ext cx="4553712" cy="2655570"/>
            </a:xfrm>
            <a:prstGeom prst="rect">
              <a:avLst/>
            </a:prstGeom>
          </p:spPr>
          <p:txBody>
            <a:bodyPr anchor="ctr" rtlCol="false" tIns="0" lIns="0" bIns="0" rIns="0"/>
            <a:lstStyle/>
            <a:p>
              <a:pPr algn="l">
                <a:lnSpc>
                  <a:spcPts val="3024"/>
                </a:lnSpc>
              </a:pPr>
              <a:r>
                <a:rPr lang="en-US" sz="2100">
                  <a:solidFill>
                    <a:srgbClr val="D6E3EC"/>
                  </a:solidFill>
                  <a:latin typeface="Calibri (MS)"/>
                  <a:ea typeface="Calibri (MS)"/>
                  <a:cs typeface="Calibri (MS)"/>
                  <a:sym typeface="Calibri (MS)"/>
                </a:rPr>
                <a:t>Six pytest checks covering correctness, monotonic improvement, convergence, and bounds.</a:t>
              </a:r>
            </a:p>
          </p:txBody>
        </p:sp>
      </p:grpSp>
      <p:grpSp>
        <p:nvGrpSpPr>
          <p:cNvPr name="Group 57" id="57"/>
          <p:cNvGrpSpPr/>
          <p:nvPr/>
        </p:nvGrpSpPr>
        <p:grpSpPr>
          <a:xfrm rot="0">
            <a:off x="918210" y="6035040"/>
            <a:ext cx="4114800" cy="480060"/>
            <a:chOff x="0" y="0"/>
            <a:chExt cx="5486400" cy="640080"/>
          </a:xfrm>
        </p:grpSpPr>
        <p:sp>
          <p:nvSpPr>
            <p:cNvPr name="Freeform 58" id="58"/>
            <p:cNvSpPr/>
            <p:nvPr/>
          </p:nvSpPr>
          <p:spPr>
            <a:xfrm flipH="false" flipV="false" rot="0">
              <a:off x="0" y="0"/>
              <a:ext cx="5486400" cy="640080"/>
            </a:xfrm>
            <a:custGeom>
              <a:avLst/>
              <a:gdLst/>
              <a:ahLst/>
              <a:cxnLst/>
              <a:rect r="r" b="b" t="t" l="l"/>
              <a:pathLst>
                <a:path h="640080" w="5486400">
                  <a:moveTo>
                    <a:pt x="0" y="0"/>
                  </a:moveTo>
                  <a:lnTo>
                    <a:pt x="5486400" y="0"/>
                  </a:lnTo>
                  <a:lnTo>
                    <a:pt x="5486400" y="640080"/>
                  </a:lnTo>
                  <a:lnTo>
                    <a:pt x="0" y="640080"/>
                  </a:lnTo>
                  <a:close/>
                </a:path>
              </a:pathLst>
            </a:custGeom>
            <a:blipFill>
              <a:blip r:embed="rId3">
                <a:alphaModFix amt="0"/>
              </a:blip>
              <a:stretch>
                <a:fillRect l="0" t="-117014" r="0" b="-117014"/>
              </a:stretch>
            </a:blipFill>
          </p:spPr>
        </p:sp>
        <p:sp>
          <p:nvSpPr>
            <p:cNvPr name="TextBox 59" id="59"/>
            <p:cNvSpPr txBox="true"/>
            <p:nvPr/>
          </p:nvSpPr>
          <p:spPr>
            <a:xfrm>
              <a:off x="0" y="-19050"/>
              <a:ext cx="5486400" cy="659130"/>
            </a:xfrm>
            <a:prstGeom prst="rect">
              <a:avLst/>
            </a:prstGeom>
          </p:spPr>
          <p:txBody>
            <a:bodyPr anchor="ctr" rtlCol="false" tIns="0" lIns="0" bIns="0" rIns="0"/>
            <a:lstStyle/>
            <a:p>
              <a:pPr algn="l">
                <a:lnSpc>
                  <a:spcPts val="3600"/>
                </a:lnSpc>
              </a:pPr>
              <a:r>
                <a:rPr lang="en-US" sz="3000" b="true">
                  <a:solidFill>
                    <a:srgbClr val="0B2A4A"/>
                  </a:solidFill>
                  <a:latin typeface="Cambria Bold"/>
                  <a:ea typeface="Cambria Bold"/>
                  <a:cs typeface="Cambria Bold"/>
                  <a:sym typeface="Cambria Bold"/>
                </a:rPr>
                <a:t>Libraries</a:t>
              </a:r>
            </a:p>
          </p:txBody>
        </p:sp>
      </p:grpSp>
      <p:grpSp>
        <p:nvGrpSpPr>
          <p:cNvPr name="Group 60" id="60"/>
          <p:cNvGrpSpPr/>
          <p:nvPr/>
        </p:nvGrpSpPr>
        <p:grpSpPr>
          <a:xfrm rot="0">
            <a:off x="845820" y="8452930"/>
            <a:ext cx="16596360" cy="548640"/>
            <a:chOff x="0" y="0"/>
            <a:chExt cx="22128480" cy="731520"/>
          </a:xfrm>
        </p:grpSpPr>
        <p:sp>
          <p:nvSpPr>
            <p:cNvPr name="Freeform 61" id="61"/>
            <p:cNvSpPr/>
            <p:nvPr/>
          </p:nvSpPr>
          <p:spPr>
            <a:xfrm flipH="false" flipV="false" rot="0">
              <a:off x="0" y="0"/>
              <a:ext cx="22128480" cy="731520"/>
            </a:xfrm>
            <a:custGeom>
              <a:avLst/>
              <a:gdLst/>
              <a:ahLst/>
              <a:cxnLst/>
              <a:rect r="r" b="b" t="t" l="l"/>
              <a:pathLst>
                <a:path h="731520" w="22128480">
                  <a:moveTo>
                    <a:pt x="0" y="0"/>
                  </a:moveTo>
                  <a:lnTo>
                    <a:pt x="22128480" y="0"/>
                  </a:lnTo>
                  <a:lnTo>
                    <a:pt x="22128480" y="731520"/>
                  </a:lnTo>
                  <a:lnTo>
                    <a:pt x="0" y="731520"/>
                  </a:lnTo>
                  <a:close/>
                </a:path>
              </a:pathLst>
            </a:custGeom>
            <a:blipFill>
              <a:blip r:embed="rId3">
                <a:alphaModFix amt="0"/>
              </a:blip>
              <a:stretch>
                <a:fillRect l="0" t="-539422" r="0" b="-539422"/>
              </a:stretch>
            </a:blipFill>
          </p:spPr>
        </p:sp>
        <p:sp>
          <p:nvSpPr>
            <p:cNvPr name="TextBox 62" id="62"/>
            <p:cNvSpPr txBox="true"/>
            <p:nvPr/>
          </p:nvSpPr>
          <p:spPr>
            <a:xfrm>
              <a:off x="0" y="-47625"/>
              <a:ext cx="22128480" cy="779145"/>
            </a:xfrm>
            <a:prstGeom prst="rect">
              <a:avLst/>
            </a:prstGeom>
          </p:spPr>
          <p:txBody>
            <a:bodyPr anchor="ctr" rtlCol="false" tIns="0" lIns="0" bIns="0" rIns="0"/>
            <a:lstStyle/>
            <a:p>
              <a:pPr algn="ctr">
                <a:lnSpc>
                  <a:spcPts val="2400"/>
                </a:lnSpc>
              </a:pPr>
              <a:r>
                <a:rPr lang="en-US" sz="2000" b="true">
                  <a:solidFill>
                    <a:srgbClr val="5B6472"/>
                  </a:solidFill>
                  <a:latin typeface="Consolas Bold"/>
                  <a:ea typeface="Consolas Bold"/>
                  <a:cs typeface="Consolas Bold"/>
                  <a:sym typeface="Consolas Bold"/>
                </a:rPr>
                <a:t>Run it:  cd src  →  pip install -r requirements.txt  →  python main.py   |   Test it:  python -m pytest test_ga.py -v</a:t>
              </a:r>
            </a:p>
          </p:txBody>
        </p:sp>
      </p:grpSp>
      <p:grpSp>
        <p:nvGrpSpPr>
          <p:cNvPr name="Group 63" id="63"/>
          <p:cNvGrpSpPr/>
          <p:nvPr/>
        </p:nvGrpSpPr>
        <p:grpSpPr>
          <a:xfrm rot="0">
            <a:off x="16774668" y="9669780"/>
            <a:ext cx="1097280" cy="411480"/>
            <a:chOff x="0" y="0"/>
            <a:chExt cx="1463040" cy="548640"/>
          </a:xfrm>
        </p:grpSpPr>
        <p:sp>
          <p:nvSpPr>
            <p:cNvPr name="Freeform 64" id="64"/>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65" id="65"/>
            <p:cNvSpPr txBox="true"/>
            <p:nvPr/>
          </p:nvSpPr>
          <p:spPr>
            <a:xfrm>
              <a:off x="0" y="-38100"/>
              <a:ext cx="1463040" cy="586740"/>
            </a:xfrm>
            <a:prstGeom prst="rect">
              <a:avLst/>
            </a:prstGeom>
          </p:spPr>
          <p:txBody>
            <a:bodyPr anchor="ctr" rtlCol="false" tIns="0" lIns="0" bIns="0" rIns="0"/>
            <a:lstStyle/>
            <a:p>
              <a:pPr algn="r">
                <a:lnSpc>
                  <a:spcPts val="1800"/>
                </a:lnSpc>
              </a:pPr>
              <a:r>
                <a:rPr lang="en-US" sz="1500">
                  <a:solidFill>
                    <a:srgbClr val="5B6472"/>
                  </a:solidFill>
                  <a:latin typeface="Calibri (MS)"/>
                  <a:ea typeface="Calibri (MS)"/>
                  <a:cs typeface="Calibri (MS)"/>
                  <a:sym typeface="Calibri (MS)"/>
                </a:rPr>
                <a:t>9 / 13</a:t>
              </a:r>
            </a:p>
          </p:txBody>
        </p:sp>
      </p:grpSp>
      <p:grpSp>
        <p:nvGrpSpPr>
          <p:cNvPr name="Group 66" id="66"/>
          <p:cNvGrpSpPr/>
          <p:nvPr/>
        </p:nvGrpSpPr>
        <p:grpSpPr>
          <a:xfrm rot="0">
            <a:off x="685800" y="9669780"/>
            <a:ext cx="5486400" cy="411480"/>
            <a:chOff x="0" y="0"/>
            <a:chExt cx="7315200" cy="548640"/>
          </a:xfrm>
        </p:grpSpPr>
        <p:sp>
          <p:nvSpPr>
            <p:cNvPr name="Freeform 67" id="67"/>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68" id="68"/>
            <p:cNvSpPr txBox="true"/>
            <p:nvPr/>
          </p:nvSpPr>
          <p:spPr>
            <a:xfrm>
              <a:off x="0" y="-38100"/>
              <a:ext cx="7315200" cy="586740"/>
            </a:xfrm>
            <a:prstGeom prst="rect">
              <a:avLst/>
            </a:prstGeom>
          </p:spPr>
          <p:txBody>
            <a:bodyPr anchor="ctr" rtlCol="false" tIns="0" lIns="0" bIns="0" rIns="0"/>
            <a:lstStyle/>
            <a:p>
              <a:pPr algn="l">
                <a:lnSpc>
                  <a:spcPts val="1800"/>
                </a:lnSpc>
              </a:pPr>
              <a:r>
                <a:rPr lang="en-US" sz="1500">
                  <a:solidFill>
                    <a:srgbClr val="5B6472"/>
                  </a:solidFill>
                  <a:latin typeface="Calibri (MS)"/>
                  <a:ea typeface="Calibri (MS)"/>
                  <a:cs typeface="Calibri (MS)"/>
                  <a:sym typeface="Calibri (MS)"/>
                </a:rPr>
                <a:t>GA · 2D Ackley Function</a:t>
              </a:r>
            </a:p>
          </p:txBody>
        </p:sp>
      </p:grpSp>
      <p:sp>
        <p:nvSpPr>
          <p:cNvPr name="TextBox 69" id="69"/>
          <p:cNvSpPr txBox="true"/>
          <p:nvPr/>
        </p:nvSpPr>
        <p:spPr>
          <a:xfrm rot="0">
            <a:off x="941070" y="6762877"/>
            <a:ext cx="8202930" cy="1021842"/>
          </a:xfrm>
          <a:prstGeom prst="rect">
            <a:avLst/>
          </a:prstGeom>
        </p:spPr>
        <p:txBody>
          <a:bodyPr anchor="t" rtlCol="false" tIns="0" lIns="0" bIns="0" rIns="0">
            <a:spAutoFit/>
          </a:bodyPr>
          <a:lstStyle/>
          <a:p>
            <a:pPr algn="l">
              <a:lnSpc>
                <a:spcPts val="3863"/>
              </a:lnSpc>
            </a:pPr>
            <a:r>
              <a:rPr lang="en-US" sz="2799">
                <a:solidFill>
                  <a:srgbClr val="000000"/>
                </a:solidFill>
                <a:latin typeface="Calibri (MS)"/>
                <a:ea typeface="Calibri (MS)"/>
                <a:cs typeface="Calibri (MS)"/>
                <a:sym typeface="Calibri (MS)"/>
              </a:rPr>
              <a:t>NumPy        SciPy                OpenPyXL       PyTest</a:t>
            </a:r>
          </a:p>
          <a:p>
            <a:pPr algn="l">
              <a:lnSpc>
                <a:spcPts val="3863"/>
              </a:lnSpc>
              <a:spcBef>
                <a:spcPct val="0"/>
              </a:spcBef>
            </a:pPr>
            <a:r>
              <a:rPr lang="en-US" sz="2799">
                <a:solidFill>
                  <a:srgbClr val="000000"/>
                </a:solidFill>
                <a:latin typeface="Calibri (MS)"/>
                <a:ea typeface="Calibri (MS)"/>
                <a:cs typeface="Calibri (MS)"/>
                <a:sym typeface="Calibri (MS)"/>
              </a:rPr>
              <a:t>Pandas        MatPlotLib      ImageIO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47625"/>
              <a:ext cx="14630400" cy="687705"/>
            </a:xfrm>
            <a:prstGeom prst="rect">
              <a:avLst/>
            </a:prstGeom>
          </p:spPr>
          <p:txBody>
            <a:bodyPr anchor="ctr" rtlCol="false" tIns="0" lIns="0" bIns="0" rIns="0"/>
            <a:lstStyle/>
            <a:p>
              <a:pPr algn="l">
                <a:lnSpc>
                  <a:spcPts val="2340"/>
                </a:lnSpc>
              </a:pPr>
              <a:r>
                <a:rPr lang="en-US" b="true" sz="1950" spc="299">
                  <a:solidFill>
                    <a:srgbClr val="1C7293"/>
                  </a:solidFill>
                  <a:latin typeface="Calibri (MS) Bold"/>
                  <a:ea typeface="Calibri (MS) Bold"/>
                  <a:cs typeface="Calibri (MS) Bold"/>
                  <a:sym typeface="Calibri (MS) Bold"/>
                </a:rPr>
                <a:t>OUTPUT</a:t>
              </a:r>
            </a:p>
          </p:txBody>
        </p:sp>
      </p:grpSp>
      <p:grpSp>
        <p:nvGrpSpPr>
          <p:cNvPr name="Group 5" id="5"/>
          <p:cNvGrpSpPr/>
          <p:nvPr/>
        </p:nvGrpSpPr>
        <p:grpSpPr>
          <a:xfrm rot="0">
            <a:off x="822960" y="987552"/>
            <a:ext cx="15910560" cy="960120"/>
            <a:chOff x="0" y="0"/>
            <a:chExt cx="21214080" cy="1280160"/>
          </a:xfrm>
        </p:grpSpPr>
        <p:sp>
          <p:nvSpPr>
            <p:cNvPr name="Freeform 6" id="6"/>
            <p:cNvSpPr/>
            <p:nvPr/>
          </p:nvSpPr>
          <p:spPr>
            <a:xfrm flipH="false" flipV="false" rot="0">
              <a:off x="0" y="0"/>
              <a:ext cx="21214080" cy="1280160"/>
            </a:xfrm>
            <a:custGeom>
              <a:avLst/>
              <a:gdLst/>
              <a:ahLst/>
              <a:cxnLst/>
              <a:rect r="r" b="b" t="t" l="l"/>
              <a:pathLst>
                <a:path h="1280160" w="21214080">
                  <a:moveTo>
                    <a:pt x="0" y="0"/>
                  </a:moveTo>
                  <a:lnTo>
                    <a:pt x="21214080" y="0"/>
                  </a:lnTo>
                  <a:lnTo>
                    <a:pt x="21214080" y="1280160"/>
                  </a:lnTo>
                  <a:lnTo>
                    <a:pt x="0" y="1280160"/>
                  </a:lnTo>
                  <a:close/>
                </a:path>
              </a:pathLst>
            </a:custGeom>
            <a:blipFill>
              <a:blip r:embed="rId3">
                <a:alphaModFix amt="0"/>
              </a:blip>
              <a:stretch>
                <a:fillRect l="0" t="-272894" r="0" b="-272894"/>
              </a:stretch>
            </a:blipFill>
          </p:spPr>
        </p:sp>
        <p:sp>
          <p:nvSpPr>
            <p:cNvPr name="TextBox 7" id="7"/>
            <p:cNvSpPr txBox="true"/>
            <p:nvPr/>
          </p:nvSpPr>
          <p:spPr>
            <a:xfrm>
              <a:off x="0" y="-19050"/>
              <a:ext cx="21214080" cy="1299210"/>
            </a:xfrm>
            <a:prstGeom prst="rect">
              <a:avLst/>
            </a:prstGeom>
          </p:spPr>
          <p:txBody>
            <a:bodyPr anchor="ctr" rtlCol="false" tIns="0" lIns="0" bIns="0" rIns="0"/>
            <a:lstStyle/>
            <a:p>
              <a:pPr algn="l">
                <a:lnSpc>
                  <a:spcPts val="5400"/>
                </a:lnSpc>
              </a:pPr>
              <a:r>
                <a:rPr lang="en-US" sz="4500" b="true">
                  <a:solidFill>
                    <a:srgbClr val="1B1F27"/>
                  </a:solidFill>
                  <a:latin typeface="Cambria Bold"/>
                  <a:ea typeface="Cambria Bold"/>
                  <a:cs typeface="Cambria Bold"/>
                  <a:sym typeface="Cambria Bold"/>
                </a:rPr>
                <a:t>What the program produced (seed 42)</a:t>
              </a:r>
            </a:p>
          </p:txBody>
        </p:sp>
      </p:grpSp>
      <p:grpSp>
        <p:nvGrpSpPr>
          <p:cNvPr name="Group 8" id="8"/>
          <p:cNvGrpSpPr/>
          <p:nvPr/>
        </p:nvGrpSpPr>
        <p:grpSpPr>
          <a:xfrm rot="0">
            <a:off x="822960" y="2400300"/>
            <a:ext cx="3909060" cy="1577340"/>
            <a:chOff x="0" y="0"/>
            <a:chExt cx="5212080" cy="2103120"/>
          </a:xfrm>
        </p:grpSpPr>
        <p:sp>
          <p:nvSpPr>
            <p:cNvPr name="Freeform 9" id="9"/>
            <p:cNvSpPr/>
            <p:nvPr/>
          </p:nvSpPr>
          <p:spPr>
            <a:xfrm flipH="false" flipV="false" rot="0">
              <a:off x="0" y="0"/>
              <a:ext cx="5212080" cy="2103120"/>
            </a:xfrm>
            <a:custGeom>
              <a:avLst/>
              <a:gdLst/>
              <a:ahLst/>
              <a:cxnLst/>
              <a:rect r="r" b="b" t="t" l="l"/>
              <a:pathLst>
                <a:path h="2103120" w="5212080">
                  <a:moveTo>
                    <a:pt x="0" y="146304"/>
                  </a:moveTo>
                  <a:cubicBezTo>
                    <a:pt x="0" y="65532"/>
                    <a:pt x="65532" y="0"/>
                    <a:pt x="146304" y="0"/>
                  </a:cubicBezTo>
                  <a:lnTo>
                    <a:pt x="5065776" y="0"/>
                  </a:lnTo>
                  <a:cubicBezTo>
                    <a:pt x="5146548" y="0"/>
                    <a:pt x="5212080" y="65532"/>
                    <a:pt x="5212080" y="146304"/>
                  </a:cubicBezTo>
                  <a:lnTo>
                    <a:pt x="5212080" y="1956816"/>
                  </a:lnTo>
                  <a:cubicBezTo>
                    <a:pt x="5212080" y="2037588"/>
                    <a:pt x="5146548" y="2103120"/>
                    <a:pt x="5065776" y="2103120"/>
                  </a:cubicBezTo>
                  <a:lnTo>
                    <a:pt x="146304" y="2103120"/>
                  </a:lnTo>
                  <a:cubicBezTo>
                    <a:pt x="65532" y="2103120"/>
                    <a:pt x="0" y="2037588"/>
                    <a:pt x="0" y="1956816"/>
                  </a:cubicBezTo>
                  <a:close/>
                </a:path>
              </a:pathLst>
            </a:custGeom>
            <a:solidFill>
              <a:srgbClr val="0B2A4A"/>
            </a:solidFill>
          </p:spPr>
        </p:sp>
      </p:grpSp>
      <p:grpSp>
        <p:nvGrpSpPr>
          <p:cNvPr name="Group 10" id="10"/>
          <p:cNvGrpSpPr/>
          <p:nvPr/>
        </p:nvGrpSpPr>
        <p:grpSpPr>
          <a:xfrm rot="0">
            <a:off x="1028700" y="2510028"/>
            <a:ext cx="3497580" cy="754380"/>
            <a:chOff x="0" y="0"/>
            <a:chExt cx="4663440" cy="1005840"/>
          </a:xfrm>
        </p:grpSpPr>
        <p:sp>
          <p:nvSpPr>
            <p:cNvPr name="Freeform 11" id="11"/>
            <p:cNvSpPr/>
            <p:nvPr/>
          </p:nvSpPr>
          <p:spPr>
            <a:xfrm flipH="false" flipV="false" rot="0">
              <a:off x="0" y="0"/>
              <a:ext cx="4663440" cy="1005840"/>
            </a:xfrm>
            <a:custGeom>
              <a:avLst/>
              <a:gdLst/>
              <a:ahLst/>
              <a:cxnLst/>
              <a:rect r="r" b="b" t="t" l="l"/>
              <a:pathLst>
                <a:path h="1005840" w="4663440">
                  <a:moveTo>
                    <a:pt x="0" y="0"/>
                  </a:moveTo>
                  <a:lnTo>
                    <a:pt x="4663440" y="0"/>
                  </a:lnTo>
                  <a:lnTo>
                    <a:pt x="4663440" y="1005840"/>
                  </a:lnTo>
                  <a:lnTo>
                    <a:pt x="0" y="1005840"/>
                  </a:lnTo>
                  <a:close/>
                </a:path>
              </a:pathLst>
            </a:custGeom>
            <a:blipFill>
              <a:blip r:embed="rId3">
                <a:alphaModFix amt="0"/>
              </a:blip>
              <a:stretch>
                <a:fillRect l="0" t="-40339" r="0" b="-40339"/>
              </a:stretch>
            </a:blipFill>
          </p:spPr>
        </p:sp>
        <p:sp>
          <p:nvSpPr>
            <p:cNvPr name="TextBox 12" id="12"/>
            <p:cNvSpPr txBox="true"/>
            <p:nvPr/>
          </p:nvSpPr>
          <p:spPr>
            <a:xfrm>
              <a:off x="0" y="-19050"/>
              <a:ext cx="4663440" cy="1024890"/>
            </a:xfrm>
            <a:prstGeom prst="rect">
              <a:avLst/>
            </a:prstGeom>
          </p:spPr>
          <p:txBody>
            <a:bodyPr anchor="ctr" rtlCol="false" tIns="0" lIns="0" bIns="0" rIns="0"/>
            <a:lstStyle/>
            <a:p>
              <a:pPr algn="l">
                <a:lnSpc>
                  <a:spcPts val="3600"/>
                </a:lnSpc>
              </a:pPr>
              <a:r>
                <a:rPr lang="en-US" sz="3000" b="true">
                  <a:solidFill>
                    <a:srgbClr val="FFFFFF"/>
                  </a:solidFill>
                  <a:latin typeface="Cambria Bold"/>
                  <a:ea typeface="Cambria Bold"/>
                  <a:cs typeface="Cambria Bold"/>
                  <a:sym typeface="Cambria Bold"/>
                </a:rPr>
                <a:t>[-0.00185, 0.00496]</a:t>
              </a:r>
            </a:p>
          </p:txBody>
        </p:sp>
      </p:grpSp>
      <p:grpSp>
        <p:nvGrpSpPr>
          <p:cNvPr name="Group 13" id="13"/>
          <p:cNvGrpSpPr/>
          <p:nvPr/>
        </p:nvGrpSpPr>
        <p:grpSpPr>
          <a:xfrm rot="0">
            <a:off x="1028700" y="3291840"/>
            <a:ext cx="3497580" cy="548640"/>
            <a:chOff x="0" y="0"/>
            <a:chExt cx="4663440" cy="731520"/>
          </a:xfrm>
        </p:grpSpPr>
        <p:sp>
          <p:nvSpPr>
            <p:cNvPr name="Freeform 14" id="14"/>
            <p:cNvSpPr/>
            <p:nvPr/>
          </p:nvSpPr>
          <p:spPr>
            <a:xfrm flipH="false" flipV="false" rot="0">
              <a:off x="0" y="0"/>
              <a:ext cx="4663440" cy="731520"/>
            </a:xfrm>
            <a:custGeom>
              <a:avLst/>
              <a:gdLst/>
              <a:ahLst/>
              <a:cxnLst/>
              <a:rect r="r" b="b" t="t" l="l"/>
              <a:pathLst>
                <a:path h="731520" w="4663440">
                  <a:moveTo>
                    <a:pt x="0" y="0"/>
                  </a:moveTo>
                  <a:lnTo>
                    <a:pt x="4663440" y="0"/>
                  </a:lnTo>
                  <a:lnTo>
                    <a:pt x="4663440" y="731520"/>
                  </a:lnTo>
                  <a:lnTo>
                    <a:pt x="0" y="731520"/>
                  </a:lnTo>
                  <a:close/>
                </a:path>
              </a:pathLst>
            </a:custGeom>
            <a:blipFill>
              <a:blip r:embed="rId3">
                <a:alphaModFix amt="0"/>
              </a:blip>
              <a:stretch>
                <a:fillRect l="0" t="-74217" r="0" b="-74217"/>
              </a:stretch>
            </a:blipFill>
          </p:spPr>
        </p:sp>
        <p:sp>
          <p:nvSpPr>
            <p:cNvPr name="TextBox 15" id="15"/>
            <p:cNvSpPr txBox="true"/>
            <p:nvPr/>
          </p:nvSpPr>
          <p:spPr>
            <a:xfrm>
              <a:off x="0" y="-47625"/>
              <a:ext cx="4663440" cy="779145"/>
            </a:xfrm>
            <a:prstGeom prst="rect">
              <a:avLst/>
            </a:prstGeom>
          </p:spPr>
          <p:txBody>
            <a:bodyPr anchor="ctr" rtlCol="false" tIns="0" lIns="0" bIns="0" rIns="0"/>
            <a:lstStyle/>
            <a:p>
              <a:pPr algn="l">
                <a:lnSpc>
                  <a:spcPts val="2520"/>
                </a:lnSpc>
              </a:pPr>
              <a:r>
                <a:rPr lang="en-US" sz="2100">
                  <a:solidFill>
                    <a:srgbClr val="C7D6E2"/>
                  </a:solidFill>
                  <a:latin typeface="Calibri (MS)"/>
                  <a:ea typeface="Calibri (MS)"/>
                  <a:cs typeface="Calibri (MS)"/>
                  <a:sym typeface="Calibri (MS)"/>
                </a:rPr>
                <a:t>Best chromosome</a:t>
              </a:r>
            </a:p>
          </p:txBody>
        </p:sp>
      </p:grpSp>
      <p:grpSp>
        <p:nvGrpSpPr>
          <p:cNvPr name="Group 16" id="16"/>
          <p:cNvGrpSpPr/>
          <p:nvPr/>
        </p:nvGrpSpPr>
        <p:grpSpPr>
          <a:xfrm rot="0">
            <a:off x="4978908" y="2400300"/>
            <a:ext cx="3909060" cy="1577340"/>
            <a:chOff x="0" y="0"/>
            <a:chExt cx="5212080" cy="2103120"/>
          </a:xfrm>
        </p:grpSpPr>
        <p:sp>
          <p:nvSpPr>
            <p:cNvPr name="Freeform 17" id="17"/>
            <p:cNvSpPr/>
            <p:nvPr/>
          </p:nvSpPr>
          <p:spPr>
            <a:xfrm flipH="false" flipV="false" rot="0">
              <a:off x="0" y="0"/>
              <a:ext cx="5212080" cy="2103120"/>
            </a:xfrm>
            <a:custGeom>
              <a:avLst/>
              <a:gdLst/>
              <a:ahLst/>
              <a:cxnLst/>
              <a:rect r="r" b="b" t="t" l="l"/>
              <a:pathLst>
                <a:path h="2103120" w="5212080">
                  <a:moveTo>
                    <a:pt x="0" y="146304"/>
                  </a:moveTo>
                  <a:cubicBezTo>
                    <a:pt x="0" y="65532"/>
                    <a:pt x="65532" y="0"/>
                    <a:pt x="146304" y="0"/>
                  </a:cubicBezTo>
                  <a:lnTo>
                    <a:pt x="5065776" y="0"/>
                  </a:lnTo>
                  <a:cubicBezTo>
                    <a:pt x="5146548" y="0"/>
                    <a:pt x="5212080" y="65532"/>
                    <a:pt x="5212080" y="146304"/>
                  </a:cubicBezTo>
                  <a:lnTo>
                    <a:pt x="5212080" y="1956816"/>
                  </a:lnTo>
                  <a:cubicBezTo>
                    <a:pt x="5212080" y="2037588"/>
                    <a:pt x="5146548" y="2103120"/>
                    <a:pt x="5065776" y="2103120"/>
                  </a:cubicBezTo>
                  <a:lnTo>
                    <a:pt x="146304" y="2103120"/>
                  </a:lnTo>
                  <a:cubicBezTo>
                    <a:pt x="65532" y="2103120"/>
                    <a:pt x="0" y="2037588"/>
                    <a:pt x="0" y="1956816"/>
                  </a:cubicBezTo>
                  <a:close/>
                </a:path>
              </a:pathLst>
            </a:custGeom>
            <a:solidFill>
              <a:srgbClr val="FF6B4A"/>
            </a:solidFill>
          </p:spPr>
        </p:sp>
      </p:grpSp>
      <p:grpSp>
        <p:nvGrpSpPr>
          <p:cNvPr name="Group 18" id="18"/>
          <p:cNvGrpSpPr/>
          <p:nvPr/>
        </p:nvGrpSpPr>
        <p:grpSpPr>
          <a:xfrm rot="0">
            <a:off x="5184648" y="2510028"/>
            <a:ext cx="3497580" cy="754380"/>
            <a:chOff x="0" y="0"/>
            <a:chExt cx="4663440" cy="1005840"/>
          </a:xfrm>
        </p:grpSpPr>
        <p:sp>
          <p:nvSpPr>
            <p:cNvPr name="Freeform 19" id="19"/>
            <p:cNvSpPr/>
            <p:nvPr/>
          </p:nvSpPr>
          <p:spPr>
            <a:xfrm flipH="false" flipV="false" rot="0">
              <a:off x="0" y="0"/>
              <a:ext cx="4663440" cy="1005840"/>
            </a:xfrm>
            <a:custGeom>
              <a:avLst/>
              <a:gdLst/>
              <a:ahLst/>
              <a:cxnLst/>
              <a:rect r="r" b="b" t="t" l="l"/>
              <a:pathLst>
                <a:path h="1005840" w="4663440">
                  <a:moveTo>
                    <a:pt x="0" y="0"/>
                  </a:moveTo>
                  <a:lnTo>
                    <a:pt x="4663440" y="0"/>
                  </a:lnTo>
                  <a:lnTo>
                    <a:pt x="4663440" y="1005840"/>
                  </a:lnTo>
                  <a:lnTo>
                    <a:pt x="0" y="1005840"/>
                  </a:lnTo>
                  <a:close/>
                </a:path>
              </a:pathLst>
            </a:custGeom>
            <a:blipFill>
              <a:blip r:embed="rId3">
                <a:alphaModFix amt="0"/>
              </a:blip>
              <a:stretch>
                <a:fillRect l="0" t="-40339" r="0" b="-40339"/>
              </a:stretch>
            </a:blipFill>
          </p:spPr>
        </p:sp>
        <p:sp>
          <p:nvSpPr>
            <p:cNvPr name="TextBox 20" id="20"/>
            <p:cNvSpPr txBox="true"/>
            <p:nvPr/>
          </p:nvSpPr>
          <p:spPr>
            <a:xfrm>
              <a:off x="0" y="-9525"/>
              <a:ext cx="4663440" cy="101536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0.015713</a:t>
              </a:r>
            </a:p>
          </p:txBody>
        </p:sp>
      </p:grpSp>
      <p:grpSp>
        <p:nvGrpSpPr>
          <p:cNvPr name="Group 21" id="21"/>
          <p:cNvGrpSpPr/>
          <p:nvPr/>
        </p:nvGrpSpPr>
        <p:grpSpPr>
          <a:xfrm rot="0">
            <a:off x="5184648" y="3291840"/>
            <a:ext cx="3497580" cy="548640"/>
            <a:chOff x="0" y="0"/>
            <a:chExt cx="4663440" cy="731520"/>
          </a:xfrm>
        </p:grpSpPr>
        <p:sp>
          <p:nvSpPr>
            <p:cNvPr name="Freeform 22" id="22"/>
            <p:cNvSpPr/>
            <p:nvPr/>
          </p:nvSpPr>
          <p:spPr>
            <a:xfrm flipH="false" flipV="false" rot="0">
              <a:off x="0" y="0"/>
              <a:ext cx="4663440" cy="731520"/>
            </a:xfrm>
            <a:custGeom>
              <a:avLst/>
              <a:gdLst/>
              <a:ahLst/>
              <a:cxnLst/>
              <a:rect r="r" b="b" t="t" l="l"/>
              <a:pathLst>
                <a:path h="731520" w="4663440">
                  <a:moveTo>
                    <a:pt x="0" y="0"/>
                  </a:moveTo>
                  <a:lnTo>
                    <a:pt x="4663440" y="0"/>
                  </a:lnTo>
                  <a:lnTo>
                    <a:pt x="4663440" y="731520"/>
                  </a:lnTo>
                  <a:lnTo>
                    <a:pt x="0" y="731520"/>
                  </a:lnTo>
                  <a:close/>
                </a:path>
              </a:pathLst>
            </a:custGeom>
            <a:blipFill>
              <a:blip r:embed="rId3">
                <a:alphaModFix amt="0"/>
              </a:blip>
              <a:stretch>
                <a:fillRect l="0" t="-74217" r="0" b="-74217"/>
              </a:stretch>
            </a:blipFill>
          </p:spPr>
        </p:sp>
        <p:sp>
          <p:nvSpPr>
            <p:cNvPr name="TextBox 23" id="23"/>
            <p:cNvSpPr txBox="true"/>
            <p:nvPr/>
          </p:nvSpPr>
          <p:spPr>
            <a:xfrm>
              <a:off x="0" y="-47625"/>
              <a:ext cx="4663440" cy="779145"/>
            </a:xfrm>
            <a:prstGeom prst="rect">
              <a:avLst/>
            </a:prstGeom>
          </p:spPr>
          <p:txBody>
            <a:bodyPr anchor="ctr" rtlCol="false" tIns="0" lIns="0" bIns="0" rIns="0"/>
            <a:lstStyle/>
            <a:p>
              <a:pPr algn="l">
                <a:lnSpc>
                  <a:spcPts val="2520"/>
                </a:lnSpc>
              </a:pPr>
              <a:r>
                <a:rPr lang="en-US" sz="2100">
                  <a:solidFill>
                    <a:srgbClr val="FFEDE7"/>
                  </a:solidFill>
                  <a:latin typeface="Calibri (MS)"/>
                  <a:ea typeface="Calibri (MS)"/>
                  <a:cs typeface="Calibri (MS)"/>
                  <a:sym typeface="Calibri (MS)"/>
                </a:rPr>
                <a:t>Best fitness</a:t>
              </a:r>
            </a:p>
          </p:txBody>
        </p:sp>
      </p:grpSp>
      <p:grpSp>
        <p:nvGrpSpPr>
          <p:cNvPr name="Group 24" id="24"/>
          <p:cNvGrpSpPr/>
          <p:nvPr/>
        </p:nvGrpSpPr>
        <p:grpSpPr>
          <a:xfrm rot="0">
            <a:off x="9134856" y="2400300"/>
            <a:ext cx="3909060" cy="1577340"/>
            <a:chOff x="0" y="0"/>
            <a:chExt cx="5212080" cy="2103120"/>
          </a:xfrm>
        </p:grpSpPr>
        <p:sp>
          <p:nvSpPr>
            <p:cNvPr name="Freeform 25" id="25"/>
            <p:cNvSpPr/>
            <p:nvPr/>
          </p:nvSpPr>
          <p:spPr>
            <a:xfrm flipH="false" flipV="false" rot="0">
              <a:off x="0" y="0"/>
              <a:ext cx="5212080" cy="2103120"/>
            </a:xfrm>
            <a:custGeom>
              <a:avLst/>
              <a:gdLst/>
              <a:ahLst/>
              <a:cxnLst/>
              <a:rect r="r" b="b" t="t" l="l"/>
              <a:pathLst>
                <a:path h="2103120" w="5212080">
                  <a:moveTo>
                    <a:pt x="0" y="146304"/>
                  </a:moveTo>
                  <a:cubicBezTo>
                    <a:pt x="0" y="65532"/>
                    <a:pt x="65532" y="0"/>
                    <a:pt x="146304" y="0"/>
                  </a:cubicBezTo>
                  <a:lnTo>
                    <a:pt x="5065776" y="0"/>
                  </a:lnTo>
                  <a:cubicBezTo>
                    <a:pt x="5146548" y="0"/>
                    <a:pt x="5212080" y="65532"/>
                    <a:pt x="5212080" y="146304"/>
                  </a:cubicBezTo>
                  <a:lnTo>
                    <a:pt x="5212080" y="1956816"/>
                  </a:lnTo>
                  <a:cubicBezTo>
                    <a:pt x="5212080" y="2037588"/>
                    <a:pt x="5146548" y="2103120"/>
                    <a:pt x="5065776" y="2103120"/>
                  </a:cubicBezTo>
                  <a:lnTo>
                    <a:pt x="146304" y="2103120"/>
                  </a:lnTo>
                  <a:cubicBezTo>
                    <a:pt x="65532" y="2103120"/>
                    <a:pt x="0" y="2037588"/>
                    <a:pt x="0" y="1956816"/>
                  </a:cubicBezTo>
                  <a:close/>
                </a:path>
              </a:pathLst>
            </a:custGeom>
            <a:solidFill>
              <a:srgbClr val="0B2A4A"/>
            </a:solidFill>
          </p:spPr>
        </p:sp>
      </p:grpSp>
      <p:grpSp>
        <p:nvGrpSpPr>
          <p:cNvPr name="Group 26" id="26"/>
          <p:cNvGrpSpPr/>
          <p:nvPr/>
        </p:nvGrpSpPr>
        <p:grpSpPr>
          <a:xfrm rot="0">
            <a:off x="9340596" y="2510028"/>
            <a:ext cx="3497580" cy="754380"/>
            <a:chOff x="0" y="0"/>
            <a:chExt cx="4663440" cy="1005840"/>
          </a:xfrm>
        </p:grpSpPr>
        <p:sp>
          <p:nvSpPr>
            <p:cNvPr name="Freeform 27" id="27"/>
            <p:cNvSpPr/>
            <p:nvPr/>
          </p:nvSpPr>
          <p:spPr>
            <a:xfrm flipH="false" flipV="false" rot="0">
              <a:off x="0" y="0"/>
              <a:ext cx="4663440" cy="1005840"/>
            </a:xfrm>
            <a:custGeom>
              <a:avLst/>
              <a:gdLst/>
              <a:ahLst/>
              <a:cxnLst/>
              <a:rect r="r" b="b" t="t" l="l"/>
              <a:pathLst>
                <a:path h="1005840" w="4663440">
                  <a:moveTo>
                    <a:pt x="0" y="0"/>
                  </a:moveTo>
                  <a:lnTo>
                    <a:pt x="4663440" y="0"/>
                  </a:lnTo>
                  <a:lnTo>
                    <a:pt x="4663440" y="1005840"/>
                  </a:lnTo>
                  <a:lnTo>
                    <a:pt x="0" y="1005840"/>
                  </a:lnTo>
                  <a:close/>
                </a:path>
              </a:pathLst>
            </a:custGeom>
            <a:blipFill>
              <a:blip r:embed="rId3">
                <a:alphaModFix amt="0"/>
              </a:blip>
              <a:stretch>
                <a:fillRect l="0" t="-40339" r="0" b="-40339"/>
              </a:stretch>
            </a:blipFill>
          </p:spPr>
        </p:sp>
        <p:sp>
          <p:nvSpPr>
            <p:cNvPr name="TextBox 28" id="28"/>
            <p:cNvSpPr txBox="true"/>
            <p:nvPr/>
          </p:nvSpPr>
          <p:spPr>
            <a:xfrm>
              <a:off x="0" y="-9525"/>
              <a:ext cx="4663440" cy="101536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100</a:t>
              </a:r>
            </a:p>
          </p:txBody>
        </p:sp>
      </p:grpSp>
      <p:grpSp>
        <p:nvGrpSpPr>
          <p:cNvPr name="Group 29" id="29"/>
          <p:cNvGrpSpPr/>
          <p:nvPr/>
        </p:nvGrpSpPr>
        <p:grpSpPr>
          <a:xfrm rot="0">
            <a:off x="9340596" y="3291840"/>
            <a:ext cx="3497580" cy="548640"/>
            <a:chOff x="0" y="0"/>
            <a:chExt cx="4663440" cy="731520"/>
          </a:xfrm>
        </p:grpSpPr>
        <p:sp>
          <p:nvSpPr>
            <p:cNvPr name="Freeform 30" id="30"/>
            <p:cNvSpPr/>
            <p:nvPr/>
          </p:nvSpPr>
          <p:spPr>
            <a:xfrm flipH="false" flipV="false" rot="0">
              <a:off x="0" y="0"/>
              <a:ext cx="4663440" cy="731520"/>
            </a:xfrm>
            <a:custGeom>
              <a:avLst/>
              <a:gdLst/>
              <a:ahLst/>
              <a:cxnLst/>
              <a:rect r="r" b="b" t="t" l="l"/>
              <a:pathLst>
                <a:path h="731520" w="4663440">
                  <a:moveTo>
                    <a:pt x="0" y="0"/>
                  </a:moveTo>
                  <a:lnTo>
                    <a:pt x="4663440" y="0"/>
                  </a:lnTo>
                  <a:lnTo>
                    <a:pt x="4663440" y="731520"/>
                  </a:lnTo>
                  <a:lnTo>
                    <a:pt x="0" y="731520"/>
                  </a:lnTo>
                  <a:close/>
                </a:path>
              </a:pathLst>
            </a:custGeom>
            <a:blipFill>
              <a:blip r:embed="rId3">
                <a:alphaModFix amt="0"/>
              </a:blip>
              <a:stretch>
                <a:fillRect l="0" t="-74217" r="0" b="-74217"/>
              </a:stretch>
            </a:blipFill>
          </p:spPr>
        </p:sp>
        <p:sp>
          <p:nvSpPr>
            <p:cNvPr name="TextBox 31" id="31"/>
            <p:cNvSpPr txBox="true"/>
            <p:nvPr/>
          </p:nvSpPr>
          <p:spPr>
            <a:xfrm>
              <a:off x="0" y="-47625"/>
              <a:ext cx="4663440" cy="779145"/>
            </a:xfrm>
            <a:prstGeom prst="rect">
              <a:avLst/>
            </a:prstGeom>
          </p:spPr>
          <p:txBody>
            <a:bodyPr anchor="ctr" rtlCol="false" tIns="0" lIns="0" bIns="0" rIns="0"/>
            <a:lstStyle/>
            <a:p>
              <a:pPr algn="l">
                <a:lnSpc>
                  <a:spcPts val="2520"/>
                </a:lnSpc>
              </a:pPr>
              <a:r>
                <a:rPr lang="en-US" sz="2100">
                  <a:solidFill>
                    <a:srgbClr val="C7D6E2"/>
                  </a:solidFill>
                  <a:latin typeface="Calibri (MS)"/>
                  <a:ea typeface="Calibri (MS)"/>
                  <a:cs typeface="Calibri (MS)"/>
                  <a:sym typeface="Calibri (MS)"/>
                </a:rPr>
                <a:t>Generations run</a:t>
              </a:r>
            </a:p>
          </p:txBody>
        </p:sp>
      </p:grpSp>
      <p:grpSp>
        <p:nvGrpSpPr>
          <p:cNvPr name="Group 32" id="32"/>
          <p:cNvGrpSpPr/>
          <p:nvPr/>
        </p:nvGrpSpPr>
        <p:grpSpPr>
          <a:xfrm rot="0">
            <a:off x="13290804" y="2400300"/>
            <a:ext cx="3909060" cy="1577340"/>
            <a:chOff x="0" y="0"/>
            <a:chExt cx="5212080" cy="2103120"/>
          </a:xfrm>
        </p:grpSpPr>
        <p:sp>
          <p:nvSpPr>
            <p:cNvPr name="Freeform 33" id="33"/>
            <p:cNvSpPr/>
            <p:nvPr/>
          </p:nvSpPr>
          <p:spPr>
            <a:xfrm flipH="false" flipV="false" rot="0">
              <a:off x="0" y="0"/>
              <a:ext cx="5212080" cy="2103120"/>
            </a:xfrm>
            <a:custGeom>
              <a:avLst/>
              <a:gdLst/>
              <a:ahLst/>
              <a:cxnLst/>
              <a:rect r="r" b="b" t="t" l="l"/>
              <a:pathLst>
                <a:path h="2103120" w="5212080">
                  <a:moveTo>
                    <a:pt x="0" y="146304"/>
                  </a:moveTo>
                  <a:cubicBezTo>
                    <a:pt x="0" y="65532"/>
                    <a:pt x="65532" y="0"/>
                    <a:pt x="146304" y="0"/>
                  </a:cubicBezTo>
                  <a:lnTo>
                    <a:pt x="5065776" y="0"/>
                  </a:lnTo>
                  <a:cubicBezTo>
                    <a:pt x="5146548" y="0"/>
                    <a:pt x="5212080" y="65532"/>
                    <a:pt x="5212080" y="146304"/>
                  </a:cubicBezTo>
                  <a:lnTo>
                    <a:pt x="5212080" y="1956816"/>
                  </a:lnTo>
                  <a:cubicBezTo>
                    <a:pt x="5212080" y="2037588"/>
                    <a:pt x="5146548" y="2103120"/>
                    <a:pt x="5065776" y="2103120"/>
                  </a:cubicBezTo>
                  <a:lnTo>
                    <a:pt x="146304" y="2103120"/>
                  </a:lnTo>
                  <a:cubicBezTo>
                    <a:pt x="65532" y="2103120"/>
                    <a:pt x="0" y="2037588"/>
                    <a:pt x="0" y="1956816"/>
                  </a:cubicBezTo>
                  <a:close/>
                </a:path>
              </a:pathLst>
            </a:custGeom>
            <a:solidFill>
              <a:srgbClr val="0B2A4A"/>
            </a:solidFill>
          </p:spPr>
        </p:sp>
      </p:grpSp>
      <p:grpSp>
        <p:nvGrpSpPr>
          <p:cNvPr name="Group 34" id="34"/>
          <p:cNvGrpSpPr/>
          <p:nvPr/>
        </p:nvGrpSpPr>
        <p:grpSpPr>
          <a:xfrm rot="0">
            <a:off x="13496544" y="2510028"/>
            <a:ext cx="3497580" cy="754380"/>
            <a:chOff x="0" y="0"/>
            <a:chExt cx="4663440" cy="1005840"/>
          </a:xfrm>
        </p:grpSpPr>
        <p:sp>
          <p:nvSpPr>
            <p:cNvPr name="Freeform 35" id="35"/>
            <p:cNvSpPr/>
            <p:nvPr/>
          </p:nvSpPr>
          <p:spPr>
            <a:xfrm flipH="false" flipV="false" rot="0">
              <a:off x="0" y="0"/>
              <a:ext cx="4663440" cy="1005840"/>
            </a:xfrm>
            <a:custGeom>
              <a:avLst/>
              <a:gdLst/>
              <a:ahLst/>
              <a:cxnLst/>
              <a:rect r="r" b="b" t="t" l="l"/>
              <a:pathLst>
                <a:path h="1005840" w="4663440">
                  <a:moveTo>
                    <a:pt x="0" y="0"/>
                  </a:moveTo>
                  <a:lnTo>
                    <a:pt x="4663440" y="0"/>
                  </a:lnTo>
                  <a:lnTo>
                    <a:pt x="4663440" y="1005840"/>
                  </a:lnTo>
                  <a:lnTo>
                    <a:pt x="0" y="1005840"/>
                  </a:lnTo>
                  <a:close/>
                </a:path>
              </a:pathLst>
            </a:custGeom>
            <a:blipFill>
              <a:blip r:embed="rId3">
                <a:alphaModFix amt="0"/>
              </a:blip>
              <a:stretch>
                <a:fillRect l="0" t="-40339" r="0" b="-40339"/>
              </a:stretch>
            </a:blipFill>
          </p:spPr>
        </p:sp>
        <p:sp>
          <p:nvSpPr>
            <p:cNvPr name="TextBox 36" id="36"/>
            <p:cNvSpPr txBox="true"/>
            <p:nvPr/>
          </p:nvSpPr>
          <p:spPr>
            <a:xfrm>
              <a:off x="0" y="-9525"/>
              <a:ext cx="4663440" cy="101536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No</a:t>
              </a:r>
            </a:p>
          </p:txBody>
        </p:sp>
      </p:grpSp>
      <p:grpSp>
        <p:nvGrpSpPr>
          <p:cNvPr name="Group 37" id="37"/>
          <p:cNvGrpSpPr/>
          <p:nvPr/>
        </p:nvGrpSpPr>
        <p:grpSpPr>
          <a:xfrm rot="0">
            <a:off x="13496544" y="3291840"/>
            <a:ext cx="3497580" cy="548640"/>
            <a:chOff x="0" y="0"/>
            <a:chExt cx="4663440" cy="731520"/>
          </a:xfrm>
        </p:grpSpPr>
        <p:sp>
          <p:nvSpPr>
            <p:cNvPr name="Freeform 38" id="38"/>
            <p:cNvSpPr/>
            <p:nvPr/>
          </p:nvSpPr>
          <p:spPr>
            <a:xfrm flipH="false" flipV="false" rot="0">
              <a:off x="0" y="0"/>
              <a:ext cx="4663440" cy="731520"/>
            </a:xfrm>
            <a:custGeom>
              <a:avLst/>
              <a:gdLst/>
              <a:ahLst/>
              <a:cxnLst/>
              <a:rect r="r" b="b" t="t" l="l"/>
              <a:pathLst>
                <a:path h="731520" w="4663440">
                  <a:moveTo>
                    <a:pt x="0" y="0"/>
                  </a:moveTo>
                  <a:lnTo>
                    <a:pt x="4663440" y="0"/>
                  </a:lnTo>
                  <a:lnTo>
                    <a:pt x="4663440" y="731520"/>
                  </a:lnTo>
                  <a:lnTo>
                    <a:pt x="0" y="731520"/>
                  </a:lnTo>
                  <a:close/>
                </a:path>
              </a:pathLst>
            </a:custGeom>
            <a:blipFill>
              <a:blip r:embed="rId3">
                <a:alphaModFix amt="0"/>
              </a:blip>
              <a:stretch>
                <a:fillRect l="0" t="-74217" r="0" b="-74217"/>
              </a:stretch>
            </a:blipFill>
          </p:spPr>
        </p:sp>
        <p:sp>
          <p:nvSpPr>
            <p:cNvPr name="TextBox 39" id="39"/>
            <p:cNvSpPr txBox="true"/>
            <p:nvPr/>
          </p:nvSpPr>
          <p:spPr>
            <a:xfrm>
              <a:off x="0" y="-47625"/>
              <a:ext cx="4663440" cy="779145"/>
            </a:xfrm>
            <a:prstGeom prst="rect">
              <a:avLst/>
            </a:prstGeom>
          </p:spPr>
          <p:txBody>
            <a:bodyPr anchor="ctr" rtlCol="false" tIns="0" lIns="0" bIns="0" rIns="0"/>
            <a:lstStyle/>
            <a:p>
              <a:pPr algn="l">
                <a:lnSpc>
                  <a:spcPts val="2520"/>
                </a:lnSpc>
              </a:pPr>
              <a:r>
                <a:rPr lang="en-US" sz="2100">
                  <a:solidFill>
                    <a:srgbClr val="C7D6E2"/>
                  </a:solidFill>
                  <a:latin typeface="Calibri (MS)"/>
                  <a:ea typeface="Calibri (MS)"/>
                  <a:cs typeface="Calibri (MS)"/>
                  <a:sym typeface="Calibri (MS)"/>
                </a:rPr>
                <a:t>Converged (≤ 1e-6)</a:t>
              </a:r>
            </a:p>
          </p:txBody>
        </p:sp>
      </p:grpSp>
      <p:grpSp>
        <p:nvGrpSpPr>
          <p:cNvPr name="Group 40" id="40"/>
          <p:cNvGrpSpPr/>
          <p:nvPr/>
        </p:nvGrpSpPr>
        <p:grpSpPr>
          <a:xfrm rot="0">
            <a:off x="822960" y="4320540"/>
            <a:ext cx="8229600" cy="480060"/>
            <a:chOff x="0" y="0"/>
            <a:chExt cx="10972800" cy="640080"/>
          </a:xfrm>
        </p:grpSpPr>
        <p:sp>
          <p:nvSpPr>
            <p:cNvPr name="Freeform 41" id="41"/>
            <p:cNvSpPr/>
            <p:nvPr/>
          </p:nvSpPr>
          <p:spPr>
            <a:xfrm flipH="false" flipV="false" rot="0">
              <a:off x="0" y="0"/>
              <a:ext cx="10972800" cy="640080"/>
            </a:xfrm>
            <a:custGeom>
              <a:avLst/>
              <a:gdLst/>
              <a:ahLst/>
              <a:cxnLst/>
              <a:rect r="r" b="b" t="t" l="l"/>
              <a:pathLst>
                <a:path h="640080" w="10972800">
                  <a:moveTo>
                    <a:pt x="0" y="0"/>
                  </a:moveTo>
                  <a:lnTo>
                    <a:pt x="10972800" y="0"/>
                  </a:lnTo>
                  <a:lnTo>
                    <a:pt x="10972800" y="640080"/>
                  </a:lnTo>
                  <a:lnTo>
                    <a:pt x="0" y="640080"/>
                  </a:lnTo>
                  <a:close/>
                </a:path>
              </a:pathLst>
            </a:custGeom>
            <a:blipFill>
              <a:blip r:embed="rId3">
                <a:alphaModFix amt="0"/>
              </a:blip>
              <a:stretch>
                <a:fillRect l="0" t="-284029" r="0" b="-284029"/>
              </a:stretch>
            </a:blipFill>
          </p:spPr>
        </p:sp>
        <p:sp>
          <p:nvSpPr>
            <p:cNvPr name="TextBox 42" id="42"/>
            <p:cNvSpPr txBox="true"/>
            <p:nvPr/>
          </p:nvSpPr>
          <p:spPr>
            <a:xfrm>
              <a:off x="0" y="-19050"/>
              <a:ext cx="10972800" cy="659130"/>
            </a:xfrm>
            <a:prstGeom prst="rect">
              <a:avLst/>
            </a:prstGeom>
          </p:spPr>
          <p:txBody>
            <a:bodyPr anchor="ctr" rtlCol="false" tIns="0" lIns="0" bIns="0" rIns="0"/>
            <a:lstStyle/>
            <a:p>
              <a:pPr algn="l">
                <a:lnSpc>
                  <a:spcPts val="3240"/>
                </a:lnSpc>
              </a:pPr>
              <a:r>
                <a:rPr lang="en-US" sz="2700" b="true">
                  <a:solidFill>
                    <a:srgbClr val="0B2A4A"/>
                  </a:solidFill>
                  <a:latin typeface="Cambria Bold"/>
                  <a:ea typeface="Cambria Bold"/>
                  <a:cs typeface="Cambria Bold"/>
                  <a:sym typeface="Cambria Bold"/>
                </a:rPr>
                <a:t>Convergence over 100 generations</a:t>
              </a:r>
            </a:p>
          </p:txBody>
        </p:sp>
      </p:grpSp>
      <p:grpSp>
        <p:nvGrpSpPr>
          <p:cNvPr name="Group 43" id="43"/>
          <p:cNvGrpSpPr/>
          <p:nvPr/>
        </p:nvGrpSpPr>
        <p:grpSpPr>
          <a:xfrm rot="0">
            <a:off x="813435" y="4859655"/>
            <a:ext cx="8317230" cy="4613910"/>
            <a:chOff x="0" y="0"/>
            <a:chExt cx="11089640" cy="6151880"/>
          </a:xfrm>
        </p:grpSpPr>
        <p:sp>
          <p:nvSpPr>
            <p:cNvPr name="Freeform 44" id="44"/>
            <p:cNvSpPr/>
            <p:nvPr/>
          </p:nvSpPr>
          <p:spPr>
            <a:xfrm flipH="false" flipV="false" rot="0">
              <a:off x="0" y="0"/>
              <a:ext cx="11089640" cy="6151880"/>
            </a:xfrm>
            <a:custGeom>
              <a:avLst/>
              <a:gdLst/>
              <a:ahLst/>
              <a:cxnLst/>
              <a:rect r="r" b="b" t="t" l="l"/>
              <a:pathLst>
                <a:path h="6151880" w="11089640">
                  <a:moveTo>
                    <a:pt x="0" y="110236"/>
                  </a:moveTo>
                  <a:cubicBezTo>
                    <a:pt x="0" y="49276"/>
                    <a:pt x="49276" y="0"/>
                    <a:pt x="110236" y="0"/>
                  </a:cubicBezTo>
                  <a:lnTo>
                    <a:pt x="10979404" y="0"/>
                  </a:lnTo>
                  <a:cubicBezTo>
                    <a:pt x="11040237" y="0"/>
                    <a:pt x="11089640" y="49276"/>
                    <a:pt x="11089640" y="110236"/>
                  </a:cubicBezTo>
                  <a:lnTo>
                    <a:pt x="11089640" y="6041644"/>
                  </a:lnTo>
                  <a:cubicBezTo>
                    <a:pt x="11089640" y="6102477"/>
                    <a:pt x="11040364" y="6151880"/>
                    <a:pt x="10979404" y="6151880"/>
                  </a:cubicBezTo>
                  <a:lnTo>
                    <a:pt x="110236" y="6151880"/>
                  </a:lnTo>
                  <a:cubicBezTo>
                    <a:pt x="49403" y="6151880"/>
                    <a:pt x="0" y="6102604"/>
                    <a:pt x="0" y="6041644"/>
                  </a:cubicBezTo>
                  <a:close/>
                </a:path>
              </a:pathLst>
            </a:custGeom>
            <a:blipFill>
              <a:blip r:embed="rId4"/>
              <a:stretch>
                <a:fillRect l="0" t="-6332" r="0" b="-6332"/>
              </a:stretch>
            </a:blipFill>
            <a:ln w="19050" cap="sq">
              <a:solidFill>
                <a:srgbClr val="E3E9EE"/>
              </a:solidFill>
              <a:prstDash val="solid"/>
              <a:miter/>
            </a:ln>
          </p:spPr>
        </p:sp>
      </p:grpSp>
      <p:grpSp>
        <p:nvGrpSpPr>
          <p:cNvPr name="Group 45" id="45"/>
          <p:cNvGrpSpPr/>
          <p:nvPr/>
        </p:nvGrpSpPr>
        <p:grpSpPr>
          <a:xfrm rot="0">
            <a:off x="9532620" y="4320540"/>
            <a:ext cx="7955280" cy="480060"/>
            <a:chOff x="0" y="0"/>
            <a:chExt cx="10607040" cy="640080"/>
          </a:xfrm>
        </p:grpSpPr>
        <p:sp>
          <p:nvSpPr>
            <p:cNvPr name="Freeform 46" id="46"/>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3">
                <a:alphaModFix amt="0"/>
              </a:blip>
              <a:stretch>
                <a:fillRect l="0" t="-272894" r="0" b="-272894"/>
              </a:stretch>
            </a:blipFill>
          </p:spPr>
        </p:sp>
        <p:sp>
          <p:nvSpPr>
            <p:cNvPr name="TextBox 47" id="47"/>
            <p:cNvSpPr txBox="true"/>
            <p:nvPr/>
          </p:nvSpPr>
          <p:spPr>
            <a:xfrm>
              <a:off x="0" y="-19050"/>
              <a:ext cx="10607040" cy="659130"/>
            </a:xfrm>
            <a:prstGeom prst="rect">
              <a:avLst/>
            </a:prstGeom>
          </p:spPr>
          <p:txBody>
            <a:bodyPr anchor="ctr" rtlCol="false" tIns="0" lIns="0" bIns="0" rIns="0"/>
            <a:lstStyle/>
            <a:p>
              <a:pPr algn="l">
                <a:lnSpc>
                  <a:spcPts val="3240"/>
                </a:lnSpc>
              </a:pPr>
              <a:r>
                <a:rPr lang="en-US" sz="2700" b="true">
                  <a:solidFill>
                    <a:srgbClr val="0B2A4A"/>
                  </a:solidFill>
                  <a:latin typeface="Cambria Bold"/>
                  <a:ea typeface="Cambria Bold"/>
                  <a:cs typeface="Cambria Bold"/>
                  <a:sym typeface="Cambria Bold"/>
                </a:rPr>
                <a:t>Also produced by the run</a:t>
              </a:r>
            </a:p>
          </p:txBody>
        </p:sp>
      </p:grpSp>
      <p:grpSp>
        <p:nvGrpSpPr>
          <p:cNvPr name="Group 48" id="48"/>
          <p:cNvGrpSpPr/>
          <p:nvPr/>
        </p:nvGrpSpPr>
        <p:grpSpPr>
          <a:xfrm rot="0">
            <a:off x="9523095" y="4928235"/>
            <a:ext cx="7974330" cy="1390650"/>
            <a:chOff x="0" y="0"/>
            <a:chExt cx="10632440" cy="1854200"/>
          </a:xfrm>
        </p:grpSpPr>
        <p:sp>
          <p:nvSpPr>
            <p:cNvPr name="Freeform 49" id="49"/>
            <p:cNvSpPr/>
            <p:nvPr/>
          </p:nvSpPr>
          <p:spPr>
            <a:xfrm flipH="false" flipV="false" rot="0">
              <a:off x="0" y="0"/>
              <a:ext cx="10632439" cy="1854200"/>
            </a:xfrm>
            <a:custGeom>
              <a:avLst/>
              <a:gdLst/>
              <a:ahLst/>
              <a:cxnLst/>
              <a:rect r="r" b="b" t="t" l="l"/>
              <a:pathLst>
                <a:path h="1854200" w="10632439">
                  <a:moveTo>
                    <a:pt x="0" y="129794"/>
                  </a:moveTo>
                  <a:cubicBezTo>
                    <a:pt x="0" y="58166"/>
                    <a:pt x="58166" y="0"/>
                    <a:pt x="129794" y="0"/>
                  </a:cubicBezTo>
                  <a:lnTo>
                    <a:pt x="10502646" y="0"/>
                  </a:lnTo>
                  <a:cubicBezTo>
                    <a:pt x="10574274" y="0"/>
                    <a:pt x="10632439" y="58166"/>
                    <a:pt x="10632439" y="129794"/>
                  </a:cubicBezTo>
                  <a:lnTo>
                    <a:pt x="10632439" y="1724406"/>
                  </a:lnTo>
                  <a:cubicBezTo>
                    <a:pt x="10632439" y="1796034"/>
                    <a:pt x="10574274" y="1854200"/>
                    <a:pt x="10502646" y="1854200"/>
                  </a:cubicBezTo>
                  <a:lnTo>
                    <a:pt x="129794" y="1854200"/>
                  </a:lnTo>
                  <a:cubicBezTo>
                    <a:pt x="58166" y="1854200"/>
                    <a:pt x="0" y="1796034"/>
                    <a:pt x="0" y="1724406"/>
                  </a:cubicBezTo>
                  <a:close/>
                </a:path>
              </a:pathLst>
            </a:custGeom>
            <a:solidFill>
              <a:srgbClr val="FFFFFF"/>
            </a:solidFill>
            <a:ln w="19050" cap="sq">
              <a:solidFill>
                <a:srgbClr val="E3E9EE"/>
              </a:solidFill>
              <a:prstDash val="solid"/>
              <a:miter/>
            </a:ln>
          </p:spPr>
        </p:sp>
      </p:grpSp>
      <p:grpSp>
        <p:nvGrpSpPr>
          <p:cNvPr name="Group 50" id="50"/>
          <p:cNvGrpSpPr/>
          <p:nvPr/>
        </p:nvGrpSpPr>
        <p:grpSpPr>
          <a:xfrm rot="0">
            <a:off x="9806940" y="5047488"/>
            <a:ext cx="7406640" cy="480060"/>
            <a:chOff x="0" y="0"/>
            <a:chExt cx="9875520" cy="640080"/>
          </a:xfrm>
        </p:grpSpPr>
        <p:sp>
          <p:nvSpPr>
            <p:cNvPr name="Freeform 51" id="51"/>
            <p:cNvSpPr/>
            <p:nvPr/>
          </p:nvSpPr>
          <p:spPr>
            <a:xfrm flipH="false" flipV="false" rot="0">
              <a:off x="0" y="0"/>
              <a:ext cx="9875520" cy="640080"/>
            </a:xfrm>
            <a:custGeom>
              <a:avLst/>
              <a:gdLst/>
              <a:ahLst/>
              <a:cxnLst/>
              <a:rect r="r" b="b" t="t" l="l"/>
              <a:pathLst>
                <a:path h="640080" w="9875520">
                  <a:moveTo>
                    <a:pt x="0" y="0"/>
                  </a:moveTo>
                  <a:lnTo>
                    <a:pt x="9875520" y="0"/>
                  </a:lnTo>
                  <a:lnTo>
                    <a:pt x="9875520" y="640080"/>
                  </a:lnTo>
                  <a:lnTo>
                    <a:pt x="0" y="640080"/>
                  </a:lnTo>
                  <a:close/>
                </a:path>
              </a:pathLst>
            </a:custGeom>
            <a:blipFill>
              <a:blip r:embed="rId3">
                <a:alphaModFix amt="0"/>
              </a:blip>
              <a:stretch>
                <a:fillRect l="0" t="-250626" r="0" b="-250626"/>
              </a:stretch>
            </a:blipFill>
          </p:spPr>
        </p:sp>
        <p:sp>
          <p:nvSpPr>
            <p:cNvPr name="TextBox 52" id="52"/>
            <p:cNvSpPr txBox="true"/>
            <p:nvPr/>
          </p:nvSpPr>
          <p:spPr>
            <a:xfrm>
              <a:off x="0" y="-47625"/>
              <a:ext cx="9875520" cy="687705"/>
            </a:xfrm>
            <a:prstGeom prst="rect">
              <a:avLst/>
            </a:prstGeom>
          </p:spPr>
          <p:txBody>
            <a:bodyPr anchor="ctr" rtlCol="false" tIns="0" lIns="0" bIns="0" rIns="0"/>
            <a:lstStyle/>
            <a:p>
              <a:pPr algn="l">
                <a:lnSpc>
                  <a:spcPts val="2879"/>
                </a:lnSpc>
              </a:pPr>
              <a:r>
                <a:rPr lang="en-US" sz="2400" b="true">
                  <a:solidFill>
                    <a:srgbClr val="1C7293"/>
                  </a:solidFill>
                  <a:latin typeface="Consolas Bold"/>
                  <a:ea typeface="Consolas Bold"/>
                  <a:cs typeface="Consolas Bold"/>
                  <a:sym typeface="Consolas Bold"/>
                </a:rPr>
                <a:t>convergence_curve.png</a:t>
              </a:r>
            </a:p>
          </p:txBody>
        </p:sp>
      </p:grpSp>
      <p:grpSp>
        <p:nvGrpSpPr>
          <p:cNvPr name="Group 53" id="53"/>
          <p:cNvGrpSpPr/>
          <p:nvPr/>
        </p:nvGrpSpPr>
        <p:grpSpPr>
          <a:xfrm rot="0">
            <a:off x="9806940" y="5513832"/>
            <a:ext cx="7406640" cy="685800"/>
            <a:chOff x="0" y="0"/>
            <a:chExt cx="9875520" cy="914400"/>
          </a:xfrm>
        </p:grpSpPr>
        <p:sp>
          <p:nvSpPr>
            <p:cNvPr name="Freeform 54" id="54"/>
            <p:cNvSpPr/>
            <p:nvPr/>
          </p:nvSpPr>
          <p:spPr>
            <a:xfrm flipH="false" flipV="false" rot="0">
              <a:off x="0" y="0"/>
              <a:ext cx="9875520" cy="914400"/>
            </a:xfrm>
            <a:custGeom>
              <a:avLst/>
              <a:gdLst/>
              <a:ahLst/>
              <a:cxnLst/>
              <a:rect r="r" b="b" t="t" l="l"/>
              <a:pathLst>
                <a:path h="914400" w="9875520">
                  <a:moveTo>
                    <a:pt x="0" y="0"/>
                  </a:moveTo>
                  <a:lnTo>
                    <a:pt x="9875520" y="0"/>
                  </a:lnTo>
                  <a:lnTo>
                    <a:pt x="9875520" y="914400"/>
                  </a:lnTo>
                  <a:lnTo>
                    <a:pt x="0" y="914400"/>
                  </a:lnTo>
                  <a:close/>
                </a:path>
              </a:pathLst>
            </a:custGeom>
            <a:blipFill>
              <a:blip r:embed="rId3">
                <a:alphaModFix amt="0"/>
              </a:blip>
              <a:stretch>
                <a:fillRect l="0" t="-160438" r="0" b="-160438"/>
              </a:stretch>
            </a:blipFill>
          </p:spPr>
        </p:sp>
        <p:sp>
          <p:nvSpPr>
            <p:cNvPr name="TextBox 55" id="55"/>
            <p:cNvSpPr txBox="true"/>
            <p:nvPr/>
          </p:nvSpPr>
          <p:spPr>
            <a:xfrm>
              <a:off x="0" y="-76200"/>
              <a:ext cx="9875520" cy="990600"/>
            </a:xfrm>
            <a:prstGeom prst="rect">
              <a:avLst/>
            </a:prstGeom>
          </p:spPr>
          <p:txBody>
            <a:bodyPr anchor="ctr" rtlCol="false" tIns="0" lIns="0" bIns="0" rIns="0"/>
            <a:lstStyle/>
            <a:p>
              <a:pPr algn="l">
                <a:lnSpc>
                  <a:spcPts val="2897"/>
                </a:lnSpc>
              </a:pPr>
              <a:r>
                <a:rPr lang="en-US" sz="2100">
                  <a:solidFill>
                    <a:srgbClr val="5B6472"/>
                  </a:solidFill>
                  <a:latin typeface="Calibri (MS)"/>
                  <a:ea typeface="Calibri (MS)"/>
                  <a:cs typeface="Calibri (MS)"/>
                  <a:sym typeface="Calibri (MS)"/>
                </a:rPr>
                <a:t>Best-so-far &amp; mean fitness vs. generation, with a zero reference line.</a:t>
              </a:r>
            </a:p>
          </p:txBody>
        </p:sp>
      </p:grpSp>
      <p:grpSp>
        <p:nvGrpSpPr>
          <p:cNvPr name="Group 56" id="56"/>
          <p:cNvGrpSpPr/>
          <p:nvPr/>
        </p:nvGrpSpPr>
        <p:grpSpPr>
          <a:xfrm rot="0">
            <a:off x="9523095" y="6505575"/>
            <a:ext cx="7974330" cy="1390650"/>
            <a:chOff x="0" y="0"/>
            <a:chExt cx="10632440" cy="1854200"/>
          </a:xfrm>
        </p:grpSpPr>
        <p:sp>
          <p:nvSpPr>
            <p:cNvPr name="Freeform 57" id="57"/>
            <p:cNvSpPr/>
            <p:nvPr/>
          </p:nvSpPr>
          <p:spPr>
            <a:xfrm flipH="false" flipV="false" rot="0">
              <a:off x="0" y="0"/>
              <a:ext cx="10632439" cy="1854200"/>
            </a:xfrm>
            <a:custGeom>
              <a:avLst/>
              <a:gdLst/>
              <a:ahLst/>
              <a:cxnLst/>
              <a:rect r="r" b="b" t="t" l="l"/>
              <a:pathLst>
                <a:path h="1854200" w="10632439">
                  <a:moveTo>
                    <a:pt x="0" y="129794"/>
                  </a:moveTo>
                  <a:cubicBezTo>
                    <a:pt x="0" y="58166"/>
                    <a:pt x="58166" y="0"/>
                    <a:pt x="129794" y="0"/>
                  </a:cubicBezTo>
                  <a:lnTo>
                    <a:pt x="10502646" y="0"/>
                  </a:lnTo>
                  <a:cubicBezTo>
                    <a:pt x="10574274" y="0"/>
                    <a:pt x="10632439" y="58166"/>
                    <a:pt x="10632439" y="129794"/>
                  </a:cubicBezTo>
                  <a:lnTo>
                    <a:pt x="10632439" y="1724406"/>
                  </a:lnTo>
                  <a:cubicBezTo>
                    <a:pt x="10632439" y="1796034"/>
                    <a:pt x="10574274" y="1854200"/>
                    <a:pt x="10502646" y="1854200"/>
                  </a:cubicBezTo>
                  <a:lnTo>
                    <a:pt x="129794" y="1854200"/>
                  </a:lnTo>
                  <a:cubicBezTo>
                    <a:pt x="58166" y="1854200"/>
                    <a:pt x="0" y="1796034"/>
                    <a:pt x="0" y="1724406"/>
                  </a:cubicBezTo>
                  <a:close/>
                </a:path>
              </a:pathLst>
            </a:custGeom>
            <a:solidFill>
              <a:srgbClr val="FFFFFF"/>
            </a:solidFill>
            <a:ln w="19050" cap="sq">
              <a:solidFill>
                <a:srgbClr val="E3E9EE"/>
              </a:solidFill>
              <a:prstDash val="solid"/>
              <a:miter/>
            </a:ln>
          </p:spPr>
        </p:sp>
      </p:grpSp>
      <p:grpSp>
        <p:nvGrpSpPr>
          <p:cNvPr name="Group 58" id="58"/>
          <p:cNvGrpSpPr/>
          <p:nvPr/>
        </p:nvGrpSpPr>
        <p:grpSpPr>
          <a:xfrm rot="0">
            <a:off x="9806940" y="6624828"/>
            <a:ext cx="7406640" cy="480060"/>
            <a:chOff x="0" y="0"/>
            <a:chExt cx="9875520" cy="640080"/>
          </a:xfrm>
        </p:grpSpPr>
        <p:sp>
          <p:nvSpPr>
            <p:cNvPr name="Freeform 59" id="59"/>
            <p:cNvSpPr/>
            <p:nvPr/>
          </p:nvSpPr>
          <p:spPr>
            <a:xfrm flipH="false" flipV="false" rot="0">
              <a:off x="0" y="0"/>
              <a:ext cx="9875520" cy="640080"/>
            </a:xfrm>
            <a:custGeom>
              <a:avLst/>
              <a:gdLst/>
              <a:ahLst/>
              <a:cxnLst/>
              <a:rect r="r" b="b" t="t" l="l"/>
              <a:pathLst>
                <a:path h="640080" w="9875520">
                  <a:moveTo>
                    <a:pt x="0" y="0"/>
                  </a:moveTo>
                  <a:lnTo>
                    <a:pt x="9875520" y="0"/>
                  </a:lnTo>
                  <a:lnTo>
                    <a:pt x="9875520" y="640080"/>
                  </a:lnTo>
                  <a:lnTo>
                    <a:pt x="0" y="640080"/>
                  </a:lnTo>
                  <a:close/>
                </a:path>
              </a:pathLst>
            </a:custGeom>
            <a:blipFill>
              <a:blip r:embed="rId3">
                <a:alphaModFix amt="0"/>
              </a:blip>
              <a:stretch>
                <a:fillRect l="0" t="-250626" r="0" b="-250626"/>
              </a:stretch>
            </a:blipFill>
          </p:spPr>
        </p:sp>
        <p:sp>
          <p:nvSpPr>
            <p:cNvPr name="TextBox 60" id="60"/>
            <p:cNvSpPr txBox="true"/>
            <p:nvPr/>
          </p:nvSpPr>
          <p:spPr>
            <a:xfrm>
              <a:off x="0" y="-47625"/>
              <a:ext cx="9875520" cy="687705"/>
            </a:xfrm>
            <a:prstGeom prst="rect">
              <a:avLst/>
            </a:prstGeom>
          </p:spPr>
          <p:txBody>
            <a:bodyPr anchor="ctr" rtlCol="false" tIns="0" lIns="0" bIns="0" rIns="0"/>
            <a:lstStyle/>
            <a:p>
              <a:pPr algn="l">
                <a:lnSpc>
                  <a:spcPts val="2879"/>
                </a:lnSpc>
              </a:pPr>
              <a:r>
                <a:rPr lang="en-US" sz="2400" b="true">
                  <a:solidFill>
                    <a:srgbClr val="1C7293"/>
                  </a:solidFill>
                  <a:latin typeface="Consolas Bold"/>
                  <a:ea typeface="Consolas Bold"/>
                  <a:cs typeface="Consolas Bold"/>
                  <a:sym typeface="Consolas Bold"/>
                </a:rPr>
                <a:t>ackley_surface_solution.png</a:t>
              </a:r>
            </a:p>
          </p:txBody>
        </p:sp>
      </p:grpSp>
      <p:grpSp>
        <p:nvGrpSpPr>
          <p:cNvPr name="Group 61" id="61"/>
          <p:cNvGrpSpPr/>
          <p:nvPr/>
        </p:nvGrpSpPr>
        <p:grpSpPr>
          <a:xfrm rot="0">
            <a:off x="9806940" y="7091172"/>
            <a:ext cx="7406640" cy="685800"/>
            <a:chOff x="0" y="0"/>
            <a:chExt cx="9875520" cy="914400"/>
          </a:xfrm>
        </p:grpSpPr>
        <p:sp>
          <p:nvSpPr>
            <p:cNvPr name="Freeform 62" id="62"/>
            <p:cNvSpPr/>
            <p:nvPr/>
          </p:nvSpPr>
          <p:spPr>
            <a:xfrm flipH="false" flipV="false" rot="0">
              <a:off x="0" y="0"/>
              <a:ext cx="9875520" cy="914400"/>
            </a:xfrm>
            <a:custGeom>
              <a:avLst/>
              <a:gdLst/>
              <a:ahLst/>
              <a:cxnLst/>
              <a:rect r="r" b="b" t="t" l="l"/>
              <a:pathLst>
                <a:path h="914400" w="9875520">
                  <a:moveTo>
                    <a:pt x="0" y="0"/>
                  </a:moveTo>
                  <a:lnTo>
                    <a:pt x="9875520" y="0"/>
                  </a:lnTo>
                  <a:lnTo>
                    <a:pt x="9875520" y="914400"/>
                  </a:lnTo>
                  <a:lnTo>
                    <a:pt x="0" y="914400"/>
                  </a:lnTo>
                  <a:close/>
                </a:path>
              </a:pathLst>
            </a:custGeom>
            <a:blipFill>
              <a:blip r:embed="rId3">
                <a:alphaModFix amt="0"/>
              </a:blip>
              <a:stretch>
                <a:fillRect l="0" t="-160438" r="0" b="-160438"/>
              </a:stretch>
            </a:blipFill>
          </p:spPr>
        </p:sp>
        <p:sp>
          <p:nvSpPr>
            <p:cNvPr name="TextBox 63" id="63"/>
            <p:cNvSpPr txBox="true"/>
            <p:nvPr/>
          </p:nvSpPr>
          <p:spPr>
            <a:xfrm>
              <a:off x="0" y="-76200"/>
              <a:ext cx="9875520" cy="990600"/>
            </a:xfrm>
            <a:prstGeom prst="rect">
              <a:avLst/>
            </a:prstGeom>
          </p:spPr>
          <p:txBody>
            <a:bodyPr anchor="ctr" rtlCol="false" tIns="0" lIns="0" bIns="0" rIns="0"/>
            <a:lstStyle/>
            <a:p>
              <a:pPr algn="l">
                <a:lnSpc>
                  <a:spcPts val="2897"/>
                </a:lnSpc>
              </a:pPr>
              <a:r>
                <a:rPr lang="en-US" sz="2100">
                  <a:solidFill>
                    <a:srgbClr val="5B6472"/>
                  </a:solidFill>
                  <a:latin typeface="Calibri (MS)"/>
                  <a:ea typeface="Calibri (MS)"/>
                  <a:cs typeface="Calibri (MS)"/>
                  <a:sym typeface="Calibri (MS)"/>
                </a:rPr>
                <a:t>Filled contour of the landscape with the true minimum and GA solution marked.</a:t>
              </a:r>
            </a:p>
          </p:txBody>
        </p:sp>
      </p:grpSp>
      <p:grpSp>
        <p:nvGrpSpPr>
          <p:cNvPr name="Group 64" id="64"/>
          <p:cNvGrpSpPr/>
          <p:nvPr/>
        </p:nvGrpSpPr>
        <p:grpSpPr>
          <a:xfrm rot="0">
            <a:off x="9523095" y="8082915"/>
            <a:ext cx="7974330" cy="1390650"/>
            <a:chOff x="0" y="0"/>
            <a:chExt cx="10632440" cy="1854200"/>
          </a:xfrm>
        </p:grpSpPr>
        <p:sp>
          <p:nvSpPr>
            <p:cNvPr name="Freeform 65" id="65"/>
            <p:cNvSpPr/>
            <p:nvPr/>
          </p:nvSpPr>
          <p:spPr>
            <a:xfrm flipH="false" flipV="false" rot="0">
              <a:off x="0" y="0"/>
              <a:ext cx="10632439" cy="1854200"/>
            </a:xfrm>
            <a:custGeom>
              <a:avLst/>
              <a:gdLst/>
              <a:ahLst/>
              <a:cxnLst/>
              <a:rect r="r" b="b" t="t" l="l"/>
              <a:pathLst>
                <a:path h="1854200" w="10632439">
                  <a:moveTo>
                    <a:pt x="0" y="129794"/>
                  </a:moveTo>
                  <a:cubicBezTo>
                    <a:pt x="0" y="58166"/>
                    <a:pt x="58166" y="0"/>
                    <a:pt x="129794" y="0"/>
                  </a:cubicBezTo>
                  <a:lnTo>
                    <a:pt x="10502646" y="0"/>
                  </a:lnTo>
                  <a:cubicBezTo>
                    <a:pt x="10574274" y="0"/>
                    <a:pt x="10632439" y="58166"/>
                    <a:pt x="10632439" y="129794"/>
                  </a:cubicBezTo>
                  <a:lnTo>
                    <a:pt x="10632439" y="1724406"/>
                  </a:lnTo>
                  <a:cubicBezTo>
                    <a:pt x="10632439" y="1796034"/>
                    <a:pt x="10574274" y="1854200"/>
                    <a:pt x="10502646" y="1854200"/>
                  </a:cubicBezTo>
                  <a:lnTo>
                    <a:pt x="129794" y="1854200"/>
                  </a:lnTo>
                  <a:cubicBezTo>
                    <a:pt x="58166" y="1854200"/>
                    <a:pt x="0" y="1796034"/>
                    <a:pt x="0" y="1724406"/>
                  </a:cubicBezTo>
                  <a:close/>
                </a:path>
              </a:pathLst>
            </a:custGeom>
            <a:solidFill>
              <a:srgbClr val="FFFFFF"/>
            </a:solidFill>
            <a:ln w="19050" cap="sq">
              <a:solidFill>
                <a:srgbClr val="E3E9EE"/>
              </a:solidFill>
              <a:prstDash val="solid"/>
              <a:miter/>
            </a:ln>
          </p:spPr>
        </p:sp>
      </p:grpSp>
      <p:grpSp>
        <p:nvGrpSpPr>
          <p:cNvPr name="Group 66" id="66"/>
          <p:cNvGrpSpPr/>
          <p:nvPr/>
        </p:nvGrpSpPr>
        <p:grpSpPr>
          <a:xfrm rot="0">
            <a:off x="9806940" y="8202168"/>
            <a:ext cx="7406640" cy="480060"/>
            <a:chOff x="0" y="0"/>
            <a:chExt cx="9875520" cy="640080"/>
          </a:xfrm>
        </p:grpSpPr>
        <p:sp>
          <p:nvSpPr>
            <p:cNvPr name="Freeform 67" id="67"/>
            <p:cNvSpPr/>
            <p:nvPr/>
          </p:nvSpPr>
          <p:spPr>
            <a:xfrm flipH="false" flipV="false" rot="0">
              <a:off x="0" y="0"/>
              <a:ext cx="9875520" cy="640080"/>
            </a:xfrm>
            <a:custGeom>
              <a:avLst/>
              <a:gdLst/>
              <a:ahLst/>
              <a:cxnLst/>
              <a:rect r="r" b="b" t="t" l="l"/>
              <a:pathLst>
                <a:path h="640080" w="9875520">
                  <a:moveTo>
                    <a:pt x="0" y="0"/>
                  </a:moveTo>
                  <a:lnTo>
                    <a:pt x="9875520" y="0"/>
                  </a:lnTo>
                  <a:lnTo>
                    <a:pt x="9875520" y="640080"/>
                  </a:lnTo>
                  <a:lnTo>
                    <a:pt x="0" y="640080"/>
                  </a:lnTo>
                  <a:close/>
                </a:path>
              </a:pathLst>
            </a:custGeom>
            <a:blipFill>
              <a:blip r:embed="rId3">
                <a:alphaModFix amt="0"/>
              </a:blip>
              <a:stretch>
                <a:fillRect l="0" t="-250626" r="0" b="-250626"/>
              </a:stretch>
            </a:blipFill>
          </p:spPr>
        </p:sp>
        <p:sp>
          <p:nvSpPr>
            <p:cNvPr name="TextBox 68" id="68"/>
            <p:cNvSpPr txBox="true"/>
            <p:nvPr/>
          </p:nvSpPr>
          <p:spPr>
            <a:xfrm>
              <a:off x="0" y="-47625"/>
              <a:ext cx="9875520" cy="687705"/>
            </a:xfrm>
            <a:prstGeom prst="rect">
              <a:avLst/>
            </a:prstGeom>
          </p:spPr>
          <p:txBody>
            <a:bodyPr anchor="ctr" rtlCol="false" tIns="0" lIns="0" bIns="0" rIns="0"/>
            <a:lstStyle/>
            <a:p>
              <a:pPr algn="l">
                <a:lnSpc>
                  <a:spcPts val="2879"/>
                </a:lnSpc>
              </a:pPr>
              <a:r>
                <a:rPr lang="en-US" sz="2400" b="true">
                  <a:solidFill>
                    <a:srgbClr val="1C7293"/>
                  </a:solidFill>
                  <a:latin typeface="Consolas Bold"/>
                  <a:ea typeface="Consolas Bold"/>
                  <a:cs typeface="Consolas Bold"/>
                  <a:sym typeface="Consolas Bold"/>
                </a:rPr>
                <a:t>run_summary.json</a:t>
              </a:r>
            </a:p>
          </p:txBody>
        </p:sp>
      </p:grpSp>
      <p:grpSp>
        <p:nvGrpSpPr>
          <p:cNvPr name="Group 69" id="69"/>
          <p:cNvGrpSpPr/>
          <p:nvPr/>
        </p:nvGrpSpPr>
        <p:grpSpPr>
          <a:xfrm rot="0">
            <a:off x="9806940" y="8668512"/>
            <a:ext cx="7406640" cy="685800"/>
            <a:chOff x="0" y="0"/>
            <a:chExt cx="9875520" cy="914400"/>
          </a:xfrm>
        </p:grpSpPr>
        <p:sp>
          <p:nvSpPr>
            <p:cNvPr name="Freeform 70" id="70"/>
            <p:cNvSpPr/>
            <p:nvPr/>
          </p:nvSpPr>
          <p:spPr>
            <a:xfrm flipH="false" flipV="false" rot="0">
              <a:off x="0" y="0"/>
              <a:ext cx="9875520" cy="914400"/>
            </a:xfrm>
            <a:custGeom>
              <a:avLst/>
              <a:gdLst/>
              <a:ahLst/>
              <a:cxnLst/>
              <a:rect r="r" b="b" t="t" l="l"/>
              <a:pathLst>
                <a:path h="914400" w="9875520">
                  <a:moveTo>
                    <a:pt x="0" y="0"/>
                  </a:moveTo>
                  <a:lnTo>
                    <a:pt x="9875520" y="0"/>
                  </a:lnTo>
                  <a:lnTo>
                    <a:pt x="9875520" y="914400"/>
                  </a:lnTo>
                  <a:lnTo>
                    <a:pt x="0" y="914400"/>
                  </a:lnTo>
                  <a:close/>
                </a:path>
              </a:pathLst>
            </a:custGeom>
            <a:blipFill>
              <a:blip r:embed="rId3">
                <a:alphaModFix amt="0"/>
              </a:blip>
              <a:stretch>
                <a:fillRect l="0" t="-160438" r="0" b="-160438"/>
              </a:stretch>
            </a:blipFill>
          </p:spPr>
        </p:sp>
        <p:sp>
          <p:nvSpPr>
            <p:cNvPr name="TextBox 71" id="71"/>
            <p:cNvSpPr txBox="true"/>
            <p:nvPr/>
          </p:nvSpPr>
          <p:spPr>
            <a:xfrm>
              <a:off x="0" y="-76200"/>
              <a:ext cx="9875520" cy="990600"/>
            </a:xfrm>
            <a:prstGeom prst="rect">
              <a:avLst/>
            </a:prstGeom>
          </p:spPr>
          <p:txBody>
            <a:bodyPr anchor="ctr" rtlCol="false" tIns="0" lIns="0" bIns="0" rIns="0"/>
            <a:lstStyle/>
            <a:p>
              <a:pPr algn="l">
                <a:lnSpc>
                  <a:spcPts val="2897"/>
                </a:lnSpc>
              </a:pPr>
              <a:r>
                <a:rPr lang="en-US" sz="2100">
                  <a:solidFill>
                    <a:srgbClr val="5B6472"/>
                  </a:solidFill>
                  <a:latin typeface="Calibri (MS)"/>
                  <a:ea typeface="Calibri (MS)"/>
                  <a:cs typeface="Calibri (MS)"/>
                  <a:sym typeface="Calibri (MS)"/>
                </a:rPr>
                <a:t>Machine-readable record of settings, GA result, classical comparison, and reduced-generation runs.</a:t>
              </a:r>
            </a:p>
          </p:txBody>
        </p:sp>
      </p:grpSp>
      <p:grpSp>
        <p:nvGrpSpPr>
          <p:cNvPr name="Group 72" id="72"/>
          <p:cNvGrpSpPr/>
          <p:nvPr/>
        </p:nvGrpSpPr>
        <p:grpSpPr>
          <a:xfrm rot="0">
            <a:off x="16774668" y="9669780"/>
            <a:ext cx="1097280" cy="411480"/>
            <a:chOff x="0" y="0"/>
            <a:chExt cx="1463040" cy="548640"/>
          </a:xfrm>
        </p:grpSpPr>
        <p:sp>
          <p:nvSpPr>
            <p:cNvPr name="Freeform 73" id="73"/>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74" id="74"/>
            <p:cNvSpPr txBox="true"/>
            <p:nvPr/>
          </p:nvSpPr>
          <p:spPr>
            <a:xfrm>
              <a:off x="0" y="-38100"/>
              <a:ext cx="1463040" cy="586740"/>
            </a:xfrm>
            <a:prstGeom prst="rect">
              <a:avLst/>
            </a:prstGeom>
          </p:spPr>
          <p:txBody>
            <a:bodyPr anchor="ctr" rtlCol="false" tIns="0" lIns="0" bIns="0" rIns="0"/>
            <a:lstStyle/>
            <a:p>
              <a:pPr algn="r">
                <a:lnSpc>
                  <a:spcPts val="1800"/>
                </a:lnSpc>
              </a:pPr>
              <a:r>
                <a:rPr lang="en-US" sz="1500">
                  <a:solidFill>
                    <a:srgbClr val="5B6472"/>
                  </a:solidFill>
                  <a:latin typeface="Calibri (MS)"/>
                  <a:ea typeface="Calibri (MS)"/>
                  <a:cs typeface="Calibri (MS)"/>
                  <a:sym typeface="Calibri (MS)"/>
                </a:rPr>
                <a:t>10 / 13</a:t>
              </a:r>
            </a:p>
          </p:txBody>
        </p:sp>
      </p:grpSp>
      <p:grpSp>
        <p:nvGrpSpPr>
          <p:cNvPr name="Group 75" id="75"/>
          <p:cNvGrpSpPr/>
          <p:nvPr/>
        </p:nvGrpSpPr>
        <p:grpSpPr>
          <a:xfrm rot="0">
            <a:off x="685800" y="9669780"/>
            <a:ext cx="5486400" cy="411480"/>
            <a:chOff x="0" y="0"/>
            <a:chExt cx="7315200" cy="548640"/>
          </a:xfrm>
        </p:grpSpPr>
        <p:sp>
          <p:nvSpPr>
            <p:cNvPr name="Freeform 76" id="76"/>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77" id="77"/>
            <p:cNvSpPr txBox="true"/>
            <p:nvPr/>
          </p:nvSpPr>
          <p:spPr>
            <a:xfrm>
              <a:off x="0" y="-38100"/>
              <a:ext cx="7315200" cy="586740"/>
            </a:xfrm>
            <a:prstGeom prst="rect">
              <a:avLst/>
            </a:prstGeom>
          </p:spPr>
          <p:txBody>
            <a:bodyPr anchor="ctr" rtlCol="false" tIns="0" lIns="0" bIns="0" rIns="0"/>
            <a:lstStyle/>
            <a:p>
              <a:pPr algn="l">
                <a:lnSpc>
                  <a:spcPts val="1800"/>
                </a:lnSpc>
              </a:pPr>
              <a:r>
                <a:rPr lang="en-US" sz="1500">
                  <a:solidFill>
                    <a:srgbClr val="5B6472"/>
                  </a:solidFill>
                  <a:latin typeface="Calibri (MS)"/>
                  <a:ea typeface="Calibri (MS)"/>
                  <a:cs typeface="Calibri (MS)"/>
                  <a:sym typeface="Calibri (MS)"/>
                </a:rPr>
                <a:t>GA · 2D Ackley Function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B2A4A"/>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47625"/>
              <a:ext cx="14630400" cy="687705"/>
            </a:xfrm>
            <a:prstGeom prst="rect">
              <a:avLst/>
            </a:prstGeom>
          </p:spPr>
          <p:txBody>
            <a:bodyPr anchor="ctr" rtlCol="false" tIns="0" lIns="0" bIns="0" rIns="0"/>
            <a:lstStyle/>
            <a:p>
              <a:pPr algn="l">
                <a:lnSpc>
                  <a:spcPts val="2340"/>
                </a:lnSpc>
              </a:pPr>
              <a:r>
                <a:rPr lang="en-US" b="true" sz="1950" spc="299">
                  <a:solidFill>
                    <a:srgbClr val="7FB3CE"/>
                  </a:solidFill>
                  <a:latin typeface="Calibri (MS) Bold"/>
                  <a:ea typeface="Calibri (MS) Bold"/>
                  <a:cs typeface="Calibri (MS) Bold"/>
                  <a:sym typeface="Calibri (MS) Bold"/>
                </a:rPr>
                <a:t>OUTPUT</a:t>
              </a:r>
            </a:p>
          </p:txBody>
        </p:sp>
      </p:grpSp>
      <p:grpSp>
        <p:nvGrpSpPr>
          <p:cNvPr name="Group 5" id="5"/>
          <p:cNvGrpSpPr/>
          <p:nvPr/>
        </p:nvGrpSpPr>
        <p:grpSpPr>
          <a:xfrm rot="0">
            <a:off x="902970" y="0"/>
            <a:ext cx="15910560" cy="2637160"/>
            <a:chOff x="0" y="0"/>
            <a:chExt cx="21214080" cy="3516213"/>
          </a:xfrm>
        </p:grpSpPr>
        <p:sp>
          <p:nvSpPr>
            <p:cNvPr name="Freeform 6" id="6"/>
            <p:cNvSpPr/>
            <p:nvPr/>
          </p:nvSpPr>
          <p:spPr>
            <a:xfrm flipH="false" flipV="false" rot="0">
              <a:off x="0" y="0"/>
              <a:ext cx="21214080" cy="3516213"/>
            </a:xfrm>
            <a:custGeom>
              <a:avLst/>
              <a:gdLst/>
              <a:ahLst/>
              <a:cxnLst/>
              <a:rect r="r" b="b" t="t" l="l"/>
              <a:pathLst>
                <a:path h="3516213" w="21214080">
                  <a:moveTo>
                    <a:pt x="0" y="0"/>
                  </a:moveTo>
                  <a:lnTo>
                    <a:pt x="21214080" y="0"/>
                  </a:lnTo>
                  <a:lnTo>
                    <a:pt x="21214080" y="3516213"/>
                  </a:lnTo>
                  <a:lnTo>
                    <a:pt x="0" y="3516213"/>
                  </a:lnTo>
                  <a:close/>
                </a:path>
              </a:pathLst>
            </a:custGeom>
            <a:blipFill>
              <a:blip r:embed="rId3">
                <a:alphaModFix amt="0"/>
              </a:blip>
              <a:stretch>
                <a:fillRect l="0" t="-99353" r="0" b="-35761"/>
              </a:stretch>
            </a:blipFill>
          </p:spPr>
        </p:sp>
        <p:sp>
          <p:nvSpPr>
            <p:cNvPr name="TextBox 7" id="7"/>
            <p:cNvSpPr txBox="true"/>
            <p:nvPr/>
          </p:nvSpPr>
          <p:spPr>
            <a:xfrm>
              <a:off x="0" y="-19050"/>
              <a:ext cx="21214080" cy="3535263"/>
            </a:xfrm>
            <a:prstGeom prst="rect">
              <a:avLst/>
            </a:prstGeom>
          </p:spPr>
          <p:txBody>
            <a:bodyPr anchor="ctr" rtlCol="false" tIns="0" lIns="0" bIns="0" rIns="0"/>
            <a:lstStyle/>
            <a:p>
              <a:pPr algn="ctr">
                <a:lnSpc>
                  <a:spcPts val="4320"/>
                </a:lnSpc>
              </a:pPr>
              <a:r>
                <a:rPr lang="en-US" sz="3600" b="true">
                  <a:solidFill>
                    <a:srgbClr val="FFFFFF"/>
                  </a:solidFill>
                  <a:latin typeface="Cambria Bold"/>
                  <a:ea typeface="Cambria Bold"/>
                  <a:cs typeface="Cambria Bold"/>
                  <a:sym typeface="Cambria Bold"/>
                </a:rPr>
                <a:t>The GA solution on the Ackley surface</a:t>
              </a:r>
            </a:p>
          </p:txBody>
        </p:sp>
      </p:grpSp>
      <p:grpSp>
        <p:nvGrpSpPr>
          <p:cNvPr name="Group 8" id="8"/>
          <p:cNvGrpSpPr/>
          <p:nvPr/>
        </p:nvGrpSpPr>
        <p:grpSpPr>
          <a:xfrm rot="0">
            <a:off x="16774668" y="9669780"/>
            <a:ext cx="1097280" cy="411480"/>
            <a:chOff x="0" y="0"/>
            <a:chExt cx="1463040" cy="548640"/>
          </a:xfrm>
        </p:grpSpPr>
        <p:sp>
          <p:nvSpPr>
            <p:cNvPr name="Freeform 9" id="9"/>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10" id="10"/>
            <p:cNvSpPr txBox="true"/>
            <p:nvPr/>
          </p:nvSpPr>
          <p:spPr>
            <a:xfrm>
              <a:off x="0" y="-38100"/>
              <a:ext cx="1463040" cy="586740"/>
            </a:xfrm>
            <a:prstGeom prst="rect">
              <a:avLst/>
            </a:prstGeom>
          </p:spPr>
          <p:txBody>
            <a:bodyPr anchor="ctr" rtlCol="false" tIns="0" lIns="0" bIns="0" rIns="0"/>
            <a:lstStyle/>
            <a:p>
              <a:pPr algn="r">
                <a:lnSpc>
                  <a:spcPts val="1800"/>
                </a:lnSpc>
              </a:pPr>
              <a:r>
                <a:rPr lang="en-US" sz="1500">
                  <a:solidFill>
                    <a:srgbClr val="9FB3C8"/>
                  </a:solidFill>
                  <a:latin typeface="Calibri (MS)"/>
                  <a:ea typeface="Calibri (MS)"/>
                  <a:cs typeface="Calibri (MS)"/>
                  <a:sym typeface="Calibri (MS)"/>
                </a:rPr>
                <a:t>11 / 13</a:t>
              </a:r>
            </a:p>
          </p:txBody>
        </p:sp>
      </p:grpSp>
      <p:grpSp>
        <p:nvGrpSpPr>
          <p:cNvPr name="Group 11" id="11"/>
          <p:cNvGrpSpPr/>
          <p:nvPr/>
        </p:nvGrpSpPr>
        <p:grpSpPr>
          <a:xfrm rot="0">
            <a:off x="685800" y="9669780"/>
            <a:ext cx="5486400" cy="411480"/>
            <a:chOff x="0" y="0"/>
            <a:chExt cx="7315200" cy="548640"/>
          </a:xfrm>
        </p:grpSpPr>
        <p:sp>
          <p:nvSpPr>
            <p:cNvPr name="Freeform 12" id="12"/>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13" id="13"/>
            <p:cNvSpPr txBox="true"/>
            <p:nvPr/>
          </p:nvSpPr>
          <p:spPr>
            <a:xfrm>
              <a:off x="0" y="-38100"/>
              <a:ext cx="7315200" cy="586740"/>
            </a:xfrm>
            <a:prstGeom prst="rect">
              <a:avLst/>
            </a:prstGeom>
          </p:spPr>
          <p:txBody>
            <a:bodyPr anchor="ctr" rtlCol="false" tIns="0" lIns="0" bIns="0" rIns="0"/>
            <a:lstStyle/>
            <a:p>
              <a:pPr algn="l">
                <a:lnSpc>
                  <a:spcPts val="1800"/>
                </a:lnSpc>
              </a:pPr>
              <a:r>
                <a:rPr lang="en-US" sz="1500">
                  <a:solidFill>
                    <a:srgbClr val="9FB3C8"/>
                  </a:solidFill>
                  <a:latin typeface="Calibri (MS)"/>
                  <a:ea typeface="Calibri (MS)"/>
                  <a:cs typeface="Calibri (MS)"/>
                  <a:sym typeface="Calibri (MS)"/>
                </a:rPr>
                <a:t>GA · 2D Ackley Function</a:t>
              </a:r>
            </a:p>
          </p:txBody>
        </p:sp>
      </p:grpSp>
      <p:pic>
        <p:nvPicPr>
          <p:cNvPr name="Picture 14" id="14">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4165863" y="1947672"/>
            <a:ext cx="9224753" cy="7805561"/>
          </a:xfrm>
          <a:prstGeom prst="rect">
            <a:avLst/>
          </a:prstGeom>
        </p:spPr>
      </p:pic>
    </p:spTree>
  </p:cSld>
  <p:clrMapOvr>
    <a:masterClrMapping/>
  </p:clrMapOvr>
  <p:timing>
    <p:tnLst>
      <p:par>
        <p:cTn dur="indefinite" restart="never" nodeType="tmRoot">
          <p:childTnLst>
            <p:video>
              <p:cMediaNode vol="0">
                <p:cTn fill="hold" display="false">
                  <p:stCondLst>
                    <p:cond delay="indefinite"/>
                  </p:stCondLst>
                </p:cTn>
                <p:tgtEl>
                  <p:spTgt spid="14"/>
                </p:tgtEl>
              </p:cMediaNode>
            </p:video>
          </p:childTnLst>
        </p:cTn>
      </p:par>
    </p:tnLst>
  </p:timing>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9FB"/>
        </a:solidFill>
      </p:bgPr>
    </p:bg>
    <p:spTree>
      <p:nvGrpSpPr>
        <p:cNvPr id="1" name=""/>
        <p:cNvGrpSpPr/>
        <p:nvPr/>
      </p:nvGrpSpPr>
      <p:grpSpPr>
        <a:xfrm>
          <a:off x="0" y="0"/>
          <a:ext cx="0" cy="0"/>
          <a:chOff x="0" y="0"/>
          <a:chExt cx="0" cy="0"/>
        </a:xfrm>
      </p:grpSpPr>
      <p:grpSp>
        <p:nvGrpSpPr>
          <p:cNvPr name="Group 2" id="2"/>
          <p:cNvGrpSpPr/>
          <p:nvPr/>
        </p:nvGrpSpPr>
        <p:grpSpPr>
          <a:xfrm rot="0">
            <a:off x="822960" y="576072"/>
            <a:ext cx="10972800" cy="480060"/>
            <a:chOff x="0" y="0"/>
            <a:chExt cx="14630400" cy="640080"/>
          </a:xfrm>
        </p:grpSpPr>
        <p:sp>
          <p:nvSpPr>
            <p:cNvPr name="Freeform 3" id="3"/>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4" id="4"/>
            <p:cNvSpPr txBox="true"/>
            <p:nvPr/>
          </p:nvSpPr>
          <p:spPr>
            <a:xfrm>
              <a:off x="0" y="-47625"/>
              <a:ext cx="14630400" cy="687705"/>
            </a:xfrm>
            <a:prstGeom prst="rect">
              <a:avLst/>
            </a:prstGeom>
          </p:spPr>
          <p:txBody>
            <a:bodyPr anchor="ctr" rtlCol="false" tIns="0" lIns="0" bIns="0" rIns="0"/>
            <a:lstStyle/>
            <a:p>
              <a:pPr algn="l">
                <a:lnSpc>
                  <a:spcPts val="2340"/>
                </a:lnSpc>
              </a:pPr>
              <a:r>
                <a:rPr lang="en-US" b="true" sz="1950" spc="299">
                  <a:solidFill>
                    <a:srgbClr val="1C7293"/>
                  </a:solidFill>
                  <a:latin typeface="Calibri (MS) Bold"/>
                  <a:ea typeface="Calibri (MS) Bold"/>
                  <a:cs typeface="Calibri (MS) Bold"/>
                  <a:sym typeface="Calibri (MS) Bold"/>
                </a:rPr>
                <a:t>DISCUSSION OF OUTPUTS</a:t>
              </a:r>
            </a:p>
          </p:txBody>
        </p:sp>
      </p:grpSp>
      <p:grpSp>
        <p:nvGrpSpPr>
          <p:cNvPr name="Group 5" id="5"/>
          <p:cNvGrpSpPr/>
          <p:nvPr/>
        </p:nvGrpSpPr>
        <p:grpSpPr>
          <a:xfrm rot="0">
            <a:off x="822960" y="1757172"/>
            <a:ext cx="15910560" cy="960120"/>
            <a:chOff x="0" y="0"/>
            <a:chExt cx="21214080" cy="1280160"/>
          </a:xfrm>
        </p:grpSpPr>
        <p:sp>
          <p:nvSpPr>
            <p:cNvPr name="Freeform 6" id="6"/>
            <p:cNvSpPr/>
            <p:nvPr/>
          </p:nvSpPr>
          <p:spPr>
            <a:xfrm flipH="false" flipV="false" rot="0">
              <a:off x="0" y="0"/>
              <a:ext cx="21214080" cy="1280160"/>
            </a:xfrm>
            <a:custGeom>
              <a:avLst/>
              <a:gdLst/>
              <a:ahLst/>
              <a:cxnLst/>
              <a:rect r="r" b="b" t="t" l="l"/>
              <a:pathLst>
                <a:path h="1280160" w="21214080">
                  <a:moveTo>
                    <a:pt x="0" y="0"/>
                  </a:moveTo>
                  <a:lnTo>
                    <a:pt x="21214080" y="0"/>
                  </a:lnTo>
                  <a:lnTo>
                    <a:pt x="21214080" y="1280160"/>
                  </a:lnTo>
                  <a:lnTo>
                    <a:pt x="0" y="1280160"/>
                  </a:lnTo>
                  <a:close/>
                </a:path>
              </a:pathLst>
            </a:custGeom>
            <a:blipFill>
              <a:blip r:embed="rId3">
                <a:alphaModFix amt="0"/>
              </a:blip>
              <a:stretch>
                <a:fillRect l="0" t="-272894" r="0" b="-272894"/>
              </a:stretch>
            </a:blipFill>
          </p:spPr>
        </p:sp>
        <p:sp>
          <p:nvSpPr>
            <p:cNvPr name="TextBox 7" id="7"/>
            <p:cNvSpPr txBox="true"/>
            <p:nvPr/>
          </p:nvSpPr>
          <p:spPr>
            <a:xfrm>
              <a:off x="0" y="-19050"/>
              <a:ext cx="21214080" cy="1299210"/>
            </a:xfrm>
            <a:prstGeom prst="rect">
              <a:avLst/>
            </a:prstGeom>
          </p:spPr>
          <p:txBody>
            <a:bodyPr anchor="ctr" rtlCol="false" tIns="0" lIns="0" bIns="0" rIns="0"/>
            <a:lstStyle/>
            <a:p>
              <a:pPr algn="l">
                <a:lnSpc>
                  <a:spcPts val="5400"/>
                </a:lnSpc>
              </a:pPr>
              <a:r>
                <a:rPr lang="en-US" sz="4500" b="true">
                  <a:solidFill>
                    <a:srgbClr val="1B1F27"/>
                  </a:solidFill>
                  <a:latin typeface="Cambria Bold"/>
                  <a:ea typeface="Cambria Bold"/>
                  <a:cs typeface="Cambria Bold"/>
                  <a:sym typeface="Cambria Bold"/>
                </a:rPr>
                <a:t>What the results tell us</a:t>
              </a:r>
            </a:p>
          </p:txBody>
        </p:sp>
      </p:grpSp>
      <p:grpSp>
        <p:nvGrpSpPr>
          <p:cNvPr name="Group 8" id="8"/>
          <p:cNvGrpSpPr/>
          <p:nvPr/>
        </p:nvGrpSpPr>
        <p:grpSpPr>
          <a:xfrm rot="0">
            <a:off x="822960" y="3062426"/>
            <a:ext cx="8229600" cy="480060"/>
            <a:chOff x="0" y="0"/>
            <a:chExt cx="10972800" cy="640080"/>
          </a:xfrm>
        </p:grpSpPr>
        <p:sp>
          <p:nvSpPr>
            <p:cNvPr name="Freeform 9" id="9"/>
            <p:cNvSpPr/>
            <p:nvPr/>
          </p:nvSpPr>
          <p:spPr>
            <a:xfrm flipH="false" flipV="false" rot="0">
              <a:off x="0" y="0"/>
              <a:ext cx="10972800" cy="640080"/>
            </a:xfrm>
            <a:custGeom>
              <a:avLst/>
              <a:gdLst/>
              <a:ahLst/>
              <a:cxnLst/>
              <a:rect r="r" b="b" t="t" l="l"/>
              <a:pathLst>
                <a:path h="640080" w="10972800">
                  <a:moveTo>
                    <a:pt x="0" y="0"/>
                  </a:moveTo>
                  <a:lnTo>
                    <a:pt x="10972800" y="0"/>
                  </a:lnTo>
                  <a:lnTo>
                    <a:pt x="10972800" y="640080"/>
                  </a:lnTo>
                  <a:lnTo>
                    <a:pt x="0" y="640080"/>
                  </a:lnTo>
                  <a:close/>
                </a:path>
              </a:pathLst>
            </a:custGeom>
            <a:blipFill>
              <a:blip r:embed="rId3">
                <a:alphaModFix amt="0"/>
              </a:blip>
              <a:stretch>
                <a:fillRect l="0" t="-284029" r="0" b="-284029"/>
              </a:stretch>
            </a:blipFill>
          </p:spPr>
        </p:sp>
        <p:sp>
          <p:nvSpPr>
            <p:cNvPr name="TextBox 10" id="10"/>
            <p:cNvSpPr txBox="true"/>
            <p:nvPr/>
          </p:nvSpPr>
          <p:spPr>
            <a:xfrm>
              <a:off x="0" y="-19050"/>
              <a:ext cx="10972800" cy="659130"/>
            </a:xfrm>
            <a:prstGeom prst="rect">
              <a:avLst/>
            </a:prstGeom>
          </p:spPr>
          <p:txBody>
            <a:bodyPr anchor="ctr" rtlCol="false" tIns="0" lIns="0" bIns="0" rIns="0"/>
            <a:lstStyle/>
            <a:p>
              <a:pPr algn="l">
                <a:lnSpc>
                  <a:spcPts val="3240"/>
                </a:lnSpc>
              </a:pPr>
              <a:r>
                <a:rPr lang="en-US" sz="2700" b="true">
                  <a:solidFill>
                    <a:srgbClr val="0B2A4A"/>
                  </a:solidFill>
                  <a:latin typeface="Cambria Bold"/>
                  <a:ea typeface="Cambria Bold"/>
                  <a:cs typeface="Cambria Bold"/>
                  <a:sym typeface="Cambria Bold"/>
                </a:rPr>
                <a:t>GA vs. classical Nelder-Mead</a:t>
              </a:r>
            </a:p>
          </p:txBody>
        </p:sp>
      </p:grpSp>
      <p:graphicFrame>
        <p:nvGraphicFramePr>
          <p:cNvPr name="Table 11" id="11"/>
          <p:cNvGraphicFramePr>
            <a:graphicFrameLocks noGrp="true"/>
          </p:cNvGraphicFramePr>
          <p:nvPr/>
        </p:nvGraphicFramePr>
        <p:xfrm>
          <a:off x="822960" y="3652976"/>
          <a:ext cx="8343900" cy="2581275"/>
        </p:xfrm>
        <a:graphic>
          <a:graphicData uri="http://schemas.openxmlformats.org/drawingml/2006/table">
            <a:tbl>
              <a:tblPr/>
              <a:tblGrid>
                <a:gridCol w="2194575"/>
                <a:gridCol w="3277759"/>
                <a:gridCol w="2871565"/>
              </a:tblGrid>
              <a:tr h="516255">
                <a:tc>
                  <a:txBody>
                    <a:bodyPr anchor="t" rtlCol="false"/>
                    <a:lstStyle/>
                    <a:p>
                      <a:pPr algn="ctr">
                        <a:lnSpc>
                          <a:spcPts val="1889"/>
                        </a:lnSpc>
                        <a:defRPr/>
                      </a:pPr>
                      <a:r>
                        <a:rPr lang="en-US" sz="1575" b="true">
                          <a:solidFill>
                            <a:srgbClr val="FFFFFF"/>
                          </a:solidFill>
                          <a:latin typeface="Calibri (MS) Bold"/>
                          <a:ea typeface="Calibri (MS) Bold"/>
                          <a:cs typeface="Calibri (MS) Bold"/>
                          <a:sym typeface="Calibri (MS) Bold"/>
                        </a:rPr>
                        <a:t>Metric</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1C7293"/>
                    </a:solidFill>
                  </a:tcPr>
                </a:tc>
                <a:tc>
                  <a:txBody>
                    <a:bodyPr anchor="t" rtlCol="false"/>
                    <a:lstStyle/>
                    <a:p>
                      <a:pPr algn="ctr">
                        <a:lnSpc>
                          <a:spcPts val="1889"/>
                        </a:lnSpc>
                        <a:defRPr/>
                      </a:pPr>
                      <a:r>
                        <a:rPr lang="en-US" sz="1575" b="true">
                          <a:solidFill>
                            <a:srgbClr val="FFFFFF"/>
                          </a:solidFill>
                          <a:latin typeface="Calibri (MS) Bold"/>
                          <a:ea typeface="Calibri (MS) Bold"/>
                          <a:cs typeface="Calibri (MS) Bold"/>
                          <a:sym typeface="Calibri (MS) Bold"/>
                        </a:rPr>
                        <a:t>Genetic Algorithm</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1C7293"/>
                    </a:solidFill>
                  </a:tcPr>
                </a:tc>
                <a:tc>
                  <a:txBody>
                    <a:bodyPr anchor="t" rtlCol="false"/>
                    <a:lstStyle/>
                    <a:p>
                      <a:pPr algn="ctr">
                        <a:lnSpc>
                          <a:spcPts val="1889"/>
                        </a:lnSpc>
                        <a:defRPr/>
                      </a:pPr>
                      <a:r>
                        <a:rPr lang="en-US" sz="1575" b="true">
                          <a:solidFill>
                            <a:srgbClr val="FFFFFF"/>
                          </a:solidFill>
                          <a:latin typeface="Calibri (MS) Bold"/>
                          <a:ea typeface="Calibri (MS) Bold"/>
                          <a:cs typeface="Calibri (MS) Bold"/>
                          <a:sym typeface="Calibri (MS) Bold"/>
                        </a:rPr>
                        <a:t>Nelder-Mead</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1C7293"/>
                    </a:solidFill>
                  </a:tcPr>
                </a:tc>
              </a:tr>
              <a:tr h="516255">
                <a:tc>
                  <a:txBody>
                    <a:bodyPr anchor="t" rtlCol="false"/>
                    <a:lstStyle/>
                    <a:p>
                      <a:pPr algn="ctr">
                        <a:lnSpc>
                          <a:spcPts val="1889"/>
                        </a:lnSpc>
                        <a:defRPr/>
                      </a:pPr>
                      <a:r>
                        <a:rPr lang="en-US" sz="1575">
                          <a:solidFill>
                            <a:srgbClr val="1B1F27"/>
                          </a:solidFill>
                          <a:latin typeface="Calibri (MS)"/>
                          <a:ea typeface="Calibri (MS)"/>
                          <a:cs typeface="Calibri (MS)"/>
                          <a:sym typeface="Calibri (MS)"/>
                        </a:rPr>
                        <a:t>Start</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b="true">
                          <a:solidFill>
                            <a:srgbClr val="0B2A4A"/>
                          </a:solidFill>
                          <a:latin typeface="Calibri (MS) Bold"/>
                          <a:ea typeface="Calibri (MS) Bold"/>
                          <a:cs typeface="Calibri (MS) Bold"/>
                          <a:sym typeface="Calibri (MS) Bold"/>
                        </a:rPr>
                        <a:t>Random population (N=50)</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B1F27"/>
                          </a:solidFill>
                          <a:latin typeface="Calibri (MS)"/>
                          <a:ea typeface="Calibri (MS)"/>
                          <a:cs typeface="Calibri (MS)"/>
                          <a:sym typeface="Calibri (MS)"/>
                        </a:rPr>
                        <a:t>[4.0, -4.0]</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r>
              <a:tr h="516255">
                <a:tc>
                  <a:txBody>
                    <a:bodyPr anchor="t" rtlCol="false"/>
                    <a:lstStyle/>
                    <a:p>
                      <a:pPr algn="ctr">
                        <a:lnSpc>
                          <a:spcPts val="1889"/>
                        </a:lnSpc>
                        <a:defRPr/>
                      </a:pPr>
                      <a:r>
                        <a:rPr lang="en-US" sz="1575">
                          <a:solidFill>
                            <a:srgbClr val="1B1F27"/>
                          </a:solidFill>
                          <a:latin typeface="Calibri (MS)"/>
                          <a:ea typeface="Calibri (MS)"/>
                          <a:cs typeface="Calibri (MS)"/>
                          <a:sym typeface="Calibri (MS)"/>
                        </a:rPr>
                        <a:t>Result</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b="true">
                          <a:solidFill>
                            <a:srgbClr val="0B2A4A"/>
                          </a:solidFill>
                          <a:latin typeface="Calibri (MS) Bold"/>
                          <a:ea typeface="Calibri (MS) Bold"/>
                          <a:cs typeface="Calibri (MS) Bold"/>
                          <a:sym typeface="Calibri (MS) Bold"/>
                        </a:rPr>
                        <a:t>[-0.00185, 0.00496]</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B1F27"/>
                          </a:solidFill>
                          <a:latin typeface="Calibri (MS)"/>
                          <a:ea typeface="Calibri (MS)"/>
                          <a:cs typeface="Calibri (MS)"/>
                          <a:sym typeface="Calibri (MS)"/>
                        </a:rPr>
                        <a:t>[3.983, -3.983]</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r>
              <a:tr h="516255">
                <a:tc>
                  <a:txBody>
                    <a:bodyPr anchor="t" rtlCol="false"/>
                    <a:lstStyle/>
                    <a:p>
                      <a:pPr algn="ctr">
                        <a:lnSpc>
                          <a:spcPts val="1889"/>
                        </a:lnSpc>
                        <a:defRPr/>
                      </a:pPr>
                      <a:r>
                        <a:rPr lang="en-US" sz="1575">
                          <a:solidFill>
                            <a:srgbClr val="1B1F27"/>
                          </a:solidFill>
                          <a:latin typeface="Calibri (MS)"/>
                          <a:ea typeface="Calibri (MS)"/>
                          <a:cs typeface="Calibri (MS)"/>
                          <a:sym typeface="Calibri (MS)"/>
                        </a:rPr>
                        <a:t>Fitness</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b="true">
                          <a:solidFill>
                            <a:srgbClr val="0B2A4A"/>
                          </a:solidFill>
                          <a:latin typeface="Calibri (MS) Bold"/>
                          <a:ea typeface="Calibri (MS) Bold"/>
                          <a:cs typeface="Calibri (MS) Bold"/>
                          <a:sym typeface="Calibri (MS) Bold"/>
                        </a:rPr>
                        <a:t>0.015713</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B1F27"/>
                          </a:solidFill>
                          <a:latin typeface="Calibri (MS)"/>
                          <a:ea typeface="Calibri (MS)"/>
                          <a:cs typeface="Calibri (MS)"/>
                          <a:sym typeface="Calibri (MS)"/>
                        </a:rPr>
                        <a:t>10.998262</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r>
              <a:tr h="516255">
                <a:tc>
                  <a:txBody>
                    <a:bodyPr anchor="t" rtlCol="false"/>
                    <a:lstStyle/>
                    <a:p>
                      <a:pPr algn="ctr">
                        <a:lnSpc>
                          <a:spcPts val="1889"/>
                        </a:lnSpc>
                        <a:defRPr/>
                      </a:pPr>
                      <a:r>
                        <a:rPr lang="en-US" sz="1575">
                          <a:solidFill>
                            <a:srgbClr val="1B1F27"/>
                          </a:solidFill>
                          <a:latin typeface="Calibri (MS)"/>
                          <a:ea typeface="Calibri (MS)"/>
                          <a:cs typeface="Calibri (MS)"/>
                          <a:sym typeface="Calibri (MS)"/>
                        </a:rPr>
                        <a:t>Outcome</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b="true">
                          <a:solidFill>
                            <a:srgbClr val="0B2A4A"/>
                          </a:solidFill>
                          <a:latin typeface="Calibri (MS) Bold"/>
                          <a:ea typeface="Calibri (MS) Bold"/>
                          <a:cs typeface="Calibri (MS) Bold"/>
                          <a:sym typeface="Calibri (MS) Bold"/>
                        </a:rPr>
                        <a:t>Reached the global basin</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c>
                  <a:txBody>
                    <a:bodyPr anchor="t" rtlCol="false"/>
                    <a:lstStyle/>
                    <a:p>
                      <a:pPr algn="ctr">
                        <a:lnSpc>
                          <a:spcPts val="1889"/>
                        </a:lnSpc>
                        <a:defRPr/>
                      </a:pPr>
                      <a:r>
                        <a:rPr lang="en-US" sz="1575">
                          <a:solidFill>
                            <a:srgbClr val="1B1F27"/>
                          </a:solidFill>
                          <a:latin typeface="Calibri (MS)"/>
                          <a:ea typeface="Calibri (MS)"/>
                          <a:cs typeface="Calibri (MS)"/>
                          <a:sym typeface="Calibri (MS)"/>
                        </a:rPr>
                        <a:t>Trapped in a local ripple</a:t>
                      </a:r>
                      <a:endParaRPr lang="en-US" sz="1100"/>
                    </a:p>
                  </a:txBody>
                  <a:tcPr marL="91440" marR="91440" marT="91440" marB="91440" anchor="t">
                    <a:lnL cmpd="sng" algn="ctr" cap="flat" w="9525">
                      <a:solidFill>
                        <a:srgbClr val="E3E9EE"/>
                      </a:solidFill>
                      <a:prstDash val="solid"/>
                      <a:round/>
                      <a:headEnd type="none" w="med" len="med"/>
                      <a:tailEnd type="none" w="med" len="med"/>
                    </a:lnL>
                    <a:lnR cmpd="sng" algn="ctr" cap="flat" w="9525">
                      <a:solidFill>
                        <a:srgbClr val="E3E9EE"/>
                      </a:solidFill>
                      <a:prstDash val="solid"/>
                      <a:round/>
                      <a:headEnd type="none" w="med" len="med"/>
                      <a:tailEnd type="none" w="med" len="med"/>
                    </a:lnR>
                    <a:lnT cmpd="sng" algn="ctr" cap="flat" w="9525">
                      <a:solidFill>
                        <a:srgbClr val="E3E9EE"/>
                      </a:solidFill>
                      <a:prstDash val="solid"/>
                      <a:round/>
                      <a:headEnd type="none" w="med" len="med"/>
                      <a:tailEnd type="none" w="med" len="med"/>
                    </a:lnT>
                    <a:lnB cmpd="sng" algn="ctr" cap="flat" w="9525">
                      <a:solidFill>
                        <a:srgbClr val="E3E9EE"/>
                      </a:solidFill>
                      <a:prstDash val="solid"/>
                      <a:round/>
                      <a:headEnd type="none" w="med" len="med"/>
                      <a:tailEnd type="none" w="med" len="med"/>
                    </a:lnB>
                    <a:solidFill>
                      <a:srgbClr val="FFFFFF"/>
                    </a:solidFill>
                  </a:tcPr>
                </a:tc>
              </a:tr>
            </a:tbl>
          </a:graphicData>
        </a:graphic>
      </p:graphicFrame>
      <p:grpSp>
        <p:nvGrpSpPr>
          <p:cNvPr name="Group 12" id="12"/>
          <p:cNvGrpSpPr/>
          <p:nvPr/>
        </p:nvGrpSpPr>
        <p:grpSpPr>
          <a:xfrm rot="0">
            <a:off x="822960" y="7030212"/>
            <a:ext cx="8366760" cy="1371600"/>
            <a:chOff x="0" y="0"/>
            <a:chExt cx="11155680" cy="1828800"/>
          </a:xfrm>
        </p:grpSpPr>
        <p:sp>
          <p:nvSpPr>
            <p:cNvPr name="Freeform 13" id="13"/>
            <p:cNvSpPr/>
            <p:nvPr/>
          </p:nvSpPr>
          <p:spPr>
            <a:xfrm flipH="false" flipV="false" rot="0">
              <a:off x="0" y="0"/>
              <a:ext cx="11155680" cy="1828800"/>
            </a:xfrm>
            <a:custGeom>
              <a:avLst/>
              <a:gdLst/>
              <a:ahLst/>
              <a:cxnLst/>
              <a:rect r="r" b="b" t="t" l="l"/>
              <a:pathLst>
                <a:path h="1828800" w="11155680">
                  <a:moveTo>
                    <a:pt x="0" y="0"/>
                  </a:moveTo>
                  <a:lnTo>
                    <a:pt x="11155680" y="0"/>
                  </a:lnTo>
                  <a:lnTo>
                    <a:pt x="11155680" y="1828800"/>
                  </a:lnTo>
                  <a:lnTo>
                    <a:pt x="0" y="1828800"/>
                  </a:lnTo>
                  <a:close/>
                </a:path>
              </a:pathLst>
            </a:custGeom>
            <a:blipFill>
              <a:blip r:embed="rId3">
                <a:alphaModFix amt="0"/>
              </a:blip>
              <a:stretch>
                <a:fillRect l="0" t="-68858" r="0" b="-68858"/>
              </a:stretch>
            </a:blipFill>
          </p:spPr>
        </p:sp>
        <p:sp>
          <p:nvSpPr>
            <p:cNvPr name="TextBox 14" id="14"/>
            <p:cNvSpPr txBox="true"/>
            <p:nvPr/>
          </p:nvSpPr>
          <p:spPr>
            <a:xfrm>
              <a:off x="0" y="-104775"/>
              <a:ext cx="11155680" cy="1933575"/>
            </a:xfrm>
            <a:prstGeom prst="rect">
              <a:avLst/>
            </a:prstGeom>
          </p:spPr>
          <p:txBody>
            <a:bodyPr anchor="ctr" rtlCol="false" tIns="0" lIns="0" bIns="0" rIns="0"/>
            <a:lstStyle/>
            <a:p>
              <a:pPr algn="l">
                <a:lnSpc>
                  <a:spcPts val="3150"/>
                </a:lnSpc>
              </a:pPr>
              <a:r>
                <a:rPr lang="en-US" b="true" sz="2100" u="sng">
                  <a:solidFill>
                    <a:srgbClr val="5B6472"/>
                  </a:solidFill>
                  <a:latin typeface="Calibri (MS) Bold"/>
                  <a:ea typeface="Calibri (MS) Bold"/>
                  <a:cs typeface="Calibri (MS) Bold"/>
                  <a:sym typeface="Calibri (MS) Bold"/>
                </a:rPr>
                <a:t>Why:</a:t>
              </a:r>
              <a:r>
                <a:rPr lang="en-US" sz="2100" b="true">
                  <a:solidFill>
                    <a:srgbClr val="5B6472"/>
                  </a:solidFill>
                  <a:latin typeface="Calibri (MS) Bold"/>
                  <a:ea typeface="Calibri (MS) Bold"/>
                  <a:cs typeface="Calibri (MS) Bold"/>
                  <a:sym typeface="Calibri (MS) Bold"/>
                </a:rPr>
                <a:t> Nelder-Mead only follows local slope from one starting point, so it settles in the nearest ripple. The GA keeps 50 points spread across the whole domain, so some always land near the true basin.</a:t>
              </a:r>
            </a:p>
          </p:txBody>
        </p:sp>
      </p:grpSp>
      <p:grpSp>
        <p:nvGrpSpPr>
          <p:cNvPr name="Group 15" id="15"/>
          <p:cNvGrpSpPr/>
          <p:nvPr/>
        </p:nvGrpSpPr>
        <p:grpSpPr>
          <a:xfrm rot="0">
            <a:off x="9738360" y="1566672"/>
            <a:ext cx="7749540" cy="7543800"/>
            <a:chOff x="0" y="0"/>
            <a:chExt cx="10332720" cy="10058400"/>
          </a:xfrm>
        </p:grpSpPr>
        <p:sp>
          <p:nvSpPr>
            <p:cNvPr name="Freeform 16" id="16"/>
            <p:cNvSpPr/>
            <p:nvPr/>
          </p:nvSpPr>
          <p:spPr>
            <a:xfrm flipH="false" flipV="false" rot="0">
              <a:off x="0" y="0"/>
              <a:ext cx="10332720" cy="10058400"/>
            </a:xfrm>
            <a:custGeom>
              <a:avLst/>
              <a:gdLst/>
              <a:ahLst/>
              <a:cxnLst/>
              <a:rect r="r" b="b" t="t" l="l"/>
              <a:pathLst>
                <a:path h="10058400" w="10332720">
                  <a:moveTo>
                    <a:pt x="0" y="146304"/>
                  </a:moveTo>
                  <a:cubicBezTo>
                    <a:pt x="0" y="65532"/>
                    <a:pt x="65532" y="0"/>
                    <a:pt x="146304" y="0"/>
                  </a:cubicBezTo>
                  <a:lnTo>
                    <a:pt x="10186416" y="0"/>
                  </a:lnTo>
                  <a:cubicBezTo>
                    <a:pt x="10267188" y="0"/>
                    <a:pt x="10332720" y="65532"/>
                    <a:pt x="10332720" y="146304"/>
                  </a:cubicBezTo>
                  <a:lnTo>
                    <a:pt x="10332720" y="9912096"/>
                  </a:lnTo>
                  <a:cubicBezTo>
                    <a:pt x="10332720" y="9992868"/>
                    <a:pt x="10267188" y="10058400"/>
                    <a:pt x="10186416" y="10058400"/>
                  </a:cubicBezTo>
                  <a:lnTo>
                    <a:pt x="146304" y="10058400"/>
                  </a:lnTo>
                  <a:cubicBezTo>
                    <a:pt x="65532" y="10058400"/>
                    <a:pt x="0" y="9992868"/>
                    <a:pt x="0" y="9912096"/>
                  </a:cubicBezTo>
                  <a:close/>
                </a:path>
              </a:pathLst>
            </a:custGeom>
            <a:solidFill>
              <a:srgbClr val="0B2A4A"/>
            </a:solidFill>
          </p:spPr>
        </p:sp>
      </p:grpSp>
      <p:grpSp>
        <p:nvGrpSpPr>
          <p:cNvPr name="Group 17" id="17"/>
          <p:cNvGrpSpPr/>
          <p:nvPr/>
        </p:nvGrpSpPr>
        <p:grpSpPr>
          <a:xfrm rot="0">
            <a:off x="10149840" y="1909572"/>
            <a:ext cx="6858000" cy="548640"/>
            <a:chOff x="0" y="0"/>
            <a:chExt cx="9144000" cy="731520"/>
          </a:xfrm>
        </p:grpSpPr>
        <p:sp>
          <p:nvSpPr>
            <p:cNvPr name="Freeform 18" id="18"/>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3">
                <a:alphaModFix amt="0"/>
              </a:blip>
              <a:stretch>
                <a:fillRect l="0" t="-193562" r="0" b="-193562"/>
              </a:stretch>
            </a:blipFill>
          </p:spPr>
        </p:sp>
        <p:sp>
          <p:nvSpPr>
            <p:cNvPr name="TextBox 19" id="19"/>
            <p:cNvSpPr txBox="true"/>
            <p:nvPr/>
          </p:nvSpPr>
          <p:spPr>
            <a:xfrm>
              <a:off x="0" y="-19050"/>
              <a:ext cx="9144000" cy="750570"/>
            </a:xfrm>
            <a:prstGeom prst="rect">
              <a:avLst/>
            </a:prstGeom>
          </p:spPr>
          <p:txBody>
            <a:bodyPr anchor="ctr" rtlCol="false" tIns="0" lIns="0" bIns="0" rIns="0"/>
            <a:lstStyle/>
            <a:p>
              <a:pPr algn="l">
                <a:lnSpc>
                  <a:spcPts val="3240"/>
                </a:lnSpc>
              </a:pPr>
              <a:r>
                <a:rPr lang="en-US" sz="2700" b="true">
                  <a:solidFill>
                    <a:srgbClr val="FFFFFF"/>
                  </a:solidFill>
                  <a:latin typeface="Cambria Bold"/>
                  <a:ea typeface="Cambria Bold"/>
                  <a:cs typeface="Cambria Bold"/>
                  <a:sym typeface="Cambria Bold"/>
                </a:rPr>
                <a:t>Automated verification</a:t>
              </a:r>
            </a:p>
          </p:txBody>
        </p:sp>
      </p:grpSp>
      <p:grpSp>
        <p:nvGrpSpPr>
          <p:cNvPr name="Group 20" id="20"/>
          <p:cNvGrpSpPr/>
          <p:nvPr/>
        </p:nvGrpSpPr>
        <p:grpSpPr>
          <a:xfrm rot="0">
            <a:off x="10149840" y="2458212"/>
            <a:ext cx="6858000" cy="480060"/>
            <a:chOff x="0" y="0"/>
            <a:chExt cx="9144000" cy="640080"/>
          </a:xfrm>
        </p:grpSpPr>
        <p:sp>
          <p:nvSpPr>
            <p:cNvPr name="Freeform 21" id="21"/>
            <p:cNvSpPr/>
            <p:nvPr/>
          </p:nvSpPr>
          <p:spPr>
            <a:xfrm flipH="false" flipV="false" rot="0">
              <a:off x="0" y="0"/>
              <a:ext cx="9144000" cy="640080"/>
            </a:xfrm>
            <a:custGeom>
              <a:avLst/>
              <a:gdLst/>
              <a:ahLst/>
              <a:cxnLst/>
              <a:rect r="r" b="b" t="t" l="l"/>
              <a:pathLst>
                <a:path h="640080" w="9144000">
                  <a:moveTo>
                    <a:pt x="0" y="0"/>
                  </a:moveTo>
                  <a:lnTo>
                    <a:pt x="9144000" y="0"/>
                  </a:lnTo>
                  <a:lnTo>
                    <a:pt x="9144000" y="640080"/>
                  </a:lnTo>
                  <a:lnTo>
                    <a:pt x="0" y="640080"/>
                  </a:lnTo>
                  <a:close/>
                </a:path>
              </a:pathLst>
            </a:custGeom>
            <a:blipFill>
              <a:blip r:embed="rId3">
                <a:alphaModFix amt="0"/>
              </a:blip>
              <a:stretch>
                <a:fillRect l="0" t="-228357" r="0" b="-228357"/>
              </a:stretch>
            </a:blipFill>
          </p:spPr>
        </p:sp>
        <p:sp>
          <p:nvSpPr>
            <p:cNvPr name="TextBox 22" id="22"/>
            <p:cNvSpPr txBox="true"/>
            <p:nvPr/>
          </p:nvSpPr>
          <p:spPr>
            <a:xfrm>
              <a:off x="0" y="-38100"/>
              <a:ext cx="9144000" cy="678180"/>
            </a:xfrm>
            <a:prstGeom prst="rect">
              <a:avLst/>
            </a:prstGeom>
          </p:spPr>
          <p:txBody>
            <a:bodyPr anchor="ctr" rtlCol="false" tIns="0" lIns="0" bIns="0" rIns="0"/>
            <a:lstStyle/>
            <a:p>
              <a:pPr algn="l">
                <a:lnSpc>
                  <a:spcPts val="2879"/>
                </a:lnSpc>
              </a:pPr>
              <a:r>
                <a:rPr lang="en-US" sz="2400" b="true">
                  <a:solidFill>
                    <a:srgbClr val="FF6B4A"/>
                  </a:solidFill>
                  <a:latin typeface="Calibri (MS) Bold"/>
                  <a:ea typeface="Calibri (MS) Bold"/>
                  <a:cs typeface="Calibri (MS) Bold"/>
                  <a:sym typeface="Calibri (MS) Bold"/>
                </a:rPr>
                <a:t>6 / 6 tests passed  ·  1.09s  ·  Python 3.14.3</a:t>
              </a:r>
            </a:p>
          </p:txBody>
        </p:sp>
      </p:grpSp>
      <p:grpSp>
        <p:nvGrpSpPr>
          <p:cNvPr name="Group 23" id="23"/>
          <p:cNvGrpSpPr/>
          <p:nvPr/>
        </p:nvGrpSpPr>
        <p:grpSpPr>
          <a:xfrm rot="0">
            <a:off x="10149840" y="3144012"/>
            <a:ext cx="411480" cy="542683"/>
            <a:chOff x="0" y="0"/>
            <a:chExt cx="548640" cy="723577"/>
          </a:xfrm>
        </p:grpSpPr>
        <p:sp>
          <p:nvSpPr>
            <p:cNvPr name="Freeform 24" id="24"/>
            <p:cNvSpPr/>
            <p:nvPr/>
          </p:nvSpPr>
          <p:spPr>
            <a:xfrm flipH="false" flipV="false" rot="0">
              <a:off x="0" y="0"/>
              <a:ext cx="548640" cy="723577"/>
            </a:xfrm>
            <a:custGeom>
              <a:avLst/>
              <a:gdLst/>
              <a:ahLst/>
              <a:cxnLst/>
              <a:rect r="r" b="b" t="t" l="l"/>
              <a:pathLst>
                <a:path h="723577" w="548640">
                  <a:moveTo>
                    <a:pt x="0" y="0"/>
                  </a:moveTo>
                  <a:lnTo>
                    <a:pt x="548640" y="0"/>
                  </a:lnTo>
                  <a:lnTo>
                    <a:pt x="548640" y="723577"/>
                  </a:lnTo>
                  <a:lnTo>
                    <a:pt x="0" y="723577"/>
                  </a:lnTo>
                  <a:close/>
                </a:path>
              </a:pathLst>
            </a:custGeom>
            <a:blipFill>
              <a:blip r:embed="rId3">
                <a:alphaModFix amt="0"/>
              </a:blip>
              <a:stretch>
                <a:fillRect l="-99687" t="0" r="-99687" b="11539"/>
              </a:stretch>
            </a:blipFill>
          </p:spPr>
        </p:sp>
        <p:sp>
          <p:nvSpPr>
            <p:cNvPr name="TextBox 25" id="25"/>
            <p:cNvSpPr txBox="true"/>
            <p:nvPr/>
          </p:nvSpPr>
          <p:spPr>
            <a:xfrm>
              <a:off x="0" y="-57150"/>
              <a:ext cx="548640" cy="780727"/>
            </a:xfrm>
            <a:prstGeom prst="rect">
              <a:avLst/>
            </a:prstGeom>
          </p:spPr>
          <p:txBody>
            <a:bodyPr anchor="ctr" rtlCol="false" tIns="0" lIns="0" bIns="0" rIns="0"/>
            <a:lstStyle/>
            <a:p>
              <a:pPr algn="l">
                <a:lnSpc>
                  <a:spcPts val="3239"/>
                </a:lnSpc>
              </a:pPr>
              <a:r>
                <a:rPr lang="en-US" sz="2699" b="true">
                  <a:solidFill>
                    <a:srgbClr val="CFE3E9"/>
                  </a:solidFill>
                  <a:latin typeface="Calibri (MS) Bold"/>
                  <a:ea typeface="Calibri (MS) Bold"/>
                  <a:cs typeface="Calibri (MS) Bold"/>
                  <a:sym typeface="Calibri (MS) Bold"/>
                </a:rPr>
                <a:t>✓</a:t>
              </a:r>
            </a:p>
          </p:txBody>
        </p:sp>
      </p:grpSp>
      <p:grpSp>
        <p:nvGrpSpPr>
          <p:cNvPr name="Group 26" id="26"/>
          <p:cNvGrpSpPr/>
          <p:nvPr/>
        </p:nvGrpSpPr>
        <p:grpSpPr>
          <a:xfrm rot="0">
            <a:off x="10561320" y="3144012"/>
            <a:ext cx="6720840" cy="480060"/>
            <a:chOff x="0" y="0"/>
            <a:chExt cx="8961120" cy="640080"/>
          </a:xfrm>
        </p:grpSpPr>
        <p:sp>
          <p:nvSpPr>
            <p:cNvPr name="Freeform 27" id="27"/>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28" id="28"/>
            <p:cNvSpPr txBox="true"/>
            <p:nvPr/>
          </p:nvSpPr>
          <p:spPr>
            <a:xfrm>
              <a:off x="0" y="-47625"/>
              <a:ext cx="8961120" cy="687705"/>
            </a:xfrm>
            <a:prstGeom prst="rect">
              <a:avLst/>
            </a:prstGeom>
          </p:spPr>
          <p:txBody>
            <a:bodyPr anchor="ctr" rtlCol="false" tIns="0" lIns="0" bIns="0" rIns="0"/>
            <a:lstStyle/>
            <a:p>
              <a:pPr algn="l">
                <a:lnSpc>
                  <a:spcPts val="2519"/>
                </a:lnSpc>
              </a:pPr>
              <a:r>
                <a:rPr lang="en-US" sz="2099">
                  <a:solidFill>
                    <a:srgbClr val="D6E3EC"/>
                  </a:solidFill>
                  <a:latin typeface="Calibri (MS)"/>
                  <a:ea typeface="Calibri (MS)"/>
                  <a:cs typeface="Calibri (MS)"/>
                  <a:sym typeface="Calibri (MS)"/>
                </a:rPr>
                <a:t>f(0,0) ≈ 0 within 1e-9</a:t>
              </a:r>
            </a:p>
          </p:txBody>
        </p:sp>
      </p:grpSp>
      <p:grpSp>
        <p:nvGrpSpPr>
          <p:cNvPr name="Group 29" id="29"/>
          <p:cNvGrpSpPr/>
          <p:nvPr/>
        </p:nvGrpSpPr>
        <p:grpSpPr>
          <a:xfrm rot="0">
            <a:off x="10149840" y="3720084"/>
            <a:ext cx="411480" cy="542683"/>
            <a:chOff x="0" y="0"/>
            <a:chExt cx="548640" cy="723577"/>
          </a:xfrm>
        </p:grpSpPr>
        <p:sp>
          <p:nvSpPr>
            <p:cNvPr name="Freeform 30" id="30"/>
            <p:cNvSpPr/>
            <p:nvPr/>
          </p:nvSpPr>
          <p:spPr>
            <a:xfrm flipH="false" flipV="false" rot="0">
              <a:off x="0" y="0"/>
              <a:ext cx="548640" cy="723577"/>
            </a:xfrm>
            <a:custGeom>
              <a:avLst/>
              <a:gdLst/>
              <a:ahLst/>
              <a:cxnLst/>
              <a:rect r="r" b="b" t="t" l="l"/>
              <a:pathLst>
                <a:path h="723577" w="548640">
                  <a:moveTo>
                    <a:pt x="0" y="0"/>
                  </a:moveTo>
                  <a:lnTo>
                    <a:pt x="548640" y="0"/>
                  </a:lnTo>
                  <a:lnTo>
                    <a:pt x="548640" y="723577"/>
                  </a:lnTo>
                  <a:lnTo>
                    <a:pt x="0" y="723577"/>
                  </a:lnTo>
                  <a:close/>
                </a:path>
              </a:pathLst>
            </a:custGeom>
            <a:blipFill>
              <a:blip r:embed="rId3">
                <a:alphaModFix amt="0"/>
              </a:blip>
              <a:stretch>
                <a:fillRect l="-99687" t="0" r="-99687" b="11539"/>
              </a:stretch>
            </a:blipFill>
          </p:spPr>
        </p:sp>
        <p:sp>
          <p:nvSpPr>
            <p:cNvPr name="TextBox 31" id="31"/>
            <p:cNvSpPr txBox="true"/>
            <p:nvPr/>
          </p:nvSpPr>
          <p:spPr>
            <a:xfrm>
              <a:off x="0" y="-57150"/>
              <a:ext cx="548640" cy="780727"/>
            </a:xfrm>
            <a:prstGeom prst="rect">
              <a:avLst/>
            </a:prstGeom>
          </p:spPr>
          <p:txBody>
            <a:bodyPr anchor="ctr" rtlCol="false" tIns="0" lIns="0" bIns="0" rIns="0"/>
            <a:lstStyle/>
            <a:p>
              <a:pPr algn="l">
                <a:lnSpc>
                  <a:spcPts val="3239"/>
                </a:lnSpc>
              </a:pPr>
              <a:r>
                <a:rPr lang="en-US" sz="2699" b="true">
                  <a:solidFill>
                    <a:srgbClr val="CFE3E9"/>
                  </a:solidFill>
                  <a:latin typeface="Calibri (MS) Bold"/>
                  <a:ea typeface="Calibri (MS) Bold"/>
                  <a:cs typeface="Calibri (MS) Bold"/>
                  <a:sym typeface="Calibri (MS) Bold"/>
                </a:rPr>
                <a:t>✓</a:t>
              </a:r>
            </a:p>
          </p:txBody>
        </p:sp>
      </p:grpSp>
      <p:grpSp>
        <p:nvGrpSpPr>
          <p:cNvPr name="Group 32" id="32"/>
          <p:cNvGrpSpPr/>
          <p:nvPr/>
        </p:nvGrpSpPr>
        <p:grpSpPr>
          <a:xfrm rot="0">
            <a:off x="10561320" y="3720084"/>
            <a:ext cx="6720840" cy="480060"/>
            <a:chOff x="0" y="0"/>
            <a:chExt cx="8961120" cy="640080"/>
          </a:xfrm>
        </p:grpSpPr>
        <p:sp>
          <p:nvSpPr>
            <p:cNvPr name="Freeform 33" id="33"/>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34" id="34"/>
            <p:cNvSpPr txBox="true"/>
            <p:nvPr/>
          </p:nvSpPr>
          <p:spPr>
            <a:xfrm>
              <a:off x="0" y="-47625"/>
              <a:ext cx="8961120" cy="687705"/>
            </a:xfrm>
            <a:prstGeom prst="rect">
              <a:avLst/>
            </a:prstGeom>
          </p:spPr>
          <p:txBody>
            <a:bodyPr anchor="ctr" rtlCol="false" tIns="0" lIns="0" bIns="0" rIns="0"/>
            <a:lstStyle/>
            <a:p>
              <a:pPr algn="l">
                <a:lnSpc>
                  <a:spcPts val="2519"/>
                </a:lnSpc>
              </a:pPr>
              <a:r>
                <a:rPr lang="en-US" sz="2099">
                  <a:solidFill>
                    <a:srgbClr val="D6E3EC"/>
                  </a:solidFill>
                  <a:latin typeface="Calibri (MS)"/>
                  <a:ea typeface="Calibri (MS)"/>
                  <a:cs typeface="Calibri (MS)"/>
                  <a:sym typeface="Calibri (MS)"/>
                </a:rPr>
                <a:t>Fitness is positive away from the origin</a:t>
              </a:r>
            </a:p>
          </p:txBody>
        </p:sp>
      </p:grpSp>
      <p:grpSp>
        <p:nvGrpSpPr>
          <p:cNvPr name="Group 35" id="35"/>
          <p:cNvGrpSpPr/>
          <p:nvPr/>
        </p:nvGrpSpPr>
        <p:grpSpPr>
          <a:xfrm rot="0">
            <a:off x="10149840" y="4296156"/>
            <a:ext cx="411480" cy="542683"/>
            <a:chOff x="0" y="0"/>
            <a:chExt cx="548640" cy="723577"/>
          </a:xfrm>
        </p:grpSpPr>
        <p:sp>
          <p:nvSpPr>
            <p:cNvPr name="Freeform 36" id="36"/>
            <p:cNvSpPr/>
            <p:nvPr/>
          </p:nvSpPr>
          <p:spPr>
            <a:xfrm flipH="false" flipV="false" rot="0">
              <a:off x="0" y="0"/>
              <a:ext cx="548640" cy="723577"/>
            </a:xfrm>
            <a:custGeom>
              <a:avLst/>
              <a:gdLst/>
              <a:ahLst/>
              <a:cxnLst/>
              <a:rect r="r" b="b" t="t" l="l"/>
              <a:pathLst>
                <a:path h="723577" w="548640">
                  <a:moveTo>
                    <a:pt x="0" y="0"/>
                  </a:moveTo>
                  <a:lnTo>
                    <a:pt x="548640" y="0"/>
                  </a:lnTo>
                  <a:lnTo>
                    <a:pt x="548640" y="723577"/>
                  </a:lnTo>
                  <a:lnTo>
                    <a:pt x="0" y="723577"/>
                  </a:lnTo>
                  <a:close/>
                </a:path>
              </a:pathLst>
            </a:custGeom>
            <a:blipFill>
              <a:blip r:embed="rId3">
                <a:alphaModFix amt="0"/>
              </a:blip>
              <a:stretch>
                <a:fillRect l="-99687" t="0" r="-99687" b="11539"/>
              </a:stretch>
            </a:blipFill>
          </p:spPr>
        </p:sp>
        <p:sp>
          <p:nvSpPr>
            <p:cNvPr name="TextBox 37" id="37"/>
            <p:cNvSpPr txBox="true"/>
            <p:nvPr/>
          </p:nvSpPr>
          <p:spPr>
            <a:xfrm>
              <a:off x="0" y="-57150"/>
              <a:ext cx="548640" cy="780727"/>
            </a:xfrm>
            <a:prstGeom prst="rect">
              <a:avLst/>
            </a:prstGeom>
          </p:spPr>
          <p:txBody>
            <a:bodyPr anchor="ctr" rtlCol="false" tIns="0" lIns="0" bIns="0" rIns="0"/>
            <a:lstStyle/>
            <a:p>
              <a:pPr algn="l">
                <a:lnSpc>
                  <a:spcPts val="3239"/>
                </a:lnSpc>
              </a:pPr>
              <a:r>
                <a:rPr lang="en-US" sz="2699" b="true">
                  <a:solidFill>
                    <a:srgbClr val="CFE3E9"/>
                  </a:solidFill>
                  <a:latin typeface="Calibri (MS) Bold"/>
                  <a:ea typeface="Calibri (MS) Bold"/>
                  <a:cs typeface="Calibri (MS) Bold"/>
                  <a:sym typeface="Calibri (MS) Bold"/>
                </a:rPr>
                <a:t>✓</a:t>
              </a:r>
            </a:p>
          </p:txBody>
        </p:sp>
      </p:grpSp>
      <p:grpSp>
        <p:nvGrpSpPr>
          <p:cNvPr name="Group 38" id="38"/>
          <p:cNvGrpSpPr/>
          <p:nvPr/>
        </p:nvGrpSpPr>
        <p:grpSpPr>
          <a:xfrm rot="0">
            <a:off x="10561320" y="4296156"/>
            <a:ext cx="6720840" cy="480060"/>
            <a:chOff x="0" y="0"/>
            <a:chExt cx="8961120" cy="640080"/>
          </a:xfrm>
        </p:grpSpPr>
        <p:sp>
          <p:nvSpPr>
            <p:cNvPr name="Freeform 39" id="39"/>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40" id="40"/>
            <p:cNvSpPr txBox="true"/>
            <p:nvPr/>
          </p:nvSpPr>
          <p:spPr>
            <a:xfrm>
              <a:off x="0" y="-47625"/>
              <a:ext cx="8961120" cy="687705"/>
            </a:xfrm>
            <a:prstGeom prst="rect">
              <a:avLst/>
            </a:prstGeom>
          </p:spPr>
          <p:txBody>
            <a:bodyPr anchor="ctr" rtlCol="false" tIns="0" lIns="0" bIns="0" rIns="0"/>
            <a:lstStyle/>
            <a:p>
              <a:pPr algn="l">
                <a:lnSpc>
                  <a:spcPts val="2519"/>
                </a:lnSpc>
              </a:pPr>
              <a:r>
                <a:rPr lang="en-US" sz="2099">
                  <a:solidFill>
                    <a:srgbClr val="D6E3EC"/>
                  </a:solidFill>
                  <a:latin typeface="Calibri (MS)"/>
                  <a:ea typeface="Calibri (MS)"/>
                  <a:cs typeface="Calibri (MS)"/>
                  <a:sym typeface="Calibri (MS)"/>
                </a:rPr>
                <a:t>Scalar and vectorized evaluations agree</a:t>
              </a:r>
            </a:p>
          </p:txBody>
        </p:sp>
      </p:grpSp>
      <p:grpSp>
        <p:nvGrpSpPr>
          <p:cNvPr name="Group 41" id="41"/>
          <p:cNvGrpSpPr/>
          <p:nvPr/>
        </p:nvGrpSpPr>
        <p:grpSpPr>
          <a:xfrm rot="0">
            <a:off x="10149840" y="4872228"/>
            <a:ext cx="411480" cy="542683"/>
            <a:chOff x="0" y="0"/>
            <a:chExt cx="548640" cy="723577"/>
          </a:xfrm>
        </p:grpSpPr>
        <p:sp>
          <p:nvSpPr>
            <p:cNvPr name="Freeform 42" id="42"/>
            <p:cNvSpPr/>
            <p:nvPr/>
          </p:nvSpPr>
          <p:spPr>
            <a:xfrm flipH="false" flipV="false" rot="0">
              <a:off x="0" y="0"/>
              <a:ext cx="548640" cy="723577"/>
            </a:xfrm>
            <a:custGeom>
              <a:avLst/>
              <a:gdLst/>
              <a:ahLst/>
              <a:cxnLst/>
              <a:rect r="r" b="b" t="t" l="l"/>
              <a:pathLst>
                <a:path h="723577" w="548640">
                  <a:moveTo>
                    <a:pt x="0" y="0"/>
                  </a:moveTo>
                  <a:lnTo>
                    <a:pt x="548640" y="0"/>
                  </a:lnTo>
                  <a:lnTo>
                    <a:pt x="548640" y="723577"/>
                  </a:lnTo>
                  <a:lnTo>
                    <a:pt x="0" y="723577"/>
                  </a:lnTo>
                  <a:close/>
                </a:path>
              </a:pathLst>
            </a:custGeom>
            <a:blipFill>
              <a:blip r:embed="rId3">
                <a:alphaModFix amt="0"/>
              </a:blip>
              <a:stretch>
                <a:fillRect l="-99687" t="0" r="-99687" b="11539"/>
              </a:stretch>
            </a:blipFill>
          </p:spPr>
        </p:sp>
        <p:sp>
          <p:nvSpPr>
            <p:cNvPr name="TextBox 43" id="43"/>
            <p:cNvSpPr txBox="true"/>
            <p:nvPr/>
          </p:nvSpPr>
          <p:spPr>
            <a:xfrm>
              <a:off x="0" y="-57150"/>
              <a:ext cx="548640" cy="780727"/>
            </a:xfrm>
            <a:prstGeom prst="rect">
              <a:avLst/>
            </a:prstGeom>
          </p:spPr>
          <p:txBody>
            <a:bodyPr anchor="ctr" rtlCol="false" tIns="0" lIns="0" bIns="0" rIns="0"/>
            <a:lstStyle/>
            <a:p>
              <a:pPr algn="l">
                <a:lnSpc>
                  <a:spcPts val="3239"/>
                </a:lnSpc>
              </a:pPr>
              <a:r>
                <a:rPr lang="en-US" sz="2699" b="true">
                  <a:solidFill>
                    <a:srgbClr val="CFE3E9"/>
                  </a:solidFill>
                  <a:latin typeface="Calibri (MS) Bold"/>
                  <a:ea typeface="Calibri (MS) Bold"/>
                  <a:cs typeface="Calibri (MS) Bold"/>
                  <a:sym typeface="Calibri (MS) Bold"/>
                </a:rPr>
                <a:t>✓</a:t>
              </a:r>
            </a:p>
          </p:txBody>
        </p:sp>
      </p:grpSp>
      <p:grpSp>
        <p:nvGrpSpPr>
          <p:cNvPr name="Group 44" id="44"/>
          <p:cNvGrpSpPr/>
          <p:nvPr/>
        </p:nvGrpSpPr>
        <p:grpSpPr>
          <a:xfrm rot="0">
            <a:off x="10561320" y="4872228"/>
            <a:ext cx="6720840" cy="480060"/>
            <a:chOff x="0" y="0"/>
            <a:chExt cx="8961120" cy="640080"/>
          </a:xfrm>
        </p:grpSpPr>
        <p:sp>
          <p:nvSpPr>
            <p:cNvPr name="Freeform 45" id="45"/>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46" id="46"/>
            <p:cNvSpPr txBox="true"/>
            <p:nvPr/>
          </p:nvSpPr>
          <p:spPr>
            <a:xfrm>
              <a:off x="0" y="-47625"/>
              <a:ext cx="8961120" cy="687705"/>
            </a:xfrm>
            <a:prstGeom prst="rect">
              <a:avLst/>
            </a:prstGeom>
          </p:spPr>
          <p:txBody>
            <a:bodyPr anchor="ctr" rtlCol="false" tIns="0" lIns="0" bIns="0" rIns="0"/>
            <a:lstStyle/>
            <a:p>
              <a:pPr algn="l">
                <a:lnSpc>
                  <a:spcPts val="2519"/>
                </a:lnSpc>
              </a:pPr>
              <a:r>
                <a:rPr lang="en-US" sz="2099">
                  <a:solidFill>
                    <a:srgbClr val="D6E3EC"/>
                  </a:solidFill>
                  <a:latin typeface="Calibri (MS)"/>
                  <a:ea typeface="Calibri (MS)"/>
                  <a:cs typeface="Calibri (MS)"/>
                  <a:sym typeface="Calibri (MS)"/>
                </a:rPr>
                <a:t>Best-so-far fitness never increases</a:t>
              </a:r>
            </a:p>
          </p:txBody>
        </p:sp>
      </p:grpSp>
      <p:grpSp>
        <p:nvGrpSpPr>
          <p:cNvPr name="Group 47" id="47"/>
          <p:cNvGrpSpPr/>
          <p:nvPr/>
        </p:nvGrpSpPr>
        <p:grpSpPr>
          <a:xfrm rot="0">
            <a:off x="10149840" y="5448300"/>
            <a:ext cx="411480" cy="542683"/>
            <a:chOff x="0" y="0"/>
            <a:chExt cx="548640" cy="723577"/>
          </a:xfrm>
        </p:grpSpPr>
        <p:sp>
          <p:nvSpPr>
            <p:cNvPr name="Freeform 48" id="48"/>
            <p:cNvSpPr/>
            <p:nvPr/>
          </p:nvSpPr>
          <p:spPr>
            <a:xfrm flipH="false" flipV="false" rot="0">
              <a:off x="0" y="0"/>
              <a:ext cx="548640" cy="723577"/>
            </a:xfrm>
            <a:custGeom>
              <a:avLst/>
              <a:gdLst/>
              <a:ahLst/>
              <a:cxnLst/>
              <a:rect r="r" b="b" t="t" l="l"/>
              <a:pathLst>
                <a:path h="723577" w="548640">
                  <a:moveTo>
                    <a:pt x="0" y="0"/>
                  </a:moveTo>
                  <a:lnTo>
                    <a:pt x="548640" y="0"/>
                  </a:lnTo>
                  <a:lnTo>
                    <a:pt x="548640" y="723577"/>
                  </a:lnTo>
                  <a:lnTo>
                    <a:pt x="0" y="723577"/>
                  </a:lnTo>
                  <a:close/>
                </a:path>
              </a:pathLst>
            </a:custGeom>
            <a:blipFill>
              <a:blip r:embed="rId3">
                <a:alphaModFix amt="0"/>
              </a:blip>
              <a:stretch>
                <a:fillRect l="-99687" t="0" r="-99687" b="11539"/>
              </a:stretch>
            </a:blipFill>
          </p:spPr>
        </p:sp>
        <p:sp>
          <p:nvSpPr>
            <p:cNvPr name="TextBox 49" id="49"/>
            <p:cNvSpPr txBox="true"/>
            <p:nvPr/>
          </p:nvSpPr>
          <p:spPr>
            <a:xfrm>
              <a:off x="0" y="-57150"/>
              <a:ext cx="548640" cy="780727"/>
            </a:xfrm>
            <a:prstGeom prst="rect">
              <a:avLst/>
            </a:prstGeom>
          </p:spPr>
          <p:txBody>
            <a:bodyPr anchor="ctr" rtlCol="false" tIns="0" lIns="0" bIns="0" rIns="0"/>
            <a:lstStyle/>
            <a:p>
              <a:pPr algn="l">
                <a:lnSpc>
                  <a:spcPts val="3239"/>
                </a:lnSpc>
              </a:pPr>
              <a:r>
                <a:rPr lang="en-US" sz="2699" b="true">
                  <a:solidFill>
                    <a:srgbClr val="CFE3E9"/>
                  </a:solidFill>
                  <a:latin typeface="Calibri (MS) Bold"/>
                  <a:ea typeface="Calibri (MS) Bold"/>
                  <a:cs typeface="Calibri (MS) Bold"/>
                  <a:sym typeface="Calibri (MS) Bold"/>
                </a:rPr>
                <a:t>✓</a:t>
              </a:r>
            </a:p>
          </p:txBody>
        </p:sp>
      </p:grpSp>
      <p:grpSp>
        <p:nvGrpSpPr>
          <p:cNvPr name="Group 50" id="50"/>
          <p:cNvGrpSpPr/>
          <p:nvPr/>
        </p:nvGrpSpPr>
        <p:grpSpPr>
          <a:xfrm rot="0">
            <a:off x="10561320" y="5448300"/>
            <a:ext cx="6720840" cy="480060"/>
            <a:chOff x="0" y="0"/>
            <a:chExt cx="8961120" cy="640080"/>
          </a:xfrm>
        </p:grpSpPr>
        <p:sp>
          <p:nvSpPr>
            <p:cNvPr name="Freeform 51" id="51"/>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52" id="52"/>
            <p:cNvSpPr txBox="true"/>
            <p:nvPr/>
          </p:nvSpPr>
          <p:spPr>
            <a:xfrm>
              <a:off x="0" y="-47625"/>
              <a:ext cx="8961120" cy="687705"/>
            </a:xfrm>
            <a:prstGeom prst="rect">
              <a:avLst/>
            </a:prstGeom>
          </p:spPr>
          <p:txBody>
            <a:bodyPr anchor="ctr" rtlCol="false" tIns="0" lIns="0" bIns="0" rIns="0"/>
            <a:lstStyle/>
            <a:p>
              <a:pPr algn="l">
                <a:lnSpc>
                  <a:spcPts val="2519"/>
                </a:lnSpc>
              </a:pPr>
              <a:r>
                <a:rPr lang="en-US" sz="2099">
                  <a:solidFill>
                    <a:srgbClr val="D6E3EC"/>
                  </a:solidFill>
                  <a:latin typeface="Calibri (MS)"/>
                  <a:ea typeface="Calibri (MS)"/>
                  <a:cs typeface="Calibri (MS)"/>
                  <a:sym typeface="Calibri (MS)"/>
                </a:rPr>
                <a:t>100-gen run reaches fitness below 1.0</a:t>
              </a:r>
            </a:p>
          </p:txBody>
        </p:sp>
      </p:grpSp>
      <p:grpSp>
        <p:nvGrpSpPr>
          <p:cNvPr name="Group 53" id="53"/>
          <p:cNvGrpSpPr/>
          <p:nvPr/>
        </p:nvGrpSpPr>
        <p:grpSpPr>
          <a:xfrm rot="0">
            <a:off x="10149840" y="6024372"/>
            <a:ext cx="411480" cy="542683"/>
            <a:chOff x="0" y="0"/>
            <a:chExt cx="548640" cy="723577"/>
          </a:xfrm>
        </p:grpSpPr>
        <p:sp>
          <p:nvSpPr>
            <p:cNvPr name="Freeform 54" id="54"/>
            <p:cNvSpPr/>
            <p:nvPr/>
          </p:nvSpPr>
          <p:spPr>
            <a:xfrm flipH="false" flipV="false" rot="0">
              <a:off x="0" y="0"/>
              <a:ext cx="548640" cy="723577"/>
            </a:xfrm>
            <a:custGeom>
              <a:avLst/>
              <a:gdLst/>
              <a:ahLst/>
              <a:cxnLst/>
              <a:rect r="r" b="b" t="t" l="l"/>
              <a:pathLst>
                <a:path h="723577" w="548640">
                  <a:moveTo>
                    <a:pt x="0" y="0"/>
                  </a:moveTo>
                  <a:lnTo>
                    <a:pt x="548640" y="0"/>
                  </a:lnTo>
                  <a:lnTo>
                    <a:pt x="548640" y="723577"/>
                  </a:lnTo>
                  <a:lnTo>
                    <a:pt x="0" y="723577"/>
                  </a:lnTo>
                  <a:close/>
                </a:path>
              </a:pathLst>
            </a:custGeom>
            <a:blipFill>
              <a:blip r:embed="rId3">
                <a:alphaModFix amt="0"/>
              </a:blip>
              <a:stretch>
                <a:fillRect l="-99687" t="0" r="-99687" b="11539"/>
              </a:stretch>
            </a:blipFill>
          </p:spPr>
        </p:sp>
        <p:sp>
          <p:nvSpPr>
            <p:cNvPr name="TextBox 55" id="55"/>
            <p:cNvSpPr txBox="true"/>
            <p:nvPr/>
          </p:nvSpPr>
          <p:spPr>
            <a:xfrm>
              <a:off x="0" y="-57150"/>
              <a:ext cx="548640" cy="780727"/>
            </a:xfrm>
            <a:prstGeom prst="rect">
              <a:avLst/>
            </a:prstGeom>
          </p:spPr>
          <p:txBody>
            <a:bodyPr anchor="ctr" rtlCol="false" tIns="0" lIns="0" bIns="0" rIns="0"/>
            <a:lstStyle/>
            <a:p>
              <a:pPr algn="l">
                <a:lnSpc>
                  <a:spcPts val="3239"/>
                </a:lnSpc>
              </a:pPr>
              <a:r>
                <a:rPr lang="en-US" sz="2699" b="true">
                  <a:solidFill>
                    <a:srgbClr val="CFE3E9"/>
                  </a:solidFill>
                  <a:latin typeface="Calibri (MS) Bold"/>
                  <a:ea typeface="Calibri (MS) Bold"/>
                  <a:cs typeface="Calibri (MS) Bold"/>
                  <a:sym typeface="Calibri (MS) Bold"/>
                </a:rPr>
                <a:t>✓</a:t>
              </a:r>
            </a:p>
          </p:txBody>
        </p:sp>
      </p:grpSp>
      <p:grpSp>
        <p:nvGrpSpPr>
          <p:cNvPr name="Group 56" id="56"/>
          <p:cNvGrpSpPr/>
          <p:nvPr/>
        </p:nvGrpSpPr>
        <p:grpSpPr>
          <a:xfrm rot="0">
            <a:off x="10561320" y="6024372"/>
            <a:ext cx="6720840" cy="480060"/>
            <a:chOff x="0" y="0"/>
            <a:chExt cx="8961120" cy="640080"/>
          </a:xfrm>
        </p:grpSpPr>
        <p:sp>
          <p:nvSpPr>
            <p:cNvPr name="Freeform 57" id="57"/>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58" id="58"/>
            <p:cNvSpPr txBox="true"/>
            <p:nvPr/>
          </p:nvSpPr>
          <p:spPr>
            <a:xfrm>
              <a:off x="0" y="-47625"/>
              <a:ext cx="8961120" cy="687705"/>
            </a:xfrm>
            <a:prstGeom prst="rect">
              <a:avLst/>
            </a:prstGeom>
          </p:spPr>
          <p:txBody>
            <a:bodyPr anchor="ctr" rtlCol="false" tIns="0" lIns="0" bIns="0" rIns="0"/>
            <a:lstStyle/>
            <a:p>
              <a:pPr algn="l">
                <a:lnSpc>
                  <a:spcPts val="2519"/>
                </a:lnSpc>
              </a:pPr>
              <a:r>
                <a:rPr lang="en-US" sz="2099">
                  <a:solidFill>
                    <a:srgbClr val="D6E3EC"/>
                  </a:solidFill>
                  <a:latin typeface="Calibri (MS)"/>
                  <a:ea typeface="Calibri (MS)"/>
                  <a:cs typeface="Calibri (MS)"/>
                  <a:sym typeface="Calibri (MS)"/>
                </a:rPr>
                <a:t>Final chromosome stays within [-5, 5]</a:t>
              </a:r>
            </a:p>
          </p:txBody>
        </p:sp>
      </p:grpSp>
      <p:sp>
        <p:nvSpPr>
          <p:cNvPr name="AutoShape 59" id="59"/>
          <p:cNvSpPr/>
          <p:nvPr/>
        </p:nvSpPr>
        <p:spPr>
          <a:xfrm>
            <a:off x="10140319" y="6700656"/>
            <a:ext cx="6945632" cy="19032"/>
          </a:xfrm>
          <a:prstGeom prst="line">
            <a:avLst/>
          </a:prstGeom>
          <a:ln cap="rnd" w="9525">
            <a:solidFill>
              <a:srgbClr val="1C4A66"/>
            </a:solidFill>
            <a:prstDash val="solid"/>
            <a:headEnd type="none" len="sm" w="sm"/>
            <a:tailEnd type="none" len="sm" w="sm"/>
          </a:ln>
        </p:spPr>
      </p:sp>
      <p:grpSp>
        <p:nvGrpSpPr>
          <p:cNvPr name="Group 60" id="60"/>
          <p:cNvGrpSpPr/>
          <p:nvPr/>
        </p:nvGrpSpPr>
        <p:grpSpPr>
          <a:xfrm rot="0">
            <a:off x="10149840" y="6915912"/>
            <a:ext cx="6926580" cy="2057400"/>
            <a:chOff x="0" y="0"/>
            <a:chExt cx="9235440" cy="2743200"/>
          </a:xfrm>
        </p:grpSpPr>
        <p:sp>
          <p:nvSpPr>
            <p:cNvPr name="Freeform 61" id="61"/>
            <p:cNvSpPr/>
            <p:nvPr/>
          </p:nvSpPr>
          <p:spPr>
            <a:xfrm flipH="false" flipV="false" rot="0">
              <a:off x="0" y="0"/>
              <a:ext cx="9235440" cy="2743200"/>
            </a:xfrm>
            <a:custGeom>
              <a:avLst/>
              <a:gdLst/>
              <a:ahLst/>
              <a:cxnLst/>
              <a:rect r="r" b="b" t="t" l="l"/>
              <a:pathLst>
                <a:path h="2743200" w="9235440">
                  <a:moveTo>
                    <a:pt x="0" y="0"/>
                  </a:moveTo>
                  <a:lnTo>
                    <a:pt x="9235440" y="0"/>
                  </a:lnTo>
                  <a:lnTo>
                    <a:pt x="9235440" y="2743200"/>
                  </a:lnTo>
                  <a:lnTo>
                    <a:pt x="0" y="2743200"/>
                  </a:lnTo>
                  <a:close/>
                </a:path>
              </a:pathLst>
            </a:custGeom>
            <a:blipFill>
              <a:blip r:embed="rId3">
                <a:alphaModFix amt="0"/>
              </a:blip>
              <a:stretch>
                <a:fillRect l="0" t="-15599" r="0" b="-15599"/>
              </a:stretch>
            </a:blipFill>
          </p:spPr>
        </p:sp>
        <p:sp>
          <p:nvSpPr>
            <p:cNvPr name="TextBox 62" id="62"/>
            <p:cNvSpPr txBox="true"/>
            <p:nvPr/>
          </p:nvSpPr>
          <p:spPr>
            <a:xfrm>
              <a:off x="0" y="-104775"/>
              <a:ext cx="9235440" cy="2847975"/>
            </a:xfrm>
            <a:prstGeom prst="rect">
              <a:avLst/>
            </a:prstGeom>
          </p:spPr>
          <p:txBody>
            <a:bodyPr anchor="ctr" rtlCol="false" tIns="0" lIns="0" bIns="0" rIns="0"/>
            <a:lstStyle/>
            <a:p>
              <a:pPr algn="l">
                <a:lnSpc>
                  <a:spcPts val="3150"/>
                </a:lnSpc>
              </a:pPr>
              <a:r>
                <a:rPr lang="en-US" sz="2100" i="true">
                  <a:solidFill>
                    <a:srgbClr val="E7EEF3"/>
                  </a:solidFill>
                  <a:latin typeface="Calibri (MS) Italics"/>
                  <a:ea typeface="Calibri (MS) Italics"/>
                  <a:cs typeface="Calibri (MS) Italics"/>
                  <a:sym typeface="Calibri (MS) Italics"/>
                </a:rPr>
                <a:t>Interpretation: the run is close to the mathematical optimum but not exact — typical for a stochastic search. A different seed or a longer budget could close the remaining gap.</a:t>
              </a:r>
            </a:p>
          </p:txBody>
        </p:sp>
      </p:grpSp>
      <p:grpSp>
        <p:nvGrpSpPr>
          <p:cNvPr name="Group 63" id="63"/>
          <p:cNvGrpSpPr/>
          <p:nvPr/>
        </p:nvGrpSpPr>
        <p:grpSpPr>
          <a:xfrm rot="0">
            <a:off x="16774668" y="9669780"/>
            <a:ext cx="1097280" cy="411480"/>
            <a:chOff x="0" y="0"/>
            <a:chExt cx="1463040" cy="548640"/>
          </a:xfrm>
        </p:grpSpPr>
        <p:sp>
          <p:nvSpPr>
            <p:cNvPr name="Freeform 64" id="64"/>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65" id="65"/>
            <p:cNvSpPr txBox="true"/>
            <p:nvPr/>
          </p:nvSpPr>
          <p:spPr>
            <a:xfrm>
              <a:off x="0" y="-28575"/>
              <a:ext cx="1463040" cy="577215"/>
            </a:xfrm>
            <a:prstGeom prst="rect">
              <a:avLst/>
            </a:prstGeom>
          </p:spPr>
          <p:txBody>
            <a:bodyPr anchor="ctr" rtlCol="false" tIns="0" lIns="0" bIns="0" rIns="0"/>
            <a:lstStyle/>
            <a:p>
              <a:pPr algn="r">
                <a:lnSpc>
                  <a:spcPts val="1980"/>
                </a:lnSpc>
              </a:pPr>
              <a:r>
                <a:rPr lang="en-US" sz="1650">
                  <a:solidFill>
                    <a:srgbClr val="5B6472"/>
                  </a:solidFill>
                  <a:latin typeface="Calibri (MS)"/>
                  <a:ea typeface="Calibri (MS)"/>
                  <a:cs typeface="Calibri (MS)"/>
                  <a:sym typeface="Calibri (MS)"/>
                </a:rPr>
                <a:t>12 / 13</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B2A4A"/>
        </a:solidFill>
      </p:bgPr>
    </p:bg>
    <p:spTree>
      <p:nvGrpSpPr>
        <p:cNvPr id="1" name=""/>
        <p:cNvGrpSpPr/>
        <p:nvPr/>
      </p:nvGrpSpPr>
      <p:grpSpPr>
        <a:xfrm>
          <a:off x="0" y="0"/>
          <a:ext cx="0" cy="0"/>
          <a:chOff x="0" y="0"/>
          <a:chExt cx="0" cy="0"/>
        </a:xfrm>
      </p:grpSpPr>
      <p:grpSp>
        <p:nvGrpSpPr>
          <p:cNvPr name="Group 2" id="2"/>
          <p:cNvGrpSpPr/>
          <p:nvPr/>
        </p:nvGrpSpPr>
        <p:grpSpPr>
          <a:xfrm rot="0">
            <a:off x="14538960" y="-1920240"/>
            <a:ext cx="7132320" cy="7132320"/>
            <a:chOff x="0" y="0"/>
            <a:chExt cx="9509760" cy="9509760"/>
          </a:xfrm>
        </p:grpSpPr>
        <p:sp>
          <p:nvSpPr>
            <p:cNvPr name="Freeform 3" id="3"/>
            <p:cNvSpPr/>
            <p:nvPr/>
          </p:nvSpPr>
          <p:spPr>
            <a:xfrm flipH="false" flipV="false" rot="0">
              <a:off x="0" y="0"/>
              <a:ext cx="9509760" cy="9509760"/>
            </a:xfrm>
            <a:custGeom>
              <a:avLst/>
              <a:gdLst/>
              <a:ahLst/>
              <a:cxnLst/>
              <a:rect r="r" b="b" t="t" l="l"/>
              <a:pathLst>
                <a:path h="9509760" w="9509760">
                  <a:moveTo>
                    <a:pt x="0" y="4754880"/>
                  </a:moveTo>
                  <a:cubicBezTo>
                    <a:pt x="0" y="2128774"/>
                    <a:pt x="2128774" y="0"/>
                    <a:pt x="4754880" y="0"/>
                  </a:cubicBezTo>
                  <a:cubicBezTo>
                    <a:pt x="7380986" y="0"/>
                    <a:pt x="9509760" y="2128774"/>
                    <a:pt x="9509760" y="4754880"/>
                  </a:cubicBezTo>
                  <a:cubicBezTo>
                    <a:pt x="9509760" y="7380986"/>
                    <a:pt x="7380986" y="9509760"/>
                    <a:pt x="4754880" y="9509760"/>
                  </a:cubicBezTo>
                  <a:cubicBezTo>
                    <a:pt x="2128774" y="9509760"/>
                    <a:pt x="0" y="7380986"/>
                    <a:pt x="0" y="4754880"/>
                  </a:cubicBezTo>
                  <a:close/>
                </a:path>
              </a:pathLst>
            </a:custGeom>
            <a:solidFill>
              <a:srgbClr val="081D33"/>
            </a:solidFill>
          </p:spPr>
        </p:sp>
      </p:grpSp>
      <p:grpSp>
        <p:nvGrpSpPr>
          <p:cNvPr name="Group 4" id="4"/>
          <p:cNvGrpSpPr/>
          <p:nvPr/>
        </p:nvGrpSpPr>
        <p:grpSpPr>
          <a:xfrm rot="0">
            <a:off x="-1920240" y="6583680"/>
            <a:ext cx="5486400" cy="5486400"/>
            <a:chOff x="0" y="0"/>
            <a:chExt cx="7315200" cy="7315200"/>
          </a:xfrm>
        </p:grpSpPr>
        <p:sp>
          <p:nvSpPr>
            <p:cNvPr name="Freeform 5" id="5"/>
            <p:cNvSpPr/>
            <p:nvPr/>
          </p:nvSpPr>
          <p:spPr>
            <a:xfrm flipH="false" flipV="false" rot="0">
              <a:off x="0" y="0"/>
              <a:ext cx="7315200" cy="7315200"/>
            </a:xfrm>
            <a:custGeom>
              <a:avLst/>
              <a:gdLst/>
              <a:ahLst/>
              <a:cxnLst/>
              <a:rect r="r" b="b" t="t" l="l"/>
              <a:pathLst>
                <a:path h="7315200" w="7315200">
                  <a:moveTo>
                    <a:pt x="0" y="3657600"/>
                  </a:moveTo>
                  <a:cubicBezTo>
                    <a:pt x="0" y="1637538"/>
                    <a:pt x="1637538" y="0"/>
                    <a:pt x="3657600" y="0"/>
                  </a:cubicBezTo>
                  <a:cubicBezTo>
                    <a:pt x="5677662" y="0"/>
                    <a:pt x="7315200" y="1637538"/>
                    <a:pt x="7315200" y="3657600"/>
                  </a:cubicBezTo>
                  <a:cubicBezTo>
                    <a:pt x="7315200" y="5677662"/>
                    <a:pt x="5677662" y="7315200"/>
                    <a:pt x="3657600" y="7315200"/>
                  </a:cubicBezTo>
                  <a:cubicBezTo>
                    <a:pt x="1637538" y="7315200"/>
                    <a:pt x="0" y="5677662"/>
                    <a:pt x="0" y="3657600"/>
                  </a:cubicBezTo>
                  <a:close/>
                </a:path>
              </a:pathLst>
            </a:custGeom>
            <a:solidFill>
              <a:srgbClr val="1C7293">
                <a:alpha val="3137"/>
              </a:srgbClr>
            </a:solidFill>
          </p:spPr>
        </p:sp>
      </p:grpSp>
      <p:grpSp>
        <p:nvGrpSpPr>
          <p:cNvPr name="Group 6" id="6"/>
          <p:cNvGrpSpPr/>
          <p:nvPr/>
        </p:nvGrpSpPr>
        <p:grpSpPr>
          <a:xfrm rot="0">
            <a:off x="822960" y="576072"/>
            <a:ext cx="10972800" cy="480060"/>
            <a:chOff x="0" y="0"/>
            <a:chExt cx="14630400" cy="640080"/>
          </a:xfrm>
        </p:grpSpPr>
        <p:sp>
          <p:nvSpPr>
            <p:cNvPr name="Freeform 7" id="7"/>
            <p:cNvSpPr/>
            <p:nvPr/>
          </p:nvSpPr>
          <p:spPr>
            <a:xfrm flipH="false" flipV="false" rot="0">
              <a:off x="0" y="0"/>
              <a:ext cx="14630400" cy="640080"/>
            </a:xfrm>
            <a:custGeom>
              <a:avLst/>
              <a:gdLst/>
              <a:ahLst/>
              <a:cxnLst/>
              <a:rect r="r" b="b" t="t" l="l"/>
              <a:pathLst>
                <a:path h="640080" w="14630400">
                  <a:moveTo>
                    <a:pt x="0" y="0"/>
                  </a:moveTo>
                  <a:lnTo>
                    <a:pt x="14630400" y="0"/>
                  </a:lnTo>
                  <a:lnTo>
                    <a:pt x="14630400" y="640080"/>
                  </a:lnTo>
                  <a:lnTo>
                    <a:pt x="0" y="640080"/>
                  </a:lnTo>
                  <a:close/>
                </a:path>
              </a:pathLst>
            </a:custGeom>
            <a:blipFill>
              <a:blip r:embed="rId3">
                <a:alphaModFix amt="0"/>
              </a:blip>
              <a:stretch>
                <a:fillRect l="0" t="-395372" r="0" b="-395372"/>
              </a:stretch>
            </a:blipFill>
          </p:spPr>
        </p:sp>
        <p:sp>
          <p:nvSpPr>
            <p:cNvPr name="TextBox 8" id="8"/>
            <p:cNvSpPr txBox="true"/>
            <p:nvPr/>
          </p:nvSpPr>
          <p:spPr>
            <a:xfrm>
              <a:off x="0" y="-47625"/>
              <a:ext cx="14630400" cy="687705"/>
            </a:xfrm>
            <a:prstGeom prst="rect">
              <a:avLst/>
            </a:prstGeom>
          </p:spPr>
          <p:txBody>
            <a:bodyPr anchor="ctr" rtlCol="false" tIns="0" lIns="0" bIns="0" rIns="0"/>
            <a:lstStyle/>
            <a:p>
              <a:pPr algn="l">
                <a:lnSpc>
                  <a:spcPts val="2340"/>
                </a:lnSpc>
              </a:pPr>
              <a:r>
                <a:rPr lang="en-US" b="true" sz="1950" spc="299">
                  <a:solidFill>
                    <a:srgbClr val="7FB3CE"/>
                  </a:solidFill>
                  <a:latin typeface="Calibri (MS) Bold"/>
                  <a:ea typeface="Calibri (MS) Bold"/>
                  <a:cs typeface="Calibri (MS) Bold"/>
                  <a:sym typeface="Calibri (MS) Bold"/>
                </a:rPr>
                <a:t>SUMMARY &amp; CONCLUSIONS</a:t>
              </a:r>
            </a:p>
          </p:txBody>
        </p:sp>
      </p:grpSp>
      <p:grpSp>
        <p:nvGrpSpPr>
          <p:cNvPr name="Group 9" id="9"/>
          <p:cNvGrpSpPr/>
          <p:nvPr/>
        </p:nvGrpSpPr>
        <p:grpSpPr>
          <a:xfrm rot="0">
            <a:off x="1200150" y="548316"/>
            <a:ext cx="15910560" cy="3303594"/>
            <a:chOff x="0" y="0"/>
            <a:chExt cx="21214080" cy="4404792"/>
          </a:xfrm>
        </p:grpSpPr>
        <p:sp>
          <p:nvSpPr>
            <p:cNvPr name="Freeform 10" id="10"/>
            <p:cNvSpPr/>
            <p:nvPr/>
          </p:nvSpPr>
          <p:spPr>
            <a:xfrm flipH="false" flipV="false" rot="0">
              <a:off x="0" y="0"/>
              <a:ext cx="21214080" cy="4404792"/>
            </a:xfrm>
            <a:custGeom>
              <a:avLst/>
              <a:gdLst/>
              <a:ahLst/>
              <a:cxnLst/>
              <a:rect r="r" b="b" t="t" l="l"/>
              <a:pathLst>
                <a:path h="4404792" w="21214080">
                  <a:moveTo>
                    <a:pt x="0" y="0"/>
                  </a:moveTo>
                  <a:lnTo>
                    <a:pt x="21214080" y="0"/>
                  </a:lnTo>
                  <a:lnTo>
                    <a:pt x="21214080" y="4404792"/>
                  </a:lnTo>
                  <a:lnTo>
                    <a:pt x="0" y="4404792"/>
                  </a:lnTo>
                  <a:close/>
                </a:path>
              </a:pathLst>
            </a:custGeom>
            <a:blipFill>
              <a:blip r:embed="rId3">
                <a:alphaModFix amt="0"/>
              </a:blip>
              <a:stretch>
                <a:fillRect l="0" t="-79311" r="0" b="-8374"/>
              </a:stretch>
            </a:blipFill>
          </p:spPr>
        </p:sp>
        <p:sp>
          <p:nvSpPr>
            <p:cNvPr name="TextBox 11" id="11"/>
            <p:cNvSpPr txBox="true"/>
            <p:nvPr/>
          </p:nvSpPr>
          <p:spPr>
            <a:xfrm>
              <a:off x="0" y="-19050"/>
              <a:ext cx="21214080" cy="4423842"/>
            </a:xfrm>
            <a:prstGeom prst="rect">
              <a:avLst/>
            </a:prstGeom>
          </p:spPr>
          <p:txBody>
            <a:bodyPr anchor="ctr" rtlCol="false" tIns="0" lIns="0" bIns="0" rIns="0"/>
            <a:lstStyle/>
            <a:p>
              <a:pPr algn="ctr">
                <a:lnSpc>
                  <a:spcPts val="5400"/>
                </a:lnSpc>
              </a:pPr>
              <a:r>
                <a:rPr lang="en-US" sz="4500" b="true">
                  <a:solidFill>
                    <a:srgbClr val="FFFFFF"/>
                  </a:solidFill>
                  <a:latin typeface="Cambria Bold"/>
                  <a:ea typeface="Cambria Bold"/>
                  <a:cs typeface="Cambria Bold"/>
                  <a:sym typeface="Cambria Bold"/>
                </a:rPr>
                <a:t>The GA reached the basin the local optimizer couldn't</a:t>
              </a:r>
            </a:p>
          </p:txBody>
        </p:sp>
      </p:grpSp>
      <p:grpSp>
        <p:nvGrpSpPr>
          <p:cNvPr name="Group 12" id="12"/>
          <p:cNvGrpSpPr/>
          <p:nvPr/>
        </p:nvGrpSpPr>
        <p:grpSpPr>
          <a:xfrm rot="0">
            <a:off x="822960" y="3630930"/>
            <a:ext cx="5280660" cy="4251960"/>
            <a:chOff x="0" y="0"/>
            <a:chExt cx="7040880" cy="5669280"/>
          </a:xfrm>
        </p:grpSpPr>
        <p:sp>
          <p:nvSpPr>
            <p:cNvPr name="Freeform 13" id="13"/>
            <p:cNvSpPr/>
            <p:nvPr/>
          </p:nvSpPr>
          <p:spPr>
            <a:xfrm flipH="false" flipV="false" rot="0">
              <a:off x="0" y="0"/>
              <a:ext cx="7040880" cy="5669280"/>
            </a:xfrm>
            <a:custGeom>
              <a:avLst/>
              <a:gdLst/>
              <a:ahLst/>
              <a:cxnLst/>
              <a:rect r="r" b="b" t="t" l="l"/>
              <a:pathLst>
                <a:path h="5669280" w="7040880">
                  <a:moveTo>
                    <a:pt x="0" y="146304"/>
                  </a:moveTo>
                  <a:cubicBezTo>
                    <a:pt x="0" y="65532"/>
                    <a:pt x="65532" y="0"/>
                    <a:pt x="146304" y="0"/>
                  </a:cubicBezTo>
                  <a:lnTo>
                    <a:pt x="6894576" y="0"/>
                  </a:lnTo>
                  <a:cubicBezTo>
                    <a:pt x="6975348" y="0"/>
                    <a:pt x="7040880" y="65532"/>
                    <a:pt x="7040880" y="146304"/>
                  </a:cubicBezTo>
                  <a:lnTo>
                    <a:pt x="7040880" y="5522976"/>
                  </a:lnTo>
                  <a:cubicBezTo>
                    <a:pt x="7040880" y="5603748"/>
                    <a:pt x="6975348" y="5669280"/>
                    <a:pt x="6894576" y="5669280"/>
                  </a:cubicBezTo>
                  <a:lnTo>
                    <a:pt x="146304" y="5669280"/>
                  </a:lnTo>
                  <a:cubicBezTo>
                    <a:pt x="65532" y="5669280"/>
                    <a:pt x="0" y="5603748"/>
                    <a:pt x="0" y="5522976"/>
                  </a:cubicBezTo>
                  <a:close/>
                </a:path>
              </a:pathLst>
            </a:custGeom>
            <a:solidFill>
              <a:srgbClr val="081D33"/>
            </a:solidFill>
          </p:spPr>
        </p:sp>
      </p:grpSp>
      <p:grpSp>
        <p:nvGrpSpPr>
          <p:cNvPr name="Group 14" id="14"/>
          <p:cNvGrpSpPr/>
          <p:nvPr/>
        </p:nvGrpSpPr>
        <p:grpSpPr>
          <a:xfrm rot="0">
            <a:off x="1234440" y="4042410"/>
            <a:ext cx="685800" cy="685800"/>
            <a:chOff x="0" y="0"/>
            <a:chExt cx="914400" cy="914400"/>
          </a:xfrm>
        </p:grpSpPr>
        <p:sp>
          <p:nvSpPr>
            <p:cNvPr name="Freeform 15" id="1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6B4A"/>
            </a:solidFill>
          </p:spPr>
        </p:sp>
      </p:grpSp>
      <p:grpSp>
        <p:nvGrpSpPr>
          <p:cNvPr name="Group 16" id="16"/>
          <p:cNvGrpSpPr/>
          <p:nvPr/>
        </p:nvGrpSpPr>
        <p:grpSpPr>
          <a:xfrm rot="0">
            <a:off x="1234440" y="4042410"/>
            <a:ext cx="685800" cy="685800"/>
            <a:chOff x="0" y="0"/>
            <a:chExt cx="914400" cy="914400"/>
          </a:xfrm>
        </p:grpSpPr>
        <p:sp>
          <p:nvSpPr>
            <p:cNvPr name="Freeform 17" id="17"/>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8" id="18"/>
            <p:cNvSpPr txBox="true"/>
            <p:nvPr/>
          </p:nvSpPr>
          <p:spPr>
            <a:xfrm>
              <a:off x="0" y="-19050"/>
              <a:ext cx="914400" cy="93345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1</a:t>
              </a:r>
            </a:p>
          </p:txBody>
        </p:sp>
      </p:grpSp>
      <p:grpSp>
        <p:nvGrpSpPr>
          <p:cNvPr name="Group 19" id="19"/>
          <p:cNvGrpSpPr/>
          <p:nvPr/>
        </p:nvGrpSpPr>
        <p:grpSpPr>
          <a:xfrm rot="0">
            <a:off x="1234440" y="5002530"/>
            <a:ext cx="4457700" cy="754380"/>
            <a:chOff x="0" y="0"/>
            <a:chExt cx="5943600" cy="1005840"/>
          </a:xfrm>
        </p:grpSpPr>
        <p:sp>
          <p:nvSpPr>
            <p:cNvPr name="Freeform 20" id="20"/>
            <p:cNvSpPr/>
            <p:nvPr/>
          </p:nvSpPr>
          <p:spPr>
            <a:xfrm flipH="false" flipV="false" rot="0">
              <a:off x="0" y="0"/>
              <a:ext cx="5943600" cy="1005840"/>
            </a:xfrm>
            <a:custGeom>
              <a:avLst/>
              <a:gdLst/>
              <a:ahLst/>
              <a:cxnLst/>
              <a:rect r="r" b="b" t="t" l="l"/>
              <a:pathLst>
                <a:path h="1005840" w="5943600">
                  <a:moveTo>
                    <a:pt x="0" y="0"/>
                  </a:moveTo>
                  <a:lnTo>
                    <a:pt x="5943600" y="0"/>
                  </a:lnTo>
                  <a:lnTo>
                    <a:pt x="5943600" y="1005840"/>
                  </a:lnTo>
                  <a:lnTo>
                    <a:pt x="0" y="1005840"/>
                  </a:lnTo>
                  <a:close/>
                </a:path>
              </a:pathLst>
            </a:custGeom>
            <a:blipFill>
              <a:blip r:embed="rId3">
                <a:alphaModFix amt="0"/>
              </a:blip>
              <a:stretch>
                <a:fillRect l="0" t="-65138" r="0" b="-65138"/>
              </a:stretch>
            </a:blipFill>
          </p:spPr>
        </p:sp>
        <p:sp>
          <p:nvSpPr>
            <p:cNvPr name="TextBox 21" id="21"/>
            <p:cNvSpPr txBox="true"/>
            <p:nvPr/>
          </p:nvSpPr>
          <p:spPr>
            <a:xfrm>
              <a:off x="0" y="-19050"/>
              <a:ext cx="5943600" cy="1024890"/>
            </a:xfrm>
            <a:prstGeom prst="rect">
              <a:avLst/>
            </a:prstGeom>
          </p:spPr>
          <p:txBody>
            <a:bodyPr anchor="ctr" rtlCol="false" tIns="0" lIns="0" bIns="0" rIns="0"/>
            <a:lstStyle/>
            <a:p>
              <a:pPr algn="l">
                <a:lnSpc>
                  <a:spcPts val="3600"/>
                </a:lnSpc>
              </a:pPr>
              <a:r>
                <a:rPr lang="en-US" sz="3000" b="true">
                  <a:solidFill>
                    <a:srgbClr val="FFFFFF"/>
                  </a:solidFill>
                  <a:latin typeface="Cambria Bold"/>
                  <a:ea typeface="Cambria Bold"/>
                  <a:cs typeface="Cambria Bold"/>
                  <a:sym typeface="Cambria Bold"/>
                </a:rPr>
                <a:t>Optimization success</a:t>
              </a:r>
            </a:p>
          </p:txBody>
        </p:sp>
      </p:grpSp>
      <p:grpSp>
        <p:nvGrpSpPr>
          <p:cNvPr name="Group 22" id="22"/>
          <p:cNvGrpSpPr/>
          <p:nvPr/>
        </p:nvGrpSpPr>
        <p:grpSpPr>
          <a:xfrm rot="0">
            <a:off x="1234440" y="5756910"/>
            <a:ext cx="4457700" cy="1920240"/>
            <a:chOff x="0" y="0"/>
            <a:chExt cx="5943600" cy="2560320"/>
          </a:xfrm>
        </p:grpSpPr>
        <p:sp>
          <p:nvSpPr>
            <p:cNvPr name="Freeform 23" id="23"/>
            <p:cNvSpPr/>
            <p:nvPr/>
          </p:nvSpPr>
          <p:spPr>
            <a:xfrm flipH="false" flipV="false" rot="0">
              <a:off x="0" y="0"/>
              <a:ext cx="5943600" cy="2560320"/>
            </a:xfrm>
            <a:custGeom>
              <a:avLst/>
              <a:gdLst/>
              <a:ahLst/>
              <a:cxnLst/>
              <a:rect r="r" b="b" t="t" l="l"/>
              <a:pathLst>
                <a:path h="2560320" w="5943600">
                  <a:moveTo>
                    <a:pt x="0" y="0"/>
                  </a:moveTo>
                  <a:lnTo>
                    <a:pt x="5943600" y="0"/>
                  </a:lnTo>
                  <a:lnTo>
                    <a:pt x="5943600" y="2560320"/>
                  </a:lnTo>
                  <a:lnTo>
                    <a:pt x="0" y="2560320"/>
                  </a:lnTo>
                  <a:close/>
                </a:path>
              </a:pathLst>
            </a:custGeom>
            <a:blipFill>
              <a:blip r:embed="rId3">
                <a:alphaModFix amt="0"/>
              </a:blip>
              <a:stretch>
                <a:fillRect l="-5269" t="0" r="-5269" b="0"/>
              </a:stretch>
            </a:blipFill>
          </p:spPr>
        </p:sp>
        <p:sp>
          <p:nvSpPr>
            <p:cNvPr name="TextBox 24" id="24"/>
            <p:cNvSpPr txBox="true"/>
            <p:nvPr/>
          </p:nvSpPr>
          <p:spPr>
            <a:xfrm>
              <a:off x="0" y="-114300"/>
              <a:ext cx="5943600" cy="2674620"/>
            </a:xfrm>
            <a:prstGeom prst="rect">
              <a:avLst/>
            </a:prstGeom>
          </p:spPr>
          <p:txBody>
            <a:bodyPr anchor="ctr" rtlCol="false" tIns="0" lIns="0" bIns="0" rIns="0"/>
            <a:lstStyle/>
            <a:p>
              <a:pPr algn="l">
                <a:lnSpc>
                  <a:spcPts val="3600"/>
                </a:lnSpc>
              </a:pPr>
              <a:r>
                <a:rPr lang="en-US" sz="2400">
                  <a:solidFill>
                    <a:srgbClr val="C7D6E2"/>
                  </a:solidFill>
                  <a:latin typeface="Calibri (MS)"/>
                  <a:ea typeface="Calibri (MS)"/>
                  <a:cs typeface="Calibri (MS)"/>
                  <a:sym typeface="Calibri (MS)"/>
                </a:rPr>
                <a:t>Navigated the multimodal Ackley landscape to f ≈ 0.0157, right beside the true minimum.</a:t>
              </a:r>
            </a:p>
          </p:txBody>
        </p:sp>
      </p:grpSp>
      <p:grpSp>
        <p:nvGrpSpPr>
          <p:cNvPr name="Group 25" id="25"/>
          <p:cNvGrpSpPr/>
          <p:nvPr/>
        </p:nvGrpSpPr>
        <p:grpSpPr>
          <a:xfrm rot="0">
            <a:off x="6515100" y="3630930"/>
            <a:ext cx="5280660" cy="4251960"/>
            <a:chOff x="0" y="0"/>
            <a:chExt cx="7040880" cy="5669280"/>
          </a:xfrm>
        </p:grpSpPr>
        <p:sp>
          <p:nvSpPr>
            <p:cNvPr name="Freeform 26" id="26"/>
            <p:cNvSpPr/>
            <p:nvPr/>
          </p:nvSpPr>
          <p:spPr>
            <a:xfrm flipH="false" flipV="false" rot="0">
              <a:off x="0" y="0"/>
              <a:ext cx="7040880" cy="5669280"/>
            </a:xfrm>
            <a:custGeom>
              <a:avLst/>
              <a:gdLst/>
              <a:ahLst/>
              <a:cxnLst/>
              <a:rect r="r" b="b" t="t" l="l"/>
              <a:pathLst>
                <a:path h="5669280" w="7040880">
                  <a:moveTo>
                    <a:pt x="0" y="146304"/>
                  </a:moveTo>
                  <a:cubicBezTo>
                    <a:pt x="0" y="65532"/>
                    <a:pt x="65532" y="0"/>
                    <a:pt x="146304" y="0"/>
                  </a:cubicBezTo>
                  <a:lnTo>
                    <a:pt x="6894576" y="0"/>
                  </a:lnTo>
                  <a:cubicBezTo>
                    <a:pt x="6975348" y="0"/>
                    <a:pt x="7040880" y="65532"/>
                    <a:pt x="7040880" y="146304"/>
                  </a:cubicBezTo>
                  <a:lnTo>
                    <a:pt x="7040880" y="5522976"/>
                  </a:lnTo>
                  <a:cubicBezTo>
                    <a:pt x="7040880" y="5603748"/>
                    <a:pt x="6975348" y="5669280"/>
                    <a:pt x="6894576" y="5669280"/>
                  </a:cubicBezTo>
                  <a:lnTo>
                    <a:pt x="146304" y="5669280"/>
                  </a:lnTo>
                  <a:cubicBezTo>
                    <a:pt x="65532" y="5669280"/>
                    <a:pt x="0" y="5603748"/>
                    <a:pt x="0" y="5522976"/>
                  </a:cubicBezTo>
                  <a:close/>
                </a:path>
              </a:pathLst>
            </a:custGeom>
            <a:solidFill>
              <a:srgbClr val="081D33"/>
            </a:solidFill>
          </p:spPr>
        </p:sp>
      </p:grpSp>
      <p:grpSp>
        <p:nvGrpSpPr>
          <p:cNvPr name="Group 27" id="27"/>
          <p:cNvGrpSpPr/>
          <p:nvPr/>
        </p:nvGrpSpPr>
        <p:grpSpPr>
          <a:xfrm rot="0">
            <a:off x="6926580" y="4042410"/>
            <a:ext cx="685800" cy="685800"/>
            <a:chOff x="0" y="0"/>
            <a:chExt cx="914400" cy="914400"/>
          </a:xfrm>
        </p:grpSpPr>
        <p:sp>
          <p:nvSpPr>
            <p:cNvPr name="Freeform 28" id="2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6B4A"/>
            </a:solidFill>
          </p:spPr>
        </p:sp>
      </p:grpSp>
      <p:grpSp>
        <p:nvGrpSpPr>
          <p:cNvPr name="Group 29" id="29"/>
          <p:cNvGrpSpPr/>
          <p:nvPr/>
        </p:nvGrpSpPr>
        <p:grpSpPr>
          <a:xfrm rot="0">
            <a:off x="6926580" y="404241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1" id="31"/>
            <p:cNvSpPr txBox="true"/>
            <p:nvPr/>
          </p:nvSpPr>
          <p:spPr>
            <a:xfrm>
              <a:off x="0" y="-19050"/>
              <a:ext cx="914400" cy="93345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2</a:t>
              </a:r>
            </a:p>
          </p:txBody>
        </p:sp>
      </p:grpSp>
      <p:grpSp>
        <p:nvGrpSpPr>
          <p:cNvPr name="Group 32" id="32"/>
          <p:cNvGrpSpPr/>
          <p:nvPr/>
        </p:nvGrpSpPr>
        <p:grpSpPr>
          <a:xfrm rot="0">
            <a:off x="6926580" y="5002530"/>
            <a:ext cx="4457700" cy="754380"/>
            <a:chOff x="0" y="0"/>
            <a:chExt cx="5943600" cy="1005840"/>
          </a:xfrm>
        </p:grpSpPr>
        <p:sp>
          <p:nvSpPr>
            <p:cNvPr name="Freeform 33" id="33"/>
            <p:cNvSpPr/>
            <p:nvPr/>
          </p:nvSpPr>
          <p:spPr>
            <a:xfrm flipH="false" flipV="false" rot="0">
              <a:off x="0" y="0"/>
              <a:ext cx="5943600" cy="1005840"/>
            </a:xfrm>
            <a:custGeom>
              <a:avLst/>
              <a:gdLst/>
              <a:ahLst/>
              <a:cxnLst/>
              <a:rect r="r" b="b" t="t" l="l"/>
              <a:pathLst>
                <a:path h="1005840" w="5943600">
                  <a:moveTo>
                    <a:pt x="0" y="0"/>
                  </a:moveTo>
                  <a:lnTo>
                    <a:pt x="5943600" y="0"/>
                  </a:lnTo>
                  <a:lnTo>
                    <a:pt x="5943600" y="1005840"/>
                  </a:lnTo>
                  <a:lnTo>
                    <a:pt x="0" y="1005840"/>
                  </a:lnTo>
                  <a:close/>
                </a:path>
              </a:pathLst>
            </a:custGeom>
            <a:blipFill>
              <a:blip r:embed="rId3">
                <a:alphaModFix amt="0"/>
              </a:blip>
              <a:stretch>
                <a:fillRect l="0" t="-65138" r="0" b="-65138"/>
              </a:stretch>
            </a:blipFill>
          </p:spPr>
        </p:sp>
        <p:sp>
          <p:nvSpPr>
            <p:cNvPr name="TextBox 34" id="34"/>
            <p:cNvSpPr txBox="true"/>
            <p:nvPr/>
          </p:nvSpPr>
          <p:spPr>
            <a:xfrm>
              <a:off x="0" y="-19050"/>
              <a:ext cx="5943600" cy="1024890"/>
            </a:xfrm>
            <a:prstGeom prst="rect">
              <a:avLst/>
            </a:prstGeom>
          </p:spPr>
          <p:txBody>
            <a:bodyPr anchor="ctr" rtlCol="false" tIns="0" lIns="0" bIns="0" rIns="0"/>
            <a:lstStyle/>
            <a:p>
              <a:pPr algn="l">
                <a:lnSpc>
                  <a:spcPts val="3600"/>
                </a:lnSpc>
              </a:pPr>
              <a:r>
                <a:rPr lang="en-US" sz="3000" b="true">
                  <a:solidFill>
                    <a:srgbClr val="FFFFFF"/>
                  </a:solidFill>
                  <a:latin typeface="Cambria Bold"/>
                  <a:ea typeface="Cambria Bold"/>
                  <a:cs typeface="Cambria Bold"/>
                  <a:sym typeface="Cambria Bold"/>
                </a:rPr>
                <a:t>Global beats local, here</a:t>
              </a:r>
            </a:p>
          </p:txBody>
        </p:sp>
      </p:grpSp>
      <p:grpSp>
        <p:nvGrpSpPr>
          <p:cNvPr name="Group 35" id="35"/>
          <p:cNvGrpSpPr/>
          <p:nvPr/>
        </p:nvGrpSpPr>
        <p:grpSpPr>
          <a:xfrm rot="0">
            <a:off x="6926580" y="5756910"/>
            <a:ext cx="4457700" cy="1920240"/>
            <a:chOff x="0" y="0"/>
            <a:chExt cx="5943600" cy="2560320"/>
          </a:xfrm>
        </p:grpSpPr>
        <p:sp>
          <p:nvSpPr>
            <p:cNvPr name="Freeform 36" id="36"/>
            <p:cNvSpPr/>
            <p:nvPr/>
          </p:nvSpPr>
          <p:spPr>
            <a:xfrm flipH="false" flipV="false" rot="0">
              <a:off x="0" y="0"/>
              <a:ext cx="5943600" cy="2560320"/>
            </a:xfrm>
            <a:custGeom>
              <a:avLst/>
              <a:gdLst/>
              <a:ahLst/>
              <a:cxnLst/>
              <a:rect r="r" b="b" t="t" l="l"/>
              <a:pathLst>
                <a:path h="2560320" w="5943600">
                  <a:moveTo>
                    <a:pt x="0" y="0"/>
                  </a:moveTo>
                  <a:lnTo>
                    <a:pt x="5943600" y="0"/>
                  </a:lnTo>
                  <a:lnTo>
                    <a:pt x="5943600" y="2560320"/>
                  </a:lnTo>
                  <a:lnTo>
                    <a:pt x="0" y="2560320"/>
                  </a:lnTo>
                  <a:close/>
                </a:path>
              </a:pathLst>
            </a:custGeom>
            <a:blipFill>
              <a:blip r:embed="rId3">
                <a:alphaModFix amt="0"/>
              </a:blip>
              <a:stretch>
                <a:fillRect l="-5269" t="0" r="-5269" b="0"/>
              </a:stretch>
            </a:blipFill>
          </p:spPr>
        </p:sp>
        <p:sp>
          <p:nvSpPr>
            <p:cNvPr name="TextBox 37" id="37"/>
            <p:cNvSpPr txBox="true"/>
            <p:nvPr/>
          </p:nvSpPr>
          <p:spPr>
            <a:xfrm>
              <a:off x="0" y="-114300"/>
              <a:ext cx="5943600" cy="2674620"/>
            </a:xfrm>
            <a:prstGeom prst="rect">
              <a:avLst/>
            </a:prstGeom>
          </p:spPr>
          <p:txBody>
            <a:bodyPr anchor="ctr" rtlCol="false" tIns="0" lIns="0" bIns="0" rIns="0"/>
            <a:lstStyle/>
            <a:p>
              <a:pPr algn="l">
                <a:lnSpc>
                  <a:spcPts val="3600"/>
                </a:lnSpc>
              </a:pPr>
              <a:r>
                <a:rPr lang="en-US" sz="2400">
                  <a:solidFill>
                    <a:srgbClr val="C7D6E2"/>
                  </a:solidFill>
                  <a:latin typeface="Calibri (MS)"/>
                  <a:ea typeface="Calibri (MS)"/>
                  <a:cs typeface="Calibri (MS)"/>
                  <a:sym typeface="Calibri (MS)"/>
                </a:rPr>
                <a:t>Outperformed Nelder-Mead, which stayed trapped in a local ripple from its starting point.</a:t>
              </a:r>
            </a:p>
          </p:txBody>
        </p:sp>
      </p:grpSp>
      <p:grpSp>
        <p:nvGrpSpPr>
          <p:cNvPr name="Group 38" id="38"/>
          <p:cNvGrpSpPr/>
          <p:nvPr/>
        </p:nvGrpSpPr>
        <p:grpSpPr>
          <a:xfrm rot="0">
            <a:off x="12207240" y="3630930"/>
            <a:ext cx="5280660" cy="4251960"/>
            <a:chOff x="0" y="0"/>
            <a:chExt cx="7040880" cy="5669280"/>
          </a:xfrm>
        </p:grpSpPr>
        <p:sp>
          <p:nvSpPr>
            <p:cNvPr name="Freeform 39" id="39"/>
            <p:cNvSpPr/>
            <p:nvPr/>
          </p:nvSpPr>
          <p:spPr>
            <a:xfrm flipH="false" flipV="false" rot="0">
              <a:off x="0" y="0"/>
              <a:ext cx="7040880" cy="5669280"/>
            </a:xfrm>
            <a:custGeom>
              <a:avLst/>
              <a:gdLst/>
              <a:ahLst/>
              <a:cxnLst/>
              <a:rect r="r" b="b" t="t" l="l"/>
              <a:pathLst>
                <a:path h="5669280" w="7040880">
                  <a:moveTo>
                    <a:pt x="0" y="146304"/>
                  </a:moveTo>
                  <a:cubicBezTo>
                    <a:pt x="0" y="65532"/>
                    <a:pt x="65532" y="0"/>
                    <a:pt x="146304" y="0"/>
                  </a:cubicBezTo>
                  <a:lnTo>
                    <a:pt x="6894576" y="0"/>
                  </a:lnTo>
                  <a:cubicBezTo>
                    <a:pt x="6975348" y="0"/>
                    <a:pt x="7040880" y="65532"/>
                    <a:pt x="7040880" y="146304"/>
                  </a:cubicBezTo>
                  <a:lnTo>
                    <a:pt x="7040880" y="5522976"/>
                  </a:lnTo>
                  <a:cubicBezTo>
                    <a:pt x="7040880" y="5603748"/>
                    <a:pt x="6975348" y="5669280"/>
                    <a:pt x="6894576" y="5669280"/>
                  </a:cubicBezTo>
                  <a:lnTo>
                    <a:pt x="146304" y="5669280"/>
                  </a:lnTo>
                  <a:cubicBezTo>
                    <a:pt x="65532" y="5669280"/>
                    <a:pt x="0" y="5603748"/>
                    <a:pt x="0" y="5522976"/>
                  </a:cubicBezTo>
                  <a:close/>
                </a:path>
              </a:pathLst>
            </a:custGeom>
            <a:solidFill>
              <a:srgbClr val="081D33"/>
            </a:solidFill>
          </p:spPr>
        </p:sp>
      </p:grpSp>
      <p:grpSp>
        <p:nvGrpSpPr>
          <p:cNvPr name="Group 40" id="40"/>
          <p:cNvGrpSpPr/>
          <p:nvPr/>
        </p:nvGrpSpPr>
        <p:grpSpPr>
          <a:xfrm rot="0">
            <a:off x="12618720" y="4042410"/>
            <a:ext cx="685800" cy="685800"/>
            <a:chOff x="0" y="0"/>
            <a:chExt cx="914400" cy="914400"/>
          </a:xfrm>
        </p:grpSpPr>
        <p:sp>
          <p:nvSpPr>
            <p:cNvPr name="Freeform 41" id="4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6B4A"/>
            </a:solidFill>
          </p:spPr>
        </p:sp>
      </p:grpSp>
      <p:grpSp>
        <p:nvGrpSpPr>
          <p:cNvPr name="Group 42" id="42"/>
          <p:cNvGrpSpPr/>
          <p:nvPr/>
        </p:nvGrpSpPr>
        <p:grpSpPr>
          <a:xfrm rot="0">
            <a:off x="12618720" y="4042410"/>
            <a:ext cx="685800" cy="685800"/>
            <a:chOff x="0" y="0"/>
            <a:chExt cx="914400" cy="914400"/>
          </a:xfrm>
        </p:grpSpPr>
        <p:sp>
          <p:nvSpPr>
            <p:cNvPr name="Freeform 43" id="4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44" id="44"/>
            <p:cNvSpPr txBox="true"/>
            <p:nvPr/>
          </p:nvSpPr>
          <p:spPr>
            <a:xfrm>
              <a:off x="0" y="-19050"/>
              <a:ext cx="914400" cy="93345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3</a:t>
              </a:r>
            </a:p>
          </p:txBody>
        </p:sp>
      </p:grpSp>
      <p:grpSp>
        <p:nvGrpSpPr>
          <p:cNvPr name="Group 45" id="45"/>
          <p:cNvGrpSpPr/>
          <p:nvPr/>
        </p:nvGrpSpPr>
        <p:grpSpPr>
          <a:xfrm rot="0">
            <a:off x="12618720" y="5002530"/>
            <a:ext cx="4457700" cy="754380"/>
            <a:chOff x="0" y="0"/>
            <a:chExt cx="5943600" cy="1005840"/>
          </a:xfrm>
        </p:grpSpPr>
        <p:sp>
          <p:nvSpPr>
            <p:cNvPr name="Freeform 46" id="46"/>
            <p:cNvSpPr/>
            <p:nvPr/>
          </p:nvSpPr>
          <p:spPr>
            <a:xfrm flipH="false" flipV="false" rot="0">
              <a:off x="0" y="0"/>
              <a:ext cx="5943600" cy="1005840"/>
            </a:xfrm>
            <a:custGeom>
              <a:avLst/>
              <a:gdLst/>
              <a:ahLst/>
              <a:cxnLst/>
              <a:rect r="r" b="b" t="t" l="l"/>
              <a:pathLst>
                <a:path h="1005840" w="5943600">
                  <a:moveTo>
                    <a:pt x="0" y="0"/>
                  </a:moveTo>
                  <a:lnTo>
                    <a:pt x="5943600" y="0"/>
                  </a:lnTo>
                  <a:lnTo>
                    <a:pt x="5943600" y="1005840"/>
                  </a:lnTo>
                  <a:lnTo>
                    <a:pt x="0" y="1005840"/>
                  </a:lnTo>
                  <a:close/>
                </a:path>
              </a:pathLst>
            </a:custGeom>
            <a:blipFill>
              <a:blip r:embed="rId3">
                <a:alphaModFix amt="0"/>
              </a:blip>
              <a:stretch>
                <a:fillRect l="0" t="-65138" r="0" b="-65138"/>
              </a:stretch>
            </a:blipFill>
          </p:spPr>
        </p:sp>
        <p:sp>
          <p:nvSpPr>
            <p:cNvPr name="TextBox 47" id="47"/>
            <p:cNvSpPr txBox="true"/>
            <p:nvPr/>
          </p:nvSpPr>
          <p:spPr>
            <a:xfrm>
              <a:off x="0" y="-19050"/>
              <a:ext cx="5943600" cy="1024890"/>
            </a:xfrm>
            <a:prstGeom prst="rect">
              <a:avLst/>
            </a:prstGeom>
          </p:spPr>
          <p:txBody>
            <a:bodyPr anchor="ctr" rtlCol="false" tIns="0" lIns="0" bIns="0" rIns="0"/>
            <a:lstStyle/>
            <a:p>
              <a:pPr algn="l">
                <a:lnSpc>
                  <a:spcPts val="3600"/>
                </a:lnSpc>
              </a:pPr>
              <a:r>
                <a:rPr lang="en-US" sz="3000" b="true">
                  <a:solidFill>
                    <a:srgbClr val="FFFFFF"/>
                  </a:solidFill>
                  <a:latin typeface="Cambria Bold"/>
                  <a:ea typeface="Cambria Bold"/>
                  <a:cs typeface="Cambria Bold"/>
                  <a:sym typeface="Cambria Bold"/>
                </a:rPr>
                <a:t>Verified &amp; reproducible</a:t>
              </a:r>
            </a:p>
          </p:txBody>
        </p:sp>
      </p:grpSp>
      <p:grpSp>
        <p:nvGrpSpPr>
          <p:cNvPr name="Group 48" id="48"/>
          <p:cNvGrpSpPr/>
          <p:nvPr/>
        </p:nvGrpSpPr>
        <p:grpSpPr>
          <a:xfrm rot="0">
            <a:off x="12618720" y="5756910"/>
            <a:ext cx="4457700" cy="1920240"/>
            <a:chOff x="0" y="0"/>
            <a:chExt cx="5943600" cy="2560320"/>
          </a:xfrm>
        </p:grpSpPr>
        <p:sp>
          <p:nvSpPr>
            <p:cNvPr name="Freeform 49" id="49"/>
            <p:cNvSpPr/>
            <p:nvPr/>
          </p:nvSpPr>
          <p:spPr>
            <a:xfrm flipH="false" flipV="false" rot="0">
              <a:off x="0" y="0"/>
              <a:ext cx="5943600" cy="2560320"/>
            </a:xfrm>
            <a:custGeom>
              <a:avLst/>
              <a:gdLst/>
              <a:ahLst/>
              <a:cxnLst/>
              <a:rect r="r" b="b" t="t" l="l"/>
              <a:pathLst>
                <a:path h="2560320" w="5943600">
                  <a:moveTo>
                    <a:pt x="0" y="0"/>
                  </a:moveTo>
                  <a:lnTo>
                    <a:pt x="5943600" y="0"/>
                  </a:lnTo>
                  <a:lnTo>
                    <a:pt x="5943600" y="2560320"/>
                  </a:lnTo>
                  <a:lnTo>
                    <a:pt x="0" y="2560320"/>
                  </a:lnTo>
                  <a:close/>
                </a:path>
              </a:pathLst>
            </a:custGeom>
            <a:blipFill>
              <a:blip r:embed="rId3">
                <a:alphaModFix amt="0"/>
              </a:blip>
              <a:stretch>
                <a:fillRect l="-5269" t="0" r="-5269" b="0"/>
              </a:stretch>
            </a:blipFill>
          </p:spPr>
        </p:sp>
        <p:sp>
          <p:nvSpPr>
            <p:cNvPr name="TextBox 50" id="50"/>
            <p:cNvSpPr txBox="true"/>
            <p:nvPr/>
          </p:nvSpPr>
          <p:spPr>
            <a:xfrm>
              <a:off x="0" y="-114300"/>
              <a:ext cx="5943600" cy="2674620"/>
            </a:xfrm>
            <a:prstGeom prst="rect">
              <a:avLst/>
            </a:prstGeom>
          </p:spPr>
          <p:txBody>
            <a:bodyPr anchor="ctr" rtlCol="false" tIns="0" lIns="0" bIns="0" rIns="0"/>
            <a:lstStyle/>
            <a:p>
              <a:pPr algn="l">
                <a:lnSpc>
                  <a:spcPts val="3600"/>
                </a:lnSpc>
              </a:pPr>
              <a:r>
                <a:rPr lang="en-US" sz="2400">
                  <a:solidFill>
                    <a:srgbClr val="C7D6E2"/>
                  </a:solidFill>
                  <a:latin typeface="Calibri (MS)"/>
                  <a:ea typeface="Calibri (MS)"/>
                  <a:cs typeface="Calibri (MS)"/>
                  <a:sym typeface="Calibri (MS)"/>
                </a:rPr>
                <a:t>Six pytest checks pass; a fixed seed makes the run repeatable end to end.</a:t>
              </a:r>
            </a:p>
          </p:txBody>
        </p:sp>
      </p:grpSp>
      <p:grpSp>
        <p:nvGrpSpPr>
          <p:cNvPr name="Group 51" id="51"/>
          <p:cNvGrpSpPr/>
          <p:nvPr/>
        </p:nvGrpSpPr>
        <p:grpSpPr>
          <a:xfrm rot="0">
            <a:off x="16774668" y="9669780"/>
            <a:ext cx="1097280" cy="411480"/>
            <a:chOff x="0" y="0"/>
            <a:chExt cx="1463040" cy="548640"/>
          </a:xfrm>
        </p:grpSpPr>
        <p:sp>
          <p:nvSpPr>
            <p:cNvPr name="Freeform 52" id="52"/>
            <p:cNvSpPr/>
            <p:nvPr/>
          </p:nvSpPr>
          <p:spPr>
            <a:xfrm flipH="false" flipV="false" rot="0">
              <a:off x="0" y="0"/>
              <a:ext cx="1463040" cy="548640"/>
            </a:xfrm>
            <a:custGeom>
              <a:avLst/>
              <a:gdLst/>
              <a:ahLst/>
              <a:cxnLst/>
              <a:rect r="r" b="b" t="t" l="l"/>
              <a:pathLst>
                <a:path h="548640" w="1463040">
                  <a:moveTo>
                    <a:pt x="0" y="0"/>
                  </a:moveTo>
                  <a:lnTo>
                    <a:pt x="1463040" y="0"/>
                  </a:lnTo>
                  <a:lnTo>
                    <a:pt x="1463040" y="548640"/>
                  </a:lnTo>
                  <a:lnTo>
                    <a:pt x="0" y="548640"/>
                  </a:lnTo>
                  <a:close/>
                </a:path>
              </a:pathLst>
            </a:custGeom>
            <a:blipFill>
              <a:blip r:embed="rId3">
                <a:alphaModFix amt="0"/>
              </a:blip>
              <a:stretch>
                <a:fillRect l="0" t="-1960" r="0" b="-1960"/>
              </a:stretch>
            </a:blipFill>
          </p:spPr>
        </p:sp>
        <p:sp>
          <p:nvSpPr>
            <p:cNvPr name="TextBox 53" id="53"/>
            <p:cNvSpPr txBox="true"/>
            <p:nvPr/>
          </p:nvSpPr>
          <p:spPr>
            <a:xfrm>
              <a:off x="0" y="-38100"/>
              <a:ext cx="1463040" cy="586740"/>
            </a:xfrm>
            <a:prstGeom prst="rect">
              <a:avLst/>
            </a:prstGeom>
          </p:spPr>
          <p:txBody>
            <a:bodyPr anchor="ctr" rtlCol="false" tIns="0" lIns="0" bIns="0" rIns="0"/>
            <a:lstStyle/>
            <a:p>
              <a:pPr algn="r">
                <a:lnSpc>
                  <a:spcPts val="1800"/>
                </a:lnSpc>
              </a:pPr>
              <a:r>
                <a:rPr lang="en-US" sz="1500">
                  <a:solidFill>
                    <a:srgbClr val="9FB3C8"/>
                  </a:solidFill>
                  <a:latin typeface="Calibri (MS)"/>
                  <a:ea typeface="Calibri (MS)"/>
                  <a:cs typeface="Calibri (MS)"/>
                  <a:sym typeface="Calibri (MS)"/>
                </a:rPr>
                <a:t>13 / 13</a:t>
              </a:r>
            </a:p>
          </p:txBody>
        </p:sp>
      </p:grpSp>
      <p:grpSp>
        <p:nvGrpSpPr>
          <p:cNvPr name="Group 54" id="54"/>
          <p:cNvGrpSpPr/>
          <p:nvPr/>
        </p:nvGrpSpPr>
        <p:grpSpPr>
          <a:xfrm rot="0">
            <a:off x="685800" y="9669780"/>
            <a:ext cx="5486400" cy="411480"/>
            <a:chOff x="0" y="0"/>
            <a:chExt cx="7315200" cy="548640"/>
          </a:xfrm>
        </p:grpSpPr>
        <p:sp>
          <p:nvSpPr>
            <p:cNvPr name="Freeform 55" id="55"/>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56" id="56"/>
            <p:cNvSpPr txBox="true"/>
            <p:nvPr/>
          </p:nvSpPr>
          <p:spPr>
            <a:xfrm>
              <a:off x="0" y="-38100"/>
              <a:ext cx="7315200" cy="586740"/>
            </a:xfrm>
            <a:prstGeom prst="rect">
              <a:avLst/>
            </a:prstGeom>
          </p:spPr>
          <p:txBody>
            <a:bodyPr anchor="ctr" rtlCol="false" tIns="0" lIns="0" bIns="0" rIns="0"/>
            <a:lstStyle/>
            <a:p>
              <a:pPr algn="l">
                <a:lnSpc>
                  <a:spcPts val="1800"/>
                </a:lnSpc>
              </a:pPr>
              <a:r>
                <a:rPr lang="en-US" sz="1500">
                  <a:solidFill>
                    <a:srgbClr val="9FB3C8"/>
                  </a:solidFill>
                  <a:latin typeface="Calibri (MS)"/>
                  <a:ea typeface="Calibri (MS)"/>
                  <a:cs typeface="Calibri (MS)"/>
                  <a:sym typeface="Calibri (MS)"/>
                </a:rPr>
                <a:t>GA · 2D Ackley Function</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B2A4A"/>
        </a:solidFill>
      </p:bgPr>
    </p:bg>
    <p:spTree>
      <p:nvGrpSpPr>
        <p:cNvPr id="1" name=""/>
        <p:cNvGrpSpPr/>
        <p:nvPr/>
      </p:nvGrpSpPr>
      <p:grpSpPr>
        <a:xfrm>
          <a:off x="0" y="0"/>
          <a:ext cx="0" cy="0"/>
          <a:chOff x="0" y="0"/>
          <a:chExt cx="0" cy="0"/>
        </a:xfrm>
      </p:grpSpPr>
      <p:grpSp>
        <p:nvGrpSpPr>
          <p:cNvPr name="Group 2" id="2"/>
          <p:cNvGrpSpPr/>
          <p:nvPr/>
        </p:nvGrpSpPr>
        <p:grpSpPr>
          <a:xfrm rot="0">
            <a:off x="811530" y="3090787"/>
            <a:ext cx="16664940" cy="4105425"/>
            <a:chOff x="0" y="0"/>
            <a:chExt cx="22128480" cy="5451374"/>
          </a:xfrm>
        </p:grpSpPr>
        <p:sp>
          <p:nvSpPr>
            <p:cNvPr name="Freeform 3" id="3"/>
            <p:cNvSpPr/>
            <p:nvPr/>
          </p:nvSpPr>
          <p:spPr>
            <a:xfrm flipH="false" flipV="false" rot="0">
              <a:off x="0" y="0"/>
              <a:ext cx="22128480" cy="5451374"/>
            </a:xfrm>
            <a:custGeom>
              <a:avLst/>
              <a:gdLst/>
              <a:ahLst/>
              <a:cxnLst/>
              <a:rect r="r" b="b" t="t" l="l"/>
              <a:pathLst>
                <a:path h="5451374" w="22128480">
                  <a:moveTo>
                    <a:pt x="0" y="0"/>
                  </a:moveTo>
                  <a:lnTo>
                    <a:pt x="22128480" y="0"/>
                  </a:lnTo>
                  <a:lnTo>
                    <a:pt x="22128480" y="5451374"/>
                  </a:lnTo>
                  <a:lnTo>
                    <a:pt x="0" y="5451374"/>
                  </a:lnTo>
                  <a:close/>
                </a:path>
              </a:pathLst>
            </a:custGeom>
            <a:blipFill>
              <a:blip r:embed="rId2">
                <a:alphaModFix amt="0"/>
              </a:blip>
              <a:stretch>
                <a:fillRect l="0" t="-69030" r="0" b="10841"/>
              </a:stretch>
            </a:blipFill>
          </p:spPr>
        </p:sp>
        <p:sp>
          <p:nvSpPr>
            <p:cNvPr name="TextBox 4" id="4"/>
            <p:cNvSpPr txBox="true"/>
            <p:nvPr/>
          </p:nvSpPr>
          <p:spPr>
            <a:xfrm>
              <a:off x="0" y="-9525"/>
              <a:ext cx="22128480" cy="5460899"/>
            </a:xfrm>
            <a:prstGeom prst="rect">
              <a:avLst/>
            </a:prstGeom>
          </p:spPr>
          <p:txBody>
            <a:bodyPr anchor="ctr" rtlCol="false" tIns="0" lIns="0" bIns="0" rIns="0"/>
            <a:lstStyle/>
            <a:p>
              <a:pPr algn="ctr">
                <a:lnSpc>
                  <a:spcPts val="6720"/>
                </a:lnSpc>
              </a:pPr>
              <a:r>
                <a:rPr lang="en-US" sz="5600" b="true">
                  <a:solidFill>
                    <a:srgbClr val="FF6B4A"/>
                  </a:solidFill>
                  <a:latin typeface="Cambria Bold"/>
                  <a:ea typeface="Cambria Bold"/>
                  <a:cs typeface="Cambria Bold"/>
                  <a:sym typeface="Cambria Bold"/>
                </a:rPr>
                <a:t>Thank you for your attention!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DAHVASNIoIM</dc:identifier>
  <dcterms:modified xsi:type="dcterms:W3CDTF">2011-08-01T06:04:30Z</dcterms:modified>
  <cp:revision>1</cp:revision>
  <dc:title>GA_Ackley_Presentation_Restructured (2).pptx</dc:title>
</cp:coreProperties>
</file>